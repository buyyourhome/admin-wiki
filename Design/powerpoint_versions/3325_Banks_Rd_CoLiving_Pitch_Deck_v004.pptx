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3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420FF-7D38-E89C-A720-6262AE4952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8A5FF8-3A00-06D9-D487-6AB9C7A68A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5D534A-7778-F14F-8A76-0B2EEBA20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F6C95-7D74-4A8C-A6E6-F60A924B5F3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20CA2-2CC1-F8FE-A260-981E6C14B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B223C-A33D-321F-9A91-0F1CEBD35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D4A4D-9F53-4BC9-A54A-0556274BC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0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D6FD1-67B0-E635-9EF1-8A1EA77BB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36EA9-D1CF-81B2-ACA6-1D18E891C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674DE-72FB-A7DC-AD06-7E5AF0EBC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F6C95-7D74-4A8C-A6E6-F60A924B5F3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78F73-1F67-AE8F-6DC9-FD7DB4CFC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D5B32-F6CC-5EE1-9FBD-C3BA56967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D4A4D-9F53-4BC9-A54A-0556274BC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130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B5EE5-1773-4588-74EE-C1A136B28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F918D3-1DE0-D1A0-EDC5-EE58E09411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02928-0C85-3293-081C-C7BB1FF61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F6C95-7D74-4A8C-A6E6-F60A924B5F3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D5E39-6EF2-7E32-2355-7CE5FAC3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FE245-705F-0221-45A9-83AA1522B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D4A4D-9F53-4BC9-A54A-0556274BC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281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7838E-C0C9-07B7-CBEB-9A91DF024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35DB8-EFB0-09CB-E761-21A073E749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42279-6C57-60DC-8A29-6BDF47FAFF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430042-A929-814A-A86A-801139B43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F6C95-7D74-4A8C-A6E6-F60A924B5F3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E604D9-95B3-2BDD-3442-074311B0D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C4E102-38F2-4A96-38AE-F17E8FED7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D4A4D-9F53-4BC9-A54A-0556274BC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075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2999C-463A-9AD6-E6BC-094F919D4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E97329-E4E3-F351-63F6-2DEDCBC92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DA1ABD-1E97-00EF-D248-D2AAA47E35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19DA2D-A612-2ACF-643D-5EB083F441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2A94DD-70EA-5053-F929-671320B4F4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F9F163-929C-B70A-F1D7-AF5147DC3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F6C95-7D74-4A8C-A6E6-F60A924B5F3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67AD16-5A22-AE2F-D272-5B1469179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538ECB-F01B-51EB-538A-09C99E61F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D4A4D-9F53-4BC9-A54A-0556274BC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4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B98C3-1E45-1AF4-E027-49517389F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95B9E1-868C-F437-7E81-3FB92201A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F6C95-7D74-4A8C-A6E6-F60A924B5F3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489CCA-E700-E9FC-B6F1-5D8BD7D5D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461CA2-50A6-9D23-7726-926DB9E2A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D4A4D-9F53-4BC9-A54A-0556274BC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151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3736CE-5364-FC20-1FBD-35A797329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F6C95-7D74-4A8C-A6E6-F60A924B5F3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382632-D6A8-3309-13DA-77C4E4728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59300E-35A1-78C3-126F-84C1DD587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D4A4D-9F53-4BC9-A54A-0556274BC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274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91491-8147-1AAE-4188-217D672B0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ECBDC-54E5-9F2A-EF94-84DFBBCD1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E4EEA0-3C02-78A5-3A24-2CC5A7A1D8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DCB2E2-45EC-9BEB-07B2-D90DC1AE2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F6C95-7D74-4A8C-A6E6-F60A924B5F3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E8495-0754-4395-66E3-1025E952D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C2A05F-1892-6451-C157-6A70AED37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D4A4D-9F53-4BC9-A54A-0556274BC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503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C854F-8B77-0499-7CCA-3DF07852D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CFF163-C221-8186-E891-00286A6F8B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92D08B-BDA8-0F2D-F8DD-9C2EA7AAB7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CEC994-BD58-EA8D-95A3-EFC1B37AB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F6C95-7D74-4A8C-A6E6-F60A924B5F3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D0ED1D-D25E-DEBD-3E35-61A65E2FA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952889-C7E0-C78A-8F73-0027EBDCA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D4A4D-9F53-4BC9-A54A-0556274BC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236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2E700-E99A-8E29-7B33-500D215BD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230772-A05B-C492-70EB-6E94B170EB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0173E-62D8-1CAF-0C67-F5730970B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F6C95-7D74-4A8C-A6E6-F60A924B5F3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934B6-A245-99AF-2307-D80853975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5324F-16C0-01F3-8596-C905D3BFA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D4A4D-9F53-4BC9-A54A-0556274BC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875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C36EF7-E199-6EE4-29C6-C13CF0D0C8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C71C10-8B95-082D-17DB-652702B0FE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21CB5-C274-25AF-58EB-471E41192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F6C95-7D74-4A8C-A6E6-F60A924B5F3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DF786-596B-84E3-FAEC-86F7B2D08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F6647-BD53-0612-E16C-D22DD739E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D4A4D-9F53-4BC9-A54A-0556274BC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986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F26071-4836-3E83-8604-200E889D9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9C0209-AFEA-8D01-36B8-DBE89EB7E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EE57A-54BE-FEB3-4C01-839E8B1B87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0F6C95-7D74-4A8C-A6E6-F60A924B5F3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07BC6-942B-050C-329A-4546CDDD0C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B9DE8-BC2A-FB7E-3AD6-EA4968CECB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FD4A4D-9F53-4BC9-A54A-0556274BC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608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5C928E-0BAF-EA50-9901-D7BC002F1675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3325 Banks Rd Co-Living Development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A7CF78-00FC-5509-04A3-3AA2BA2DF437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Investor pitch deck synced to workbook and markdown status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5FFF2A-823B-2411-CC2A-4F17A61EB9DC}"/>
              </a:ext>
            </a:extLst>
          </p:cNvPr>
          <p:cNvSpPr txBox="1"/>
          <p:nvPr/>
        </p:nvSpPr>
        <p:spPr>
          <a:xfrm>
            <a:off x="736600" y="15748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Sponsor-led co-living residential development near Raleigh, North Carolina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FF1062-63B3-91BC-7993-566453EC7D70}"/>
              </a:ext>
            </a:extLst>
          </p:cNvPr>
          <p:cNvSpPr txBox="1"/>
          <p:nvPr/>
        </p:nvSpPr>
        <p:spPr>
          <a:xfrm>
            <a:off x="736600" y="21844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Post-frame construction strategy with sponsor-owned equipment and crew capacity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5649E5-02C9-2185-0E95-AEB253196FB2}"/>
              </a:ext>
            </a:extLst>
          </p:cNvPr>
          <p:cNvSpPr txBox="1"/>
          <p:nvPr/>
        </p:nvSpPr>
        <p:spPr>
          <a:xfrm>
            <a:off x="736600" y="27940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Current workbook status: Refi Year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380B28-0DBC-0116-523F-D9542456A32D}"/>
              </a:ext>
            </a:extLst>
          </p:cNvPr>
          <p:cNvSpPr txBox="1"/>
          <p:nvPr/>
        </p:nvSpPr>
        <p:spPr>
          <a:xfrm>
            <a:off x="736600" y="34036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B0A286-72F2-2FA1-BB3D-F3DF22FA1B18}"/>
              </a:ext>
            </a:extLst>
          </p:cNvPr>
          <p:cNvSpPr txBox="1"/>
          <p:nvPr/>
        </p:nvSpPr>
        <p:spPr>
          <a:xfrm>
            <a:off x="736600" y="40132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, Exit Year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DF3D41-87DF-568D-25DB-F28A08717EEC}"/>
              </a:ext>
            </a:extLst>
          </p:cNvPr>
          <p:cNvSpPr txBox="1"/>
          <p:nvPr/>
        </p:nvSpPr>
        <p:spPr>
          <a:xfrm>
            <a:off x="736600" y="46228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- 5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B5346B5-A75D-DE5F-070C-9876180481C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00" y="1625600"/>
            <a:ext cx="3429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639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D3A7D9-3CAA-7117-5A62-F66276806791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Project Program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CBAB25-BB9C-F26A-B672-25ABBA6466EE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Eight-suite co-living residential asset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F7DE91-ACFC-36C7-60E5-199C319F8405}"/>
              </a:ext>
            </a:extLst>
          </p:cNvPr>
          <p:cNvSpPr txBox="1"/>
          <p:nvPr/>
        </p:nvSpPr>
        <p:spPr>
          <a:xfrm>
            <a:off x="736600" y="15748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Approximately 1.1 acres and 5,000-6,000 SF two-story post-frame structure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2906AF-EBCE-999E-D319-3AB40E7A3F39}"/>
              </a:ext>
            </a:extLst>
          </p:cNvPr>
          <p:cNvSpPr txBox="1"/>
          <p:nvPr/>
        </p:nvSpPr>
        <p:spPr>
          <a:xfrm>
            <a:off x="736600" y="21844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Four first-floor premium suites with private bath and kitchenette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05F621-22FB-4B03-3132-57E974ADDD3A}"/>
              </a:ext>
            </a:extLst>
          </p:cNvPr>
          <p:cNvSpPr txBox="1"/>
          <p:nvPr/>
        </p:nvSpPr>
        <p:spPr>
          <a:xfrm>
            <a:off x="736600" y="27940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Four second-floor co-living suites with private bath and shared amenities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3940E3-8C2E-8A67-964E-7E335F8A0147}"/>
              </a:ext>
            </a:extLst>
          </p:cNvPr>
          <p:cNvSpPr txBox="1"/>
          <p:nvPr/>
        </p:nvSpPr>
        <p:spPr>
          <a:xfrm>
            <a:off x="736600" y="34036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Shared kitchen, lounge, laundry, storage, and covered outdoor gathering areas</a:t>
            </a:r>
          </a:p>
        </p:txBody>
      </p:sp>
    </p:spTree>
    <p:extLst>
      <p:ext uri="{BB962C8B-B14F-4D97-AF65-F5344CB8AC3E}">
        <p14:creationId xmlns:p14="http://schemas.microsoft.com/office/powerpoint/2010/main" val="3321021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65D593-9104-F738-2F47-37A2FB42CED5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Rent Schedule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C6A988-7FD0-0B17-E1BA-DA603C106470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Annual Model uses scenario timing, not a simple average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2A61F4-B81E-C8EB-1A4F-8117E3D61003}"/>
              </a:ext>
            </a:extLst>
          </p:cNvPr>
          <p:cNvSpPr txBox="1"/>
          <p:nvPr/>
        </p:nvSpPr>
        <p:spPr>
          <a:xfrm>
            <a:off x="736600" y="15748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Year 1 low scenario: 8,800 monthly gross rent / 105,600 annual potential rent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F78655-2396-56E1-64E7-CE04622A7EF6}"/>
              </a:ext>
            </a:extLst>
          </p:cNvPr>
          <p:cNvSpPr txBox="1"/>
          <p:nvPr/>
        </p:nvSpPr>
        <p:spPr>
          <a:xfrm>
            <a:off x="736600" y="21844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Year 2 medium scenario: 10,800 monthly gross rent / 129,600 annual potential rent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A10B11-58E4-59E5-F7A3-F5AAB324C8AB}"/>
              </a:ext>
            </a:extLst>
          </p:cNvPr>
          <p:cNvSpPr txBox="1"/>
          <p:nvPr/>
        </p:nvSpPr>
        <p:spPr>
          <a:xfrm>
            <a:off x="736600" y="27940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Year 4 high scenario: 12,000 monthly gross rent / 144,000 annual potential rent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794161-F552-5558-6558-666F169B0A12}"/>
              </a:ext>
            </a:extLst>
          </p:cNvPr>
          <p:cNvSpPr txBox="1"/>
          <p:nvPr/>
        </p:nvSpPr>
        <p:spPr>
          <a:xfrm>
            <a:off x="736600" y="34036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Current refinance-year valuation uses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956469-A794-1E8F-9354-039A753F4EF4}"/>
              </a:ext>
            </a:extLst>
          </p:cNvPr>
          <p:cNvSpPr txBox="1"/>
          <p:nvPr/>
        </p:nvSpPr>
        <p:spPr>
          <a:xfrm>
            <a:off x="736600" y="40132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- 12,000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ADDE73-FC3D-E88A-8645-62A5A5D64F9B}"/>
              </a:ext>
            </a:extLst>
          </p:cNvPr>
          <p:cNvSpPr txBox="1"/>
          <p:nvPr/>
        </p:nvSpPr>
        <p:spPr>
          <a:xfrm>
            <a:off x="736600" y="46228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 monthly gross rent</a:t>
            </a:r>
          </a:p>
        </p:txBody>
      </p:sp>
    </p:spTree>
    <p:extLst>
      <p:ext uri="{BB962C8B-B14F-4D97-AF65-F5344CB8AC3E}">
        <p14:creationId xmlns:p14="http://schemas.microsoft.com/office/powerpoint/2010/main" val="304708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2DA21C-5B3A-3B45-C2EC-CF20AC87FFEC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Operating Expense Budget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3D1210-3F5C-8DC7-B403-0A5F1A1D249C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Detailed budget currently controls operating expense ratio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178002-7A27-497D-E743-62D2442D5F4C}"/>
              </a:ext>
            </a:extLst>
          </p:cNvPr>
          <p:cNvSpPr txBox="1"/>
          <p:nvPr/>
        </p:nvSpPr>
        <p:spPr>
          <a:xfrm>
            <a:off x="736600" y="1574800"/>
            <a:ext cx="10541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Selected operating expense ratio: 46.9% Stabilized effective gross income: 133,920 Total annual operating expense budget: 62,825 Repairs and maintenance reserve target: 9,000 funded before waterfall distributions</a:t>
            </a:r>
          </a:p>
        </p:txBody>
      </p:sp>
    </p:spTree>
    <p:extLst>
      <p:ext uri="{BB962C8B-B14F-4D97-AF65-F5344CB8AC3E}">
        <p14:creationId xmlns:p14="http://schemas.microsoft.com/office/powerpoint/2010/main" val="1288297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07FAFF-BFC6-28F3-9246-19671B1DF6AE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Capital Stack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B5DB1F-53CA-CB22-C1C7-6BC293D735BB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Development/build capital comes from Class A and Class B members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5E71D6-2BEA-9791-FE13-58B234C1E40A}"/>
              </a:ext>
            </a:extLst>
          </p:cNvPr>
          <p:cNvSpPr txBox="1"/>
          <p:nvPr/>
        </p:nvSpPr>
        <p:spPr>
          <a:xfrm>
            <a:off x="736600" y="1574800"/>
            <a:ext cx="10541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Class A capital: 300,000 with 8.00% cumulative preferred return Class B completion capital: 547,500 Sponsor property payment / basis: 100,000 Sponsor capital investment tracked separately: 136,283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4FD175-F13F-320A-61CB-6275CDCBA41C}"/>
              </a:ext>
            </a:extLst>
          </p:cNvPr>
          <p:cNvSpPr/>
          <p:nvPr/>
        </p:nvSpPr>
        <p:spPr>
          <a:xfrm>
            <a:off x="889000" y="4445000"/>
            <a:ext cx="2349500" cy="990600"/>
          </a:xfrm>
          <a:prstGeom prst="rect">
            <a:avLst/>
          </a:prstGeom>
          <a:solidFill>
            <a:srgbClr val="FFFFFF"/>
          </a:solidFill>
          <a:ln>
            <a:solidFill>
              <a:srgbClr val="D2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352A1F"/>
                </a:solidFill>
              </a:rPr>
              <a:t>300,000</a:t>
            </a:r>
          </a:p>
          <a:p>
            <a:pPr algn="ctr"/>
            <a:r>
              <a:rPr lang="en-US" sz="1000">
                <a:solidFill>
                  <a:srgbClr val="6D675D"/>
                </a:solidFill>
              </a:rPr>
              <a:t>Class A Capital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7942FF-AF93-FBD5-8801-81F6170C5273}"/>
              </a:ext>
            </a:extLst>
          </p:cNvPr>
          <p:cNvSpPr/>
          <p:nvPr/>
        </p:nvSpPr>
        <p:spPr>
          <a:xfrm>
            <a:off x="3556000" y="4445000"/>
            <a:ext cx="2349500" cy="990600"/>
          </a:xfrm>
          <a:prstGeom prst="rect">
            <a:avLst/>
          </a:prstGeom>
          <a:solidFill>
            <a:srgbClr val="FFFFFF"/>
          </a:solidFill>
          <a:ln>
            <a:solidFill>
              <a:srgbClr val="D2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352A1F"/>
                </a:solidFill>
              </a:rPr>
              <a:t>547,500</a:t>
            </a:r>
          </a:p>
          <a:p>
            <a:pPr algn="ctr"/>
            <a:r>
              <a:rPr lang="en-US" sz="1000">
                <a:solidFill>
                  <a:srgbClr val="6D675D"/>
                </a:solidFill>
              </a:rPr>
              <a:t>Class B Capital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BE8DA6-5B93-9DC8-9230-7ED379C53A69}"/>
              </a:ext>
            </a:extLst>
          </p:cNvPr>
          <p:cNvSpPr/>
          <p:nvPr/>
        </p:nvSpPr>
        <p:spPr>
          <a:xfrm>
            <a:off x="6223000" y="4445000"/>
            <a:ext cx="2349500" cy="990600"/>
          </a:xfrm>
          <a:prstGeom prst="rect">
            <a:avLst/>
          </a:prstGeom>
          <a:solidFill>
            <a:srgbClr val="FFFFFF"/>
          </a:solidFill>
          <a:ln>
            <a:solidFill>
              <a:srgbClr val="D2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352A1F"/>
                </a:solidFill>
              </a:rPr>
              <a:t>100,000</a:t>
            </a:r>
          </a:p>
          <a:p>
            <a:pPr algn="ctr"/>
            <a:r>
              <a:rPr lang="en-US" sz="1000">
                <a:solidFill>
                  <a:srgbClr val="6D675D"/>
                </a:solidFill>
              </a:rPr>
              <a:t>Property Payment</a:t>
            </a:r>
          </a:p>
        </p:txBody>
      </p:sp>
    </p:spTree>
    <p:extLst>
      <p:ext uri="{BB962C8B-B14F-4D97-AF65-F5344CB8AC3E}">
        <p14:creationId xmlns:p14="http://schemas.microsoft.com/office/powerpoint/2010/main" val="2623244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791F3E-3C45-F327-1285-1F1E504D4C31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Existing Debt And Refinance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38FCED-F6D9-2EC4-4E89-09FB9B92515E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No construction loan is modeled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D33CA5-6F06-A699-DE49-D8F47923BB47}"/>
              </a:ext>
            </a:extLst>
          </p:cNvPr>
          <p:cNvSpPr txBox="1"/>
          <p:nvPr/>
        </p:nvSpPr>
        <p:spPr>
          <a:xfrm>
            <a:off x="736600" y="15748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Existing debt payoff at refinance: 194,000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7035E8-2DC2-5E67-970F-E55A3778ED76}"/>
              </a:ext>
            </a:extLst>
          </p:cNvPr>
          <p:cNvSpPr txBox="1"/>
          <p:nvPr/>
        </p:nvSpPr>
        <p:spPr>
          <a:xfrm>
            <a:off x="736600" y="21844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Modeled refinance loan amount: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55EFD0-D447-EB8F-23EA-107F79D2F142}"/>
              </a:ext>
            </a:extLst>
          </p:cNvPr>
          <p:cNvSpPr txBox="1"/>
          <p:nvPr/>
        </p:nvSpPr>
        <p:spPr>
          <a:xfrm>
            <a:off x="736600" y="27940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- 732,276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F20534-C447-F51B-B887-19A6DDA6A666}"/>
              </a:ext>
            </a:extLst>
          </p:cNvPr>
          <p:cNvSpPr txBox="1"/>
          <p:nvPr/>
        </p:nvSpPr>
        <p:spPr>
          <a:xfrm>
            <a:off x="736600" y="34036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Net refinance proceeds after existing debt payoff: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14C299-70E7-933D-7764-FC5B73461E23}"/>
              </a:ext>
            </a:extLst>
          </p:cNvPr>
          <p:cNvSpPr txBox="1"/>
          <p:nvPr/>
        </p:nvSpPr>
        <p:spPr>
          <a:xfrm>
            <a:off x="736600" y="40132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- 538,276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E518BF-8AC1-52C3-3699-160D46837663}"/>
              </a:ext>
            </a:extLst>
          </p:cNvPr>
          <p:cNvSpPr txBox="1"/>
          <p:nvPr/>
        </p:nvSpPr>
        <p:spPr>
          <a:xfrm>
            <a:off x="736600" y="46228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Refinance loan is a takeout loan only, not a development capital source</a:t>
            </a:r>
          </a:p>
        </p:txBody>
      </p:sp>
    </p:spTree>
    <p:extLst>
      <p:ext uri="{BB962C8B-B14F-4D97-AF65-F5344CB8AC3E}">
        <p14:creationId xmlns:p14="http://schemas.microsoft.com/office/powerpoint/2010/main" val="3633434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CFA56E-E791-BDD4-CFEA-49BFD4BE0DE3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Current Waterfall Priority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36EDC4-907C-9402-9D48-A8C23E04801F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Capital Recovery First / Deferred Preferred Return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448012-822E-5A8F-4128-75EDB291BD96}"/>
              </a:ext>
            </a:extLst>
          </p:cNvPr>
          <p:cNvSpPr txBox="1"/>
          <p:nvPr/>
        </p:nvSpPr>
        <p:spPr>
          <a:xfrm>
            <a:off x="736600" y="15748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First: return Class A capital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9A3E0B-BB3E-D45C-E132-E4E6E28A66F3}"/>
              </a:ext>
            </a:extLst>
          </p:cNvPr>
          <p:cNvSpPr txBox="1"/>
          <p:nvPr/>
        </p:nvSpPr>
        <p:spPr>
          <a:xfrm>
            <a:off x="736600" y="21844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Second: return Class B capital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05239D-D7F6-5052-F65A-A38CEA34D668}"/>
              </a:ext>
            </a:extLst>
          </p:cNvPr>
          <p:cNvSpPr txBox="1"/>
          <p:nvPr/>
        </p:nvSpPr>
        <p:spPr>
          <a:xfrm>
            <a:off x="736600" y="27940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Third: pay accrued Class A preferred return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4B6BAD-D55A-E91E-003F-5FB2A612DF2B}"/>
              </a:ext>
            </a:extLst>
          </p:cNvPr>
          <p:cNvSpPr txBox="1"/>
          <p:nvPr/>
        </p:nvSpPr>
        <p:spPr>
          <a:xfrm>
            <a:off x="736600" y="34036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Fourth: split residual according to editable Sponsor / Class A / Class B shares</a:t>
            </a:r>
          </a:p>
        </p:txBody>
      </p:sp>
    </p:spTree>
    <p:extLst>
      <p:ext uri="{BB962C8B-B14F-4D97-AF65-F5344CB8AC3E}">
        <p14:creationId xmlns:p14="http://schemas.microsoft.com/office/powerpoint/2010/main" val="4039470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5B90FF-20AB-4C3E-AAD6-B884F2C64A2C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Residual Split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7F5019-E81F-B4C3-0874-CB8D47143FBE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Editable sponsor share with proportional Class A / Class B pool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AC9103-268A-8BC4-7CF9-46591D4680B9}"/>
              </a:ext>
            </a:extLst>
          </p:cNvPr>
          <p:cNvSpPr txBox="1"/>
          <p:nvPr/>
        </p:nvSpPr>
        <p:spPr>
          <a:xfrm>
            <a:off x="736600" y="1574800"/>
            <a:ext cx="10541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Sponsor residual share: 50% Class A residual share: 18% Class B residual share: 32% Class A and Class B share the non-sponsor pool in proportion to their capital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3CB527-B521-572A-5A45-1D3823C4745E}"/>
              </a:ext>
            </a:extLst>
          </p:cNvPr>
          <p:cNvSpPr/>
          <p:nvPr/>
        </p:nvSpPr>
        <p:spPr>
          <a:xfrm>
            <a:off x="1016000" y="4445000"/>
            <a:ext cx="2349500" cy="990600"/>
          </a:xfrm>
          <a:prstGeom prst="rect">
            <a:avLst/>
          </a:prstGeom>
          <a:solidFill>
            <a:srgbClr val="FFFFFF"/>
          </a:solidFill>
          <a:ln>
            <a:solidFill>
              <a:srgbClr val="D2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352A1F"/>
                </a:solidFill>
              </a:rPr>
              <a:t>50%</a:t>
            </a:r>
          </a:p>
          <a:p>
            <a:pPr algn="ctr"/>
            <a:r>
              <a:rPr lang="en-US" sz="1000">
                <a:solidFill>
                  <a:srgbClr val="6D675D"/>
                </a:solidFill>
              </a:rPr>
              <a:t>Sponsor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EAABCF-4944-E006-AEEF-1FEC18059FC4}"/>
              </a:ext>
            </a:extLst>
          </p:cNvPr>
          <p:cNvSpPr/>
          <p:nvPr/>
        </p:nvSpPr>
        <p:spPr>
          <a:xfrm>
            <a:off x="3810000" y="4445000"/>
            <a:ext cx="2349500" cy="990600"/>
          </a:xfrm>
          <a:prstGeom prst="rect">
            <a:avLst/>
          </a:prstGeom>
          <a:solidFill>
            <a:srgbClr val="FFFFFF"/>
          </a:solidFill>
          <a:ln>
            <a:solidFill>
              <a:srgbClr val="D2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352A1F"/>
                </a:solidFill>
              </a:rPr>
              <a:t>18%</a:t>
            </a:r>
          </a:p>
          <a:p>
            <a:pPr algn="ctr"/>
            <a:r>
              <a:rPr lang="en-US" sz="1000">
                <a:solidFill>
                  <a:srgbClr val="6D675D"/>
                </a:solidFill>
              </a:rPr>
              <a:t>Class 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A80224-E883-5CAD-427D-610906953857}"/>
              </a:ext>
            </a:extLst>
          </p:cNvPr>
          <p:cNvSpPr/>
          <p:nvPr/>
        </p:nvSpPr>
        <p:spPr>
          <a:xfrm>
            <a:off x="6604000" y="4445000"/>
            <a:ext cx="2349500" cy="990600"/>
          </a:xfrm>
          <a:prstGeom prst="rect">
            <a:avLst/>
          </a:prstGeom>
          <a:solidFill>
            <a:srgbClr val="FFFFFF"/>
          </a:solidFill>
          <a:ln>
            <a:solidFill>
              <a:srgbClr val="D2D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352A1F"/>
                </a:solidFill>
              </a:rPr>
              <a:t>32%</a:t>
            </a:r>
          </a:p>
          <a:p>
            <a:pPr algn="ctr"/>
            <a:r>
              <a:rPr lang="en-US" sz="1000">
                <a:solidFill>
                  <a:srgbClr val="6D675D"/>
                </a:solidFill>
              </a:rPr>
              <a:t>Class B</a:t>
            </a:r>
          </a:p>
        </p:txBody>
      </p:sp>
    </p:spTree>
    <p:extLst>
      <p:ext uri="{BB962C8B-B14F-4D97-AF65-F5344CB8AC3E}">
        <p14:creationId xmlns:p14="http://schemas.microsoft.com/office/powerpoint/2010/main" val="4294717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986F5E-5028-F60F-23A6-719525A6D49C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Modeled Returns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247583-916E-E73A-EA54-29B70F1EC44F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Current workbook return 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D455B1-529E-F2D7-38F9-98ADB41AABEC}"/>
              </a:ext>
            </a:extLst>
          </p:cNvPr>
          <p:cNvSpPr txBox="1"/>
          <p:nvPr/>
        </p:nvSpPr>
        <p:spPr>
          <a:xfrm>
            <a:off x="736600" y="1574800"/>
            <a:ext cx="10541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Class A: 219,799 profit, 519,799 distributions, 73.27% ROI, 16.34% IRR Class B: 234,783 profit, 782,283 distributions, 42.88% ROI, 8.98% IRR Sponsor: 327,148 profit, 463,431 distributions, 240.05% ROI Sponsor IRR is not meaningful because sponsor cash flows include property payment/basis treatment</a:t>
            </a:r>
          </a:p>
        </p:txBody>
      </p:sp>
    </p:spTree>
    <p:extLst>
      <p:ext uri="{BB962C8B-B14F-4D97-AF65-F5344CB8AC3E}">
        <p14:creationId xmlns:p14="http://schemas.microsoft.com/office/powerpoint/2010/main" val="1135884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C4077A-0E26-ECA2-A1C0-C2AB6DBCE125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Cost Position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1AF32C-518C-42EA-85A4-AB85BDD9D69C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Sponsor-controlled case remains the controlling current case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196357-A8CB-747E-9333-2A747B958D3A}"/>
              </a:ext>
            </a:extLst>
          </p:cNvPr>
          <p:cNvSpPr txBox="1"/>
          <p:nvPr/>
        </p:nvSpPr>
        <p:spPr>
          <a:xfrm>
            <a:off x="736600" y="15748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Selected total project cost: 847,500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00FD20-4E7D-59A0-0BA7-3B23BCA7D981}"/>
              </a:ext>
            </a:extLst>
          </p:cNvPr>
          <p:cNvSpPr txBox="1"/>
          <p:nvPr/>
        </p:nvSpPr>
        <p:spPr>
          <a:xfrm>
            <a:off x="736600" y="21844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Sponsor-controlled bridge range: 847,500-1,585,000 including 150,000 property payment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8AE082-F280-52A4-2AD1-C83966E63440}"/>
              </a:ext>
            </a:extLst>
          </p:cNvPr>
          <p:cNvSpPr txBox="1"/>
          <p:nvPr/>
        </p:nvSpPr>
        <p:spPr>
          <a:xfrm>
            <a:off x="736600" y="27940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Outside-market benchmark retained as stress case, not current capitalization control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A9999A-3302-8E92-B7A2-8DBCCF4A2FB8}"/>
              </a:ext>
            </a:extLst>
          </p:cNvPr>
          <p:cNvSpPr txBox="1"/>
          <p:nvPr/>
        </p:nvSpPr>
        <p:spPr>
          <a:xfrm>
            <a:off x="736600" y="34036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Wastewater and finish-drift risks remain key cost sensitivities</a:t>
            </a:r>
          </a:p>
        </p:txBody>
      </p:sp>
    </p:spTree>
    <p:extLst>
      <p:ext uri="{BB962C8B-B14F-4D97-AF65-F5344CB8AC3E}">
        <p14:creationId xmlns:p14="http://schemas.microsoft.com/office/powerpoint/2010/main" val="144624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B4ED47-05A9-D9AD-E720-BBA87E92A407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Execution And Entitlement Focus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B187F5-1A09-58A9-5D57-BE218BEE1D2F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Highest-risk path remains utilities and wastewater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3F8A1C-874E-C532-7105-E01BBA24B8C3}"/>
              </a:ext>
            </a:extLst>
          </p:cNvPr>
          <p:cNvSpPr txBox="1"/>
          <p:nvPr/>
        </p:nvSpPr>
        <p:spPr>
          <a:xfrm>
            <a:off x="736600" y="15748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Fuquay-Varina coordination required because the site is in the Urban Service Area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18CED0-E948-73FA-A324-97F60BB85A6B}"/>
              </a:ext>
            </a:extLst>
          </p:cNvPr>
          <p:cNvSpPr txBox="1"/>
          <p:nvPr/>
        </p:nvSpPr>
        <p:spPr>
          <a:xfrm>
            <a:off x="736600" y="21844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No planned municipal water or sewer extensions are assumed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FAA1F3-44ED-332A-E81D-F38F44899C27}"/>
              </a:ext>
            </a:extLst>
          </p:cNvPr>
          <p:cNvSpPr txBox="1"/>
          <p:nvPr/>
        </p:nvSpPr>
        <p:spPr>
          <a:xfrm>
            <a:off x="736600" y="27940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Wake County Environmental Services coordination remains critical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48A090-23E9-42B3-1467-E9B462F7A821}"/>
              </a:ext>
            </a:extLst>
          </p:cNvPr>
          <p:cNvSpPr txBox="1"/>
          <p:nvPr/>
        </p:nvSpPr>
        <p:spPr>
          <a:xfrm>
            <a:off x="736600" y="34036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Engineered wastewater feasibility and reserve field planning drive density and layout risk</a:t>
            </a:r>
          </a:p>
        </p:txBody>
      </p:sp>
    </p:spTree>
    <p:extLst>
      <p:ext uri="{BB962C8B-B14F-4D97-AF65-F5344CB8AC3E}">
        <p14:creationId xmlns:p14="http://schemas.microsoft.com/office/powerpoint/2010/main" val="4254455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47E84B-2F9D-0100-26EB-5795FADD6FA5}"/>
              </a:ext>
            </a:extLst>
          </p:cNvPr>
          <p:cNvSpPr txBox="1"/>
          <p:nvPr/>
        </p:nvSpPr>
        <p:spPr>
          <a:xfrm>
            <a:off x="457200" y="355600"/>
            <a:ext cx="11049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352A1F"/>
                </a:solidFill>
                <a:latin typeface="Aptos Display" panose="020B0004020202020204" pitchFamily="34" charset="0"/>
              </a:rPr>
              <a:t>Current Underwriting Status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9C9507-CF81-9E62-7BB1-93A72FBE0129}"/>
              </a:ext>
            </a:extLst>
          </p:cNvPr>
          <p:cNvSpPr txBox="1"/>
          <p:nvPr/>
        </p:nvSpPr>
        <p:spPr>
          <a:xfrm>
            <a:off x="482600" y="965200"/>
            <a:ext cx="1079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>
                <a:solidFill>
                  <a:srgbClr val="625B4F"/>
                </a:solidFill>
                <a:latin typeface="Aptos" panose="020B0004020202020204" pitchFamily="34" charset="0"/>
              </a:rPr>
              <a:t>Model is internally synced as of this deck version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A39590-4F8E-C8E7-21B9-0DD7173D3C04}"/>
              </a:ext>
            </a:extLst>
          </p:cNvPr>
          <p:cNvSpPr txBox="1"/>
          <p:nvPr/>
        </p:nvSpPr>
        <p:spPr>
          <a:xfrm>
            <a:off x="736600" y="15748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Markdown files updated to the current sponsor residual assumption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319C23-1EDF-14D7-8165-37F611575DC1}"/>
              </a:ext>
            </a:extLst>
          </p:cNvPr>
          <p:cNvSpPr txBox="1"/>
          <p:nvPr/>
        </p:nvSpPr>
        <p:spPr>
          <a:xfrm>
            <a:off x="736600" y="21844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Workbook uses separate Refi Year and Exit Year option-button selectors on Waterfall tab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422C09-4E7D-D034-F9B4-BF33780E3F40}"/>
              </a:ext>
            </a:extLst>
          </p:cNvPr>
          <p:cNvSpPr txBox="1"/>
          <p:nvPr/>
        </p:nvSpPr>
        <p:spPr>
          <a:xfrm>
            <a:off x="736600" y="27940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Reserve is funded before distributions, then remaining cash flows through waterfall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E65D51-E380-D982-E1AA-2C35654CC117}"/>
              </a:ext>
            </a:extLst>
          </p:cNvPr>
          <p:cNvSpPr txBox="1"/>
          <p:nvPr/>
        </p:nvSpPr>
        <p:spPr>
          <a:xfrm>
            <a:off x="736600" y="34036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3A3124"/>
                </a:solidFill>
                <a:latin typeface="Aptos" panose="020B0004020202020204" pitchFamily="34" charset="0"/>
              </a:rPr>
              <a:t>- PowerPoint v003 reflects current workbook and markdown status</a:t>
            </a:r>
          </a:p>
        </p:txBody>
      </p:sp>
    </p:spTree>
    <p:extLst>
      <p:ext uri="{BB962C8B-B14F-4D97-AF65-F5344CB8AC3E}">
        <p14:creationId xmlns:p14="http://schemas.microsoft.com/office/powerpoint/2010/main" val="3814967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650</Words>
  <Application>Microsoft Office PowerPoint</Application>
  <PresentationFormat>Custom</PresentationFormat>
  <Paragraphs>78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Wes Will Buy Your Home</dc:creator>
  <cp:lastModifiedBy>Wes Will Buy Your Home</cp:lastModifiedBy>
  <cp:revision>1</cp:revision>
  <dcterms:created xsi:type="dcterms:W3CDTF">2026-05-17T02:24:27Z</dcterms:created>
  <dcterms:modified xsi:type="dcterms:W3CDTF">2026-05-17T02:24:27Z</dcterms:modified>
</cp:coreProperties>
</file>