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17" d="100"/>
          <a:sy n="117" d="100"/>
        </p:scale>
        <p:origin x="1938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DED829-E9B3-DB94-BDFB-0E46E6EB6C1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6291792-A578-D188-9C33-62EA63C1D11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EBF832-FD7C-C2BD-C6BE-890961B2BA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2CFD7C-A6A5-4956-86E5-60A56EBD79A8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79F876-DF57-BF8D-0469-1A427AA3D8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F1C5BD8-CED2-81FB-7653-680D49EADE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B75A03-EF02-414D-9F6C-15AB0C0A10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54302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F14B1D-1310-433A-7467-9E2EBD49CD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EF5006-03F5-9DD0-9368-7A6412D9BEC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3238BDD-17E8-67BE-7279-EFC523FCAD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2CFD7C-A6A5-4956-86E5-60A56EBD79A8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418254-AC20-0F71-18CF-6D59C14581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74C695C-8AD9-4E61-455A-5D6FA65591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B75A03-EF02-414D-9F6C-15AB0C0A10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1734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9EA337-53BE-A917-8B15-2D95C54966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3BA5246-1B0D-5E00-90C0-7A6924DE6D1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84FB4E2-F08B-F35F-CF86-A96547BE31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2CFD7C-A6A5-4956-86E5-60A56EBD79A8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65F2E6-594A-E5F8-4C97-E1B09C7ACC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7869476-28CD-10DF-B12E-F4AA512751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B75A03-EF02-414D-9F6C-15AB0C0A10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40897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29F7B5-BF50-8B73-E536-DA468552E2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691DAC-BA5A-F3D9-2A3A-C936E63A466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9AC75A9-1A52-C20D-0C2F-62FA969FB2C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B1E3D18-E7BF-447F-3ECF-9F3EE14E2D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2CFD7C-A6A5-4956-86E5-60A56EBD79A8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BEFA2ED-7BAE-E284-5C91-C9281C6377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8F339CA-CEA5-8631-A047-6C85A3B399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B75A03-EF02-414D-9F6C-15AB0C0A10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21660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15C82F-475F-92F2-EB07-5D77F00760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D0578E4-921E-04EB-177F-D01F7CE211E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F47AC59-59B6-2616-D7D3-652ABCB3EE2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07DBF35-0E5B-DD06-7A10-8CB95BD0C09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71F7D27-B1EE-A2A8-BF58-07496255188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1531C53-0BB7-3A66-1675-A7ACE139EA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2CFD7C-A6A5-4956-86E5-60A56EBD79A8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2A497E3-1AF5-9FC6-89C9-7B1254486A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9733E40-9963-7BFA-30A9-046B4CA32B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B75A03-EF02-414D-9F6C-15AB0C0A10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18219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BCA111-9060-F252-4F5C-9CA044DBFA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31A0BFA-8411-705E-C713-C2D57BDD41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2CFD7C-A6A5-4956-86E5-60A56EBD79A8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AC1C55B-0AD5-6C40-04EA-82CC0207E0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F028893-32A5-D943-506C-EF6861B388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B75A03-EF02-414D-9F6C-15AB0C0A10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03819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F8CAFED-4034-01A8-C6DD-D0832DA68A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2CFD7C-A6A5-4956-86E5-60A56EBD79A8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A8B7A27-4A51-F50D-B662-E86410F91C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DDA9C75-2096-7E69-1B86-186EAE3D5C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B75A03-EF02-414D-9F6C-15AB0C0A10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6850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CC560E-CFE3-8792-EB5B-5B487132EB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EE5619-DFD6-F1A3-6E8B-2574FDC29D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12336EE-240A-4247-D88B-3EE054117D0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45D0987-BAB8-ABCF-F083-7DF9EF27CA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2CFD7C-A6A5-4956-86E5-60A56EBD79A8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0D902AF-1C88-5F0E-B642-191DE3E4B4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542EBC3-730A-02FA-175A-1C91E23D07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B75A03-EF02-414D-9F6C-15AB0C0A10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39176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2C938F-464B-5B5B-B376-54FAC44D59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B2C553A-49F7-3764-22B8-E087D34B5F8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D9C0AD3-867A-9954-9B0F-0DE4D8A8DCA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C431C88-D7ED-BC63-F93F-1EAA91BD4E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2CFD7C-A6A5-4956-86E5-60A56EBD79A8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410D34E-7BB5-C339-84F6-47D4944756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7A02E97-1060-3D3A-434E-1240FA0CB6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B75A03-EF02-414D-9F6C-15AB0C0A10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21824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A9F946-DE24-244C-E04F-EC851D4653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B8D6AA2-21A0-D206-E284-577290E798C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C2D55E-DB3A-D0BF-33D9-D2CFB92309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2CFD7C-A6A5-4956-86E5-60A56EBD79A8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3F3219-104D-8BFA-5DD8-0D518EC37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1F4DFF-5F0C-814B-9B2C-1EEB0E284C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B75A03-EF02-414D-9F6C-15AB0C0A10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44042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2991DC7-9FCE-227F-0DC5-7A93F1BF007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9797A3D-4532-472D-D8B5-B5FFF3F0059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FE8264-1B00-4436-D526-7175787C1D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2CFD7C-A6A5-4956-86E5-60A56EBD79A8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B7A6D7-E485-744A-08F0-4AC075D02F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7C935CE-5A13-2084-DD3B-D4B4F309FB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B75A03-EF02-414D-9F6C-15AB0C0A10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75469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16D1D66-EB56-FFDB-A267-D3977C5757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122FB5A-E22F-CEA9-75E5-C28DA2FB53B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BF891F-D7A9-5D7E-6568-ADA5F09DC39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A2CFD7C-A6A5-4956-86E5-60A56EBD79A8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D0C662-06B0-0B6D-0255-5E5EE3167FF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691F0A7-7BD0-97E9-96E2-EED249ECCC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8B75A03-EF02-414D-9F6C-15AB0C0A10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60780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2B73CAB-03E2-E3F6-A061-91873DACE8B9}"/>
              </a:ext>
            </a:extLst>
          </p:cNvPr>
          <p:cNvSpPr txBox="1"/>
          <p:nvPr/>
        </p:nvSpPr>
        <p:spPr>
          <a:xfrm>
            <a:off x="457200" y="355600"/>
            <a:ext cx="11049000" cy="55399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3000" b="1">
                <a:solidFill>
                  <a:srgbClr val="352A1F"/>
                </a:solidFill>
                <a:latin typeface="Aptos Display" panose="020B0004020202020204" pitchFamily="34" charset="0"/>
              </a:rPr>
              <a:t>3325 Banks Rd Co-Living Development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8B3F5C0-F0D0-8666-52F2-736360C72A62}"/>
              </a:ext>
            </a:extLst>
          </p:cNvPr>
          <p:cNvSpPr txBox="1"/>
          <p:nvPr/>
        </p:nvSpPr>
        <p:spPr>
          <a:xfrm>
            <a:off x="482600" y="965200"/>
            <a:ext cx="10795000" cy="29238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300">
                <a:solidFill>
                  <a:srgbClr val="625B4F"/>
                </a:solidFill>
                <a:latin typeface="Aptos" panose="020B0004020202020204" pitchFamily="34" charset="0"/>
              </a:rPr>
              <a:t>Investor pitch deck synced to workbook and markdown status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8CB1160-D489-3D80-4483-AF683C2CC7C3}"/>
              </a:ext>
            </a:extLst>
          </p:cNvPr>
          <p:cNvSpPr txBox="1"/>
          <p:nvPr/>
        </p:nvSpPr>
        <p:spPr>
          <a:xfrm>
            <a:off x="736600" y="1574800"/>
            <a:ext cx="10541000" cy="3693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>
                <a:solidFill>
                  <a:srgbClr val="3A3124"/>
                </a:solidFill>
                <a:latin typeface="Aptos" panose="020B0004020202020204" pitchFamily="34" charset="0"/>
              </a:rPr>
              <a:t>- Sponsor-led co-living residential development near Raleigh, North Carolina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68D29C5-2B87-A91A-DA83-5A961F4B88D5}"/>
              </a:ext>
            </a:extLst>
          </p:cNvPr>
          <p:cNvSpPr txBox="1"/>
          <p:nvPr/>
        </p:nvSpPr>
        <p:spPr>
          <a:xfrm>
            <a:off x="736600" y="2184400"/>
            <a:ext cx="10541000" cy="3693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>
                <a:solidFill>
                  <a:srgbClr val="3A3124"/>
                </a:solidFill>
                <a:latin typeface="Aptos" panose="020B0004020202020204" pitchFamily="34" charset="0"/>
              </a:rPr>
              <a:t>- Post-frame construction strategy with sponsor-owned equipment and crew capacity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6D84ADC-D208-666A-9B07-48A5C158D8BA}"/>
              </a:ext>
            </a:extLst>
          </p:cNvPr>
          <p:cNvSpPr txBox="1"/>
          <p:nvPr/>
        </p:nvSpPr>
        <p:spPr>
          <a:xfrm>
            <a:off x="736600" y="2794000"/>
            <a:ext cx="10541000" cy="3693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>
                <a:solidFill>
                  <a:srgbClr val="3A3124"/>
                </a:solidFill>
                <a:latin typeface="Aptos" panose="020B0004020202020204" pitchFamily="34" charset="0"/>
              </a:rPr>
              <a:t>- Current workbook status: Refi Year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D123E22-EA82-4F07-128C-25DE59D41527}"/>
              </a:ext>
            </a:extLst>
          </p:cNvPr>
          <p:cNvSpPr txBox="1"/>
          <p:nvPr/>
        </p:nvSpPr>
        <p:spPr>
          <a:xfrm>
            <a:off x="736600" y="3403600"/>
            <a:ext cx="10541000" cy="3693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>
                <a:solidFill>
                  <a:srgbClr val="3A3124"/>
                </a:solidFill>
                <a:latin typeface="Aptos" panose="020B0004020202020204" pitchFamily="34" charset="0"/>
              </a:rPr>
              <a:t>- 3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0F8350C-D7F4-5721-2263-D9C6816E9CB7}"/>
              </a:ext>
            </a:extLst>
          </p:cNvPr>
          <p:cNvSpPr txBox="1"/>
          <p:nvPr/>
        </p:nvSpPr>
        <p:spPr>
          <a:xfrm>
            <a:off x="736600" y="4013200"/>
            <a:ext cx="10541000" cy="3693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>
                <a:solidFill>
                  <a:srgbClr val="3A3124"/>
                </a:solidFill>
                <a:latin typeface="Aptos" panose="020B0004020202020204" pitchFamily="34" charset="0"/>
              </a:rPr>
              <a:t>- , Exit Year 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A15A4D0-572C-9B3B-C553-134F7CF531F9}"/>
              </a:ext>
            </a:extLst>
          </p:cNvPr>
          <p:cNvSpPr txBox="1"/>
          <p:nvPr/>
        </p:nvSpPr>
        <p:spPr>
          <a:xfrm>
            <a:off x="736600" y="4622800"/>
            <a:ext cx="10541000" cy="3693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>
                <a:solidFill>
                  <a:srgbClr val="3A3124"/>
                </a:solidFill>
                <a:latin typeface="Aptos" panose="020B0004020202020204" pitchFamily="34" charset="0"/>
              </a:rPr>
              <a:t>- 5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B6B8F947-33C8-3782-EA6E-FC3EC5EFC62E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55000" y="1625600"/>
            <a:ext cx="3429000" cy="3429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131979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C490311-27E3-292F-4640-6D6551066392}"/>
              </a:ext>
            </a:extLst>
          </p:cNvPr>
          <p:cNvSpPr txBox="1"/>
          <p:nvPr/>
        </p:nvSpPr>
        <p:spPr>
          <a:xfrm>
            <a:off x="457200" y="355600"/>
            <a:ext cx="11049000" cy="55399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3000" b="1">
                <a:solidFill>
                  <a:srgbClr val="352A1F"/>
                </a:solidFill>
                <a:latin typeface="Aptos Display" panose="020B0004020202020204" pitchFamily="34" charset="0"/>
              </a:rPr>
              <a:t>Project Program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72D5B78-5EBC-C02C-DC07-35884A37855E}"/>
              </a:ext>
            </a:extLst>
          </p:cNvPr>
          <p:cNvSpPr txBox="1"/>
          <p:nvPr/>
        </p:nvSpPr>
        <p:spPr>
          <a:xfrm>
            <a:off x="482600" y="965200"/>
            <a:ext cx="10795000" cy="29238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300">
                <a:solidFill>
                  <a:srgbClr val="625B4F"/>
                </a:solidFill>
                <a:latin typeface="Aptos" panose="020B0004020202020204" pitchFamily="34" charset="0"/>
              </a:rPr>
              <a:t>Eight-suite co-living residential asset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A7E24BC-10F1-15A5-064F-FD796E8A958D}"/>
              </a:ext>
            </a:extLst>
          </p:cNvPr>
          <p:cNvSpPr txBox="1"/>
          <p:nvPr/>
        </p:nvSpPr>
        <p:spPr>
          <a:xfrm>
            <a:off x="736600" y="1574800"/>
            <a:ext cx="10541000" cy="3693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>
                <a:solidFill>
                  <a:srgbClr val="3A3124"/>
                </a:solidFill>
                <a:latin typeface="Aptos" panose="020B0004020202020204" pitchFamily="34" charset="0"/>
              </a:rPr>
              <a:t>- Approximately 1.1 acres and 5,000-6,000 SF two-story post-frame structure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990C2DF-9C0F-CDFA-3D85-49D2EB30DEF8}"/>
              </a:ext>
            </a:extLst>
          </p:cNvPr>
          <p:cNvSpPr txBox="1"/>
          <p:nvPr/>
        </p:nvSpPr>
        <p:spPr>
          <a:xfrm>
            <a:off x="736600" y="2184400"/>
            <a:ext cx="10541000" cy="3693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>
                <a:solidFill>
                  <a:srgbClr val="3A3124"/>
                </a:solidFill>
                <a:latin typeface="Aptos" panose="020B0004020202020204" pitchFamily="34" charset="0"/>
              </a:rPr>
              <a:t>- Four first-floor premium suites with private bath and kitchenette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2A80F91-6724-A40C-1064-21A44EE8F374}"/>
              </a:ext>
            </a:extLst>
          </p:cNvPr>
          <p:cNvSpPr txBox="1"/>
          <p:nvPr/>
        </p:nvSpPr>
        <p:spPr>
          <a:xfrm>
            <a:off x="736600" y="2794000"/>
            <a:ext cx="10541000" cy="3693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>
                <a:solidFill>
                  <a:srgbClr val="3A3124"/>
                </a:solidFill>
                <a:latin typeface="Aptos" panose="020B0004020202020204" pitchFamily="34" charset="0"/>
              </a:rPr>
              <a:t>- Four second-floor co-living suites with private bath and shared amenities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EEF7CA6-5F7A-5C24-3095-44BF2CACAFF1}"/>
              </a:ext>
            </a:extLst>
          </p:cNvPr>
          <p:cNvSpPr txBox="1"/>
          <p:nvPr/>
        </p:nvSpPr>
        <p:spPr>
          <a:xfrm>
            <a:off x="736600" y="3403600"/>
            <a:ext cx="10541000" cy="3693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>
                <a:solidFill>
                  <a:srgbClr val="3A3124"/>
                </a:solidFill>
                <a:latin typeface="Aptos" panose="020B0004020202020204" pitchFamily="34" charset="0"/>
              </a:rPr>
              <a:t>- Shared kitchen, lounge, laundry, storage, and covered outdoor gathering areas</a:t>
            </a:r>
          </a:p>
        </p:txBody>
      </p:sp>
    </p:spTree>
    <p:extLst>
      <p:ext uri="{BB962C8B-B14F-4D97-AF65-F5344CB8AC3E}">
        <p14:creationId xmlns:p14="http://schemas.microsoft.com/office/powerpoint/2010/main" val="318593381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C00AD3E-0850-8EEC-1F94-AD74AC8C899A}"/>
              </a:ext>
            </a:extLst>
          </p:cNvPr>
          <p:cNvSpPr txBox="1"/>
          <p:nvPr/>
        </p:nvSpPr>
        <p:spPr>
          <a:xfrm>
            <a:off x="457200" y="355600"/>
            <a:ext cx="11049000" cy="55399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3000" b="1">
                <a:solidFill>
                  <a:srgbClr val="352A1F"/>
                </a:solidFill>
                <a:latin typeface="Aptos Display" panose="020B0004020202020204" pitchFamily="34" charset="0"/>
              </a:rPr>
              <a:t>Rent Schedule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D4A734F-7441-2EF9-3842-01250495505E}"/>
              </a:ext>
            </a:extLst>
          </p:cNvPr>
          <p:cNvSpPr txBox="1"/>
          <p:nvPr/>
        </p:nvSpPr>
        <p:spPr>
          <a:xfrm>
            <a:off x="482600" y="965200"/>
            <a:ext cx="10795000" cy="29238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300">
                <a:solidFill>
                  <a:srgbClr val="625B4F"/>
                </a:solidFill>
                <a:latin typeface="Aptos" panose="020B0004020202020204" pitchFamily="34" charset="0"/>
              </a:rPr>
              <a:t>Annual Model uses scenario timing, not a simple average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45EB692-309F-1F4A-39A1-2944E08D04AD}"/>
              </a:ext>
            </a:extLst>
          </p:cNvPr>
          <p:cNvSpPr txBox="1"/>
          <p:nvPr/>
        </p:nvSpPr>
        <p:spPr>
          <a:xfrm>
            <a:off x="736600" y="1574800"/>
            <a:ext cx="10541000" cy="3693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>
                <a:solidFill>
                  <a:srgbClr val="3A3124"/>
                </a:solidFill>
                <a:latin typeface="Aptos" panose="020B0004020202020204" pitchFamily="34" charset="0"/>
              </a:rPr>
              <a:t>- Year 1 low scenario: 8,800 monthly gross rent / 105,600 annual potential rent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A1371BF-B213-0DA5-5F24-82EE89AB15FA}"/>
              </a:ext>
            </a:extLst>
          </p:cNvPr>
          <p:cNvSpPr txBox="1"/>
          <p:nvPr/>
        </p:nvSpPr>
        <p:spPr>
          <a:xfrm>
            <a:off x="736600" y="2184400"/>
            <a:ext cx="10541000" cy="3693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>
                <a:solidFill>
                  <a:srgbClr val="3A3124"/>
                </a:solidFill>
                <a:latin typeface="Aptos" panose="020B0004020202020204" pitchFamily="34" charset="0"/>
              </a:rPr>
              <a:t>- Year 2 medium scenario: 10,800 monthly gross rent / 129,600 annual potential rent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4A9DEB1-5409-B9F0-E2E0-9B6A29C03ED1}"/>
              </a:ext>
            </a:extLst>
          </p:cNvPr>
          <p:cNvSpPr txBox="1"/>
          <p:nvPr/>
        </p:nvSpPr>
        <p:spPr>
          <a:xfrm>
            <a:off x="736600" y="2794000"/>
            <a:ext cx="10541000" cy="3693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>
                <a:solidFill>
                  <a:srgbClr val="3A3124"/>
                </a:solidFill>
                <a:latin typeface="Aptos" panose="020B0004020202020204" pitchFamily="34" charset="0"/>
              </a:rPr>
              <a:t>- Year 4 high scenario: 12,000 monthly gross rent / 144,000 annual potential rent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98C76A2-2FF6-743D-46B4-770F6A6A82EC}"/>
              </a:ext>
            </a:extLst>
          </p:cNvPr>
          <p:cNvSpPr txBox="1"/>
          <p:nvPr/>
        </p:nvSpPr>
        <p:spPr>
          <a:xfrm>
            <a:off x="736600" y="3403600"/>
            <a:ext cx="10541000" cy="3693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>
                <a:solidFill>
                  <a:srgbClr val="3A3124"/>
                </a:solidFill>
                <a:latin typeface="Aptos" panose="020B0004020202020204" pitchFamily="34" charset="0"/>
              </a:rPr>
              <a:t>- Current refinance-year valuation uses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F18CAE9-3DB2-F19A-099B-E3EC4C13246F}"/>
              </a:ext>
            </a:extLst>
          </p:cNvPr>
          <p:cNvSpPr txBox="1"/>
          <p:nvPr/>
        </p:nvSpPr>
        <p:spPr>
          <a:xfrm>
            <a:off x="736600" y="4013200"/>
            <a:ext cx="10541000" cy="3693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>
                <a:solidFill>
                  <a:srgbClr val="3A3124"/>
                </a:solidFill>
                <a:latin typeface="Aptos" panose="020B0004020202020204" pitchFamily="34" charset="0"/>
              </a:rPr>
              <a:t>- 12,000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C6001B1-606C-EA65-104B-6613937E5DB5}"/>
              </a:ext>
            </a:extLst>
          </p:cNvPr>
          <p:cNvSpPr txBox="1"/>
          <p:nvPr/>
        </p:nvSpPr>
        <p:spPr>
          <a:xfrm>
            <a:off x="736600" y="4622800"/>
            <a:ext cx="10541000" cy="3693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>
                <a:solidFill>
                  <a:srgbClr val="3A3124"/>
                </a:solidFill>
                <a:latin typeface="Aptos" panose="020B0004020202020204" pitchFamily="34" charset="0"/>
              </a:rPr>
              <a:t>-  monthly gross rent</a:t>
            </a:r>
          </a:p>
        </p:txBody>
      </p:sp>
    </p:spTree>
    <p:extLst>
      <p:ext uri="{BB962C8B-B14F-4D97-AF65-F5344CB8AC3E}">
        <p14:creationId xmlns:p14="http://schemas.microsoft.com/office/powerpoint/2010/main" val="288703852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080B844-7115-295D-7E58-FF5D624A27E5}"/>
              </a:ext>
            </a:extLst>
          </p:cNvPr>
          <p:cNvSpPr txBox="1"/>
          <p:nvPr/>
        </p:nvSpPr>
        <p:spPr>
          <a:xfrm>
            <a:off x="457200" y="355600"/>
            <a:ext cx="11049000" cy="55399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3000" b="1">
                <a:solidFill>
                  <a:srgbClr val="352A1F"/>
                </a:solidFill>
                <a:latin typeface="Aptos Display" panose="020B0004020202020204" pitchFamily="34" charset="0"/>
              </a:rPr>
              <a:t>Operating Expense Budget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FAE5CC5-31D9-57E4-FDA8-F07B855FC7D4}"/>
              </a:ext>
            </a:extLst>
          </p:cNvPr>
          <p:cNvSpPr txBox="1"/>
          <p:nvPr/>
        </p:nvSpPr>
        <p:spPr>
          <a:xfrm>
            <a:off x="482600" y="965200"/>
            <a:ext cx="10795000" cy="29238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300">
                <a:solidFill>
                  <a:srgbClr val="625B4F"/>
                </a:solidFill>
                <a:latin typeface="Aptos" panose="020B0004020202020204" pitchFamily="34" charset="0"/>
              </a:rPr>
              <a:t>Detailed budget currently controls operating expense ratio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F996970-460E-F897-020F-246CD7197C9C}"/>
              </a:ext>
            </a:extLst>
          </p:cNvPr>
          <p:cNvSpPr txBox="1"/>
          <p:nvPr/>
        </p:nvSpPr>
        <p:spPr>
          <a:xfrm>
            <a:off x="736600" y="1574800"/>
            <a:ext cx="10541000" cy="92333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>
                <a:solidFill>
                  <a:srgbClr val="3A3124"/>
                </a:solidFill>
                <a:latin typeface="Aptos" panose="020B0004020202020204" pitchFamily="34" charset="0"/>
              </a:rPr>
              <a:t>- Selected operating expense ratio: 46.9% Stabilized effective gross income: 133,920 Total annual operating expense budget: 62,825 Repairs and maintenance reserve target: 9,000 funded before waterfall distributions</a:t>
            </a:r>
          </a:p>
        </p:txBody>
      </p:sp>
    </p:spTree>
    <p:extLst>
      <p:ext uri="{BB962C8B-B14F-4D97-AF65-F5344CB8AC3E}">
        <p14:creationId xmlns:p14="http://schemas.microsoft.com/office/powerpoint/2010/main" val="429127927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1BA7E8B-D81D-B2AD-826B-A4BC6059ACCF}"/>
              </a:ext>
            </a:extLst>
          </p:cNvPr>
          <p:cNvSpPr txBox="1"/>
          <p:nvPr/>
        </p:nvSpPr>
        <p:spPr>
          <a:xfrm>
            <a:off x="457200" y="355600"/>
            <a:ext cx="11049000" cy="55399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3000" b="1">
                <a:solidFill>
                  <a:srgbClr val="352A1F"/>
                </a:solidFill>
                <a:latin typeface="Aptos Display" panose="020B0004020202020204" pitchFamily="34" charset="0"/>
              </a:rPr>
              <a:t>Capital Stack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D5337E9-73C1-ACC4-4739-976BFA0CD478}"/>
              </a:ext>
            </a:extLst>
          </p:cNvPr>
          <p:cNvSpPr txBox="1"/>
          <p:nvPr/>
        </p:nvSpPr>
        <p:spPr>
          <a:xfrm>
            <a:off x="482600" y="965200"/>
            <a:ext cx="10795000" cy="29238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300">
                <a:solidFill>
                  <a:srgbClr val="625B4F"/>
                </a:solidFill>
                <a:latin typeface="Aptos" panose="020B0004020202020204" pitchFamily="34" charset="0"/>
              </a:rPr>
              <a:t>Development/build capital comes from Class A and Class B members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F7F1CC9-0102-2DBC-B767-BA9FFD0040F4}"/>
              </a:ext>
            </a:extLst>
          </p:cNvPr>
          <p:cNvSpPr txBox="1"/>
          <p:nvPr/>
        </p:nvSpPr>
        <p:spPr>
          <a:xfrm>
            <a:off x="736600" y="1574800"/>
            <a:ext cx="10541000" cy="64633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>
                <a:solidFill>
                  <a:srgbClr val="3A3124"/>
                </a:solidFill>
                <a:latin typeface="Aptos" panose="020B0004020202020204" pitchFamily="34" charset="0"/>
              </a:rPr>
              <a:t>- Class A capital: 300,000 with 8.00% cumulative preferred return Class B completion capital: 597,500 Sponsor property payment / basis: 150,000 Sponsor capital investment tracked separately: 125,000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84F0778-9889-3AB0-D78E-89CE1709749C}"/>
              </a:ext>
            </a:extLst>
          </p:cNvPr>
          <p:cNvSpPr/>
          <p:nvPr/>
        </p:nvSpPr>
        <p:spPr>
          <a:xfrm>
            <a:off x="889000" y="4445000"/>
            <a:ext cx="2349500" cy="990600"/>
          </a:xfrm>
          <a:prstGeom prst="rect">
            <a:avLst/>
          </a:prstGeom>
          <a:solidFill>
            <a:srgbClr val="FFFFFF"/>
          </a:solidFill>
          <a:ln>
            <a:solidFill>
              <a:srgbClr val="D2D8D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200" b="1">
                <a:solidFill>
                  <a:srgbClr val="352A1F"/>
                </a:solidFill>
              </a:rPr>
              <a:t>300,000</a:t>
            </a:r>
          </a:p>
          <a:p>
            <a:pPr algn="ctr"/>
            <a:r>
              <a:rPr lang="en-US" sz="1000">
                <a:solidFill>
                  <a:srgbClr val="6D675D"/>
                </a:solidFill>
              </a:rPr>
              <a:t>Class A Capital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E0EF0DF-0421-003B-081C-E9C9ECA8A457}"/>
              </a:ext>
            </a:extLst>
          </p:cNvPr>
          <p:cNvSpPr/>
          <p:nvPr/>
        </p:nvSpPr>
        <p:spPr>
          <a:xfrm>
            <a:off x="3556000" y="4445000"/>
            <a:ext cx="2349500" cy="990600"/>
          </a:xfrm>
          <a:prstGeom prst="rect">
            <a:avLst/>
          </a:prstGeom>
          <a:solidFill>
            <a:srgbClr val="FFFFFF"/>
          </a:solidFill>
          <a:ln>
            <a:solidFill>
              <a:srgbClr val="D2D8D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200" b="1">
                <a:solidFill>
                  <a:srgbClr val="352A1F"/>
                </a:solidFill>
              </a:rPr>
              <a:t>597,500</a:t>
            </a:r>
          </a:p>
          <a:p>
            <a:pPr algn="ctr"/>
            <a:r>
              <a:rPr lang="en-US" sz="1000">
                <a:solidFill>
                  <a:srgbClr val="6D675D"/>
                </a:solidFill>
              </a:rPr>
              <a:t>Class B Capital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BDFE183-5CA0-3DA2-BB5E-0641BAFC693E}"/>
              </a:ext>
            </a:extLst>
          </p:cNvPr>
          <p:cNvSpPr/>
          <p:nvPr/>
        </p:nvSpPr>
        <p:spPr>
          <a:xfrm>
            <a:off x="6223000" y="4445000"/>
            <a:ext cx="2349500" cy="990600"/>
          </a:xfrm>
          <a:prstGeom prst="rect">
            <a:avLst/>
          </a:prstGeom>
          <a:solidFill>
            <a:srgbClr val="FFFFFF"/>
          </a:solidFill>
          <a:ln>
            <a:solidFill>
              <a:srgbClr val="D2D8D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200" b="1">
                <a:solidFill>
                  <a:srgbClr val="352A1F"/>
                </a:solidFill>
              </a:rPr>
              <a:t>150,000</a:t>
            </a:r>
          </a:p>
          <a:p>
            <a:pPr algn="ctr"/>
            <a:r>
              <a:rPr lang="en-US" sz="1000">
                <a:solidFill>
                  <a:srgbClr val="6D675D"/>
                </a:solidFill>
              </a:rPr>
              <a:t>Property Payment</a:t>
            </a:r>
          </a:p>
        </p:txBody>
      </p:sp>
    </p:spTree>
    <p:extLst>
      <p:ext uri="{BB962C8B-B14F-4D97-AF65-F5344CB8AC3E}">
        <p14:creationId xmlns:p14="http://schemas.microsoft.com/office/powerpoint/2010/main" val="329178323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2205E7D-F6AA-9563-5F90-B3C486DAD0EC}"/>
              </a:ext>
            </a:extLst>
          </p:cNvPr>
          <p:cNvSpPr txBox="1"/>
          <p:nvPr/>
        </p:nvSpPr>
        <p:spPr>
          <a:xfrm>
            <a:off x="457200" y="355600"/>
            <a:ext cx="11049000" cy="55399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3000" b="1">
                <a:solidFill>
                  <a:srgbClr val="352A1F"/>
                </a:solidFill>
                <a:latin typeface="Aptos Display" panose="020B0004020202020204" pitchFamily="34" charset="0"/>
              </a:rPr>
              <a:t>Existing Debt And Refinance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4D2109A-FB15-4EB1-0720-3024E190CBED}"/>
              </a:ext>
            </a:extLst>
          </p:cNvPr>
          <p:cNvSpPr txBox="1"/>
          <p:nvPr/>
        </p:nvSpPr>
        <p:spPr>
          <a:xfrm>
            <a:off x="482600" y="965200"/>
            <a:ext cx="10795000" cy="29238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300">
                <a:solidFill>
                  <a:srgbClr val="625B4F"/>
                </a:solidFill>
                <a:latin typeface="Aptos" panose="020B0004020202020204" pitchFamily="34" charset="0"/>
              </a:rPr>
              <a:t>No construction loan is modeled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F2D89FC-B585-945C-98EF-42CFEB1E6111}"/>
              </a:ext>
            </a:extLst>
          </p:cNvPr>
          <p:cNvSpPr txBox="1"/>
          <p:nvPr/>
        </p:nvSpPr>
        <p:spPr>
          <a:xfrm>
            <a:off x="736600" y="1574800"/>
            <a:ext cx="10541000" cy="3693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>
                <a:solidFill>
                  <a:srgbClr val="3A3124"/>
                </a:solidFill>
                <a:latin typeface="Aptos" panose="020B0004020202020204" pitchFamily="34" charset="0"/>
              </a:rPr>
              <a:t>- Existing debt payoff at refinance: 194,000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28F6881-52EF-3734-06BF-357B31F19510}"/>
              </a:ext>
            </a:extLst>
          </p:cNvPr>
          <p:cNvSpPr txBox="1"/>
          <p:nvPr/>
        </p:nvSpPr>
        <p:spPr>
          <a:xfrm>
            <a:off x="736600" y="2184400"/>
            <a:ext cx="10541000" cy="3693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>
                <a:solidFill>
                  <a:srgbClr val="3A3124"/>
                </a:solidFill>
                <a:latin typeface="Aptos" panose="020B0004020202020204" pitchFamily="34" charset="0"/>
              </a:rPr>
              <a:t>- Modeled refinance loan amount: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5E8EFC1-496C-B7E6-E733-4459BC10F057}"/>
              </a:ext>
            </a:extLst>
          </p:cNvPr>
          <p:cNvSpPr txBox="1"/>
          <p:nvPr/>
        </p:nvSpPr>
        <p:spPr>
          <a:xfrm>
            <a:off x="736600" y="2794000"/>
            <a:ext cx="10541000" cy="3693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>
                <a:solidFill>
                  <a:srgbClr val="3A3124"/>
                </a:solidFill>
                <a:latin typeface="Aptos" panose="020B0004020202020204" pitchFamily="34" charset="0"/>
              </a:rPr>
              <a:t>- 732,276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6027A1B-2CCC-6826-0BA1-CD8AEC96E2FC}"/>
              </a:ext>
            </a:extLst>
          </p:cNvPr>
          <p:cNvSpPr txBox="1"/>
          <p:nvPr/>
        </p:nvSpPr>
        <p:spPr>
          <a:xfrm>
            <a:off x="736600" y="3403600"/>
            <a:ext cx="10541000" cy="3693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>
                <a:solidFill>
                  <a:srgbClr val="3A3124"/>
                </a:solidFill>
                <a:latin typeface="Aptos" panose="020B0004020202020204" pitchFamily="34" charset="0"/>
              </a:rPr>
              <a:t>- Net refinance proceeds after existing debt payoff: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4ABBCF3-8B11-8958-A7C4-E352E5BDF061}"/>
              </a:ext>
            </a:extLst>
          </p:cNvPr>
          <p:cNvSpPr txBox="1"/>
          <p:nvPr/>
        </p:nvSpPr>
        <p:spPr>
          <a:xfrm>
            <a:off x="736600" y="4013200"/>
            <a:ext cx="10541000" cy="3693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>
                <a:solidFill>
                  <a:srgbClr val="3A3124"/>
                </a:solidFill>
                <a:latin typeface="Aptos" panose="020B0004020202020204" pitchFamily="34" charset="0"/>
              </a:rPr>
              <a:t>- 538,276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666043D-6BC7-7710-EC11-6CD6C5D7BE32}"/>
              </a:ext>
            </a:extLst>
          </p:cNvPr>
          <p:cNvSpPr txBox="1"/>
          <p:nvPr/>
        </p:nvSpPr>
        <p:spPr>
          <a:xfrm>
            <a:off x="736600" y="4622800"/>
            <a:ext cx="10541000" cy="3693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>
                <a:solidFill>
                  <a:srgbClr val="3A3124"/>
                </a:solidFill>
                <a:latin typeface="Aptos" panose="020B0004020202020204" pitchFamily="34" charset="0"/>
              </a:rPr>
              <a:t>- Refinance loan is a takeout loan only, not a development capital source</a:t>
            </a:r>
          </a:p>
        </p:txBody>
      </p:sp>
    </p:spTree>
    <p:extLst>
      <p:ext uri="{BB962C8B-B14F-4D97-AF65-F5344CB8AC3E}">
        <p14:creationId xmlns:p14="http://schemas.microsoft.com/office/powerpoint/2010/main" val="233591679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9711B09-34D6-7C4A-7EF5-ECE2623832D1}"/>
              </a:ext>
            </a:extLst>
          </p:cNvPr>
          <p:cNvSpPr txBox="1"/>
          <p:nvPr/>
        </p:nvSpPr>
        <p:spPr>
          <a:xfrm>
            <a:off x="457200" y="355600"/>
            <a:ext cx="11049000" cy="55399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3000" b="1">
                <a:solidFill>
                  <a:srgbClr val="352A1F"/>
                </a:solidFill>
                <a:latin typeface="Aptos Display" panose="020B0004020202020204" pitchFamily="34" charset="0"/>
              </a:rPr>
              <a:t>Current Waterfall Priority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151970D-2B3C-7ADE-1ABA-E83381AEC1B8}"/>
              </a:ext>
            </a:extLst>
          </p:cNvPr>
          <p:cNvSpPr txBox="1"/>
          <p:nvPr/>
        </p:nvSpPr>
        <p:spPr>
          <a:xfrm>
            <a:off x="482600" y="965200"/>
            <a:ext cx="10795000" cy="29238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300">
                <a:solidFill>
                  <a:srgbClr val="625B4F"/>
                </a:solidFill>
                <a:latin typeface="Aptos" panose="020B0004020202020204" pitchFamily="34" charset="0"/>
              </a:rPr>
              <a:t>Capital Recovery First / Deferred Preferred Return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268DF63-53A5-A09B-F5E5-AAE2C0E5BA7A}"/>
              </a:ext>
            </a:extLst>
          </p:cNvPr>
          <p:cNvSpPr txBox="1"/>
          <p:nvPr/>
        </p:nvSpPr>
        <p:spPr>
          <a:xfrm>
            <a:off x="736600" y="1574800"/>
            <a:ext cx="10541000" cy="3693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>
                <a:solidFill>
                  <a:srgbClr val="3A3124"/>
                </a:solidFill>
                <a:latin typeface="Aptos" panose="020B0004020202020204" pitchFamily="34" charset="0"/>
              </a:rPr>
              <a:t>- First: return Class A capital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2D4D602-70F4-66CA-7054-91E93F94A5AB}"/>
              </a:ext>
            </a:extLst>
          </p:cNvPr>
          <p:cNvSpPr txBox="1"/>
          <p:nvPr/>
        </p:nvSpPr>
        <p:spPr>
          <a:xfrm>
            <a:off x="736600" y="2184400"/>
            <a:ext cx="10541000" cy="3693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>
                <a:solidFill>
                  <a:srgbClr val="3A3124"/>
                </a:solidFill>
                <a:latin typeface="Aptos" panose="020B0004020202020204" pitchFamily="34" charset="0"/>
              </a:rPr>
              <a:t>- Second: return Class B capital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BEE79FA-EBA1-F75B-7BF7-189370F0C9C0}"/>
              </a:ext>
            </a:extLst>
          </p:cNvPr>
          <p:cNvSpPr txBox="1"/>
          <p:nvPr/>
        </p:nvSpPr>
        <p:spPr>
          <a:xfrm>
            <a:off x="736600" y="2794000"/>
            <a:ext cx="10541000" cy="3693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>
                <a:solidFill>
                  <a:srgbClr val="3A3124"/>
                </a:solidFill>
                <a:latin typeface="Aptos" panose="020B0004020202020204" pitchFamily="34" charset="0"/>
              </a:rPr>
              <a:t>- Third: pay accrued Class A preferred return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4450148-20E9-6701-921C-D7EE457C9986}"/>
              </a:ext>
            </a:extLst>
          </p:cNvPr>
          <p:cNvSpPr txBox="1"/>
          <p:nvPr/>
        </p:nvSpPr>
        <p:spPr>
          <a:xfrm>
            <a:off x="736600" y="3403600"/>
            <a:ext cx="10541000" cy="3693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>
                <a:solidFill>
                  <a:srgbClr val="3A3124"/>
                </a:solidFill>
                <a:latin typeface="Aptos" panose="020B0004020202020204" pitchFamily="34" charset="0"/>
              </a:rPr>
              <a:t>- Fourth: split residual according to editable Sponsor / Class A / Class B shares</a:t>
            </a:r>
          </a:p>
        </p:txBody>
      </p:sp>
    </p:spTree>
    <p:extLst>
      <p:ext uri="{BB962C8B-B14F-4D97-AF65-F5344CB8AC3E}">
        <p14:creationId xmlns:p14="http://schemas.microsoft.com/office/powerpoint/2010/main" val="127862332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5A46B7F-DB93-4D19-8660-6FB3106DB03F}"/>
              </a:ext>
            </a:extLst>
          </p:cNvPr>
          <p:cNvSpPr txBox="1"/>
          <p:nvPr/>
        </p:nvSpPr>
        <p:spPr>
          <a:xfrm>
            <a:off x="457200" y="355600"/>
            <a:ext cx="11049000" cy="55399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3000" b="1">
                <a:solidFill>
                  <a:srgbClr val="352A1F"/>
                </a:solidFill>
                <a:latin typeface="Aptos Display" panose="020B0004020202020204" pitchFamily="34" charset="0"/>
              </a:rPr>
              <a:t>Residual Split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82EFDCB-9F65-8DC7-D484-7769E8FFA89F}"/>
              </a:ext>
            </a:extLst>
          </p:cNvPr>
          <p:cNvSpPr txBox="1"/>
          <p:nvPr/>
        </p:nvSpPr>
        <p:spPr>
          <a:xfrm>
            <a:off x="482600" y="965200"/>
            <a:ext cx="10795000" cy="29238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300">
                <a:solidFill>
                  <a:srgbClr val="625B4F"/>
                </a:solidFill>
                <a:latin typeface="Aptos" panose="020B0004020202020204" pitchFamily="34" charset="0"/>
              </a:rPr>
              <a:t>Editable sponsor share with proportional Class A / Class B pool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F3CA178-92CC-B1A9-E66B-6B2532F7DF4D}"/>
              </a:ext>
            </a:extLst>
          </p:cNvPr>
          <p:cNvSpPr txBox="1"/>
          <p:nvPr/>
        </p:nvSpPr>
        <p:spPr>
          <a:xfrm>
            <a:off x="736600" y="1574800"/>
            <a:ext cx="10541000" cy="64633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>
                <a:solidFill>
                  <a:srgbClr val="3A3124"/>
                </a:solidFill>
                <a:latin typeface="Aptos" panose="020B0004020202020204" pitchFamily="34" charset="0"/>
              </a:rPr>
              <a:t>- Sponsor residual share: 40% Class A residual share: 20% Class B residual share: 40% Class A and Class B share the non-sponsor pool in proportion to their capital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68224ED-842E-32BF-DE0C-7EAFF1145F2E}"/>
              </a:ext>
            </a:extLst>
          </p:cNvPr>
          <p:cNvSpPr/>
          <p:nvPr/>
        </p:nvSpPr>
        <p:spPr>
          <a:xfrm>
            <a:off x="1016000" y="4445000"/>
            <a:ext cx="2349500" cy="990600"/>
          </a:xfrm>
          <a:prstGeom prst="rect">
            <a:avLst/>
          </a:prstGeom>
          <a:solidFill>
            <a:srgbClr val="FFFFFF"/>
          </a:solidFill>
          <a:ln>
            <a:solidFill>
              <a:srgbClr val="D2D8D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200" b="1">
                <a:solidFill>
                  <a:srgbClr val="352A1F"/>
                </a:solidFill>
              </a:rPr>
              <a:t>40%</a:t>
            </a:r>
          </a:p>
          <a:p>
            <a:pPr algn="ctr"/>
            <a:r>
              <a:rPr lang="en-US" sz="1000">
                <a:solidFill>
                  <a:srgbClr val="6D675D"/>
                </a:solidFill>
              </a:rPr>
              <a:t>Sponsor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5F4B200-6695-F66C-06FC-7CDE18E32BBF}"/>
              </a:ext>
            </a:extLst>
          </p:cNvPr>
          <p:cNvSpPr/>
          <p:nvPr/>
        </p:nvSpPr>
        <p:spPr>
          <a:xfrm>
            <a:off x="3810000" y="4445000"/>
            <a:ext cx="2349500" cy="990600"/>
          </a:xfrm>
          <a:prstGeom prst="rect">
            <a:avLst/>
          </a:prstGeom>
          <a:solidFill>
            <a:srgbClr val="FFFFFF"/>
          </a:solidFill>
          <a:ln>
            <a:solidFill>
              <a:srgbClr val="D2D8D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200" b="1">
                <a:solidFill>
                  <a:srgbClr val="352A1F"/>
                </a:solidFill>
              </a:rPr>
              <a:t>20%</a:t>
            </a:r>
          </a:p>
          <a:p>
            <a:pPr algn="ctr"/>
            <a:r>
              <a:rPr lang="en-US" sz="1000">
                <a:solidFill>
                  <a:srgbClr val="6D675D"/>
                </a:solidFill>
              </a:rPr>
              <a:t>Class A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F3CB171-D14F-D2AB-CE3F-FA3814032DE0}"/>
              </a:ext>
            </a:extLst>
          </p:cNvPr>
          <p:cNvSpPr/>
          <p:nvPr/>
        </p:nvSpPr>
        <p:spPr>
          <a:xfrm>
            <a:off x="6604000" y="4445000"/>
            <a:ext cx="2349500" cy="990600"/>
          </a:xfrm>
          <a:prstGeom prst="rect">
            <a:avLst/>
          </a:prstGeom>
          <a:solidFill>
            <a:srgbClr val="FFFFFF"/>
          </a:solidFill>
          <a:ln>
            <a:solidFill>
              <a:srgbClr val="D2D8D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200" b="1">
                <a:solidFill>
                  <a:srgbClr val="352A1F"/>
                </a:solidFill>
              </a:rPr>
              <a:t>40%</a:t>
            </a:r>
          </a:p>
          <a:p>
            <a:pPr algn="ctr"/>
            <a:r>
              <a:rPr lang="en-US" sz="1000">
                <a:solidFill>
                  <a:srgbClr val="6D675D"/>
                </a:solidFill>
              </a:rPr>
              <a:t>Class B</a:t>
            </a:r>
          </a:p>
        </p:txBody>
      </p:sp>
    </p:spTree>
    <p:extLst>
      <p:ext uri="{BB962C8B-B14F-4D97-AF65-F5344CB8AC3E}">
        <p14:creationId xmlns:p14="http://schemas.microsoft.com/office/powerpoint/2010/main" val="246787812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B226FD4-5ED6-2177-6ADC-3D9DABC3902B}"/>
              </a:ext>
            </a:extLst>
          </p:cNvPr>
          <p:cNvSpPr txBox="1"/>
          <p:nvPr/>
        </p:nvSpPr>
        <p:spPr>
          <a:xfrm>
            <a:off x="457200" y="355600"/>
            <a:ext cx="11049000" cy="55399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3000" b="1">
                <a:solidFill>
                  <a:srgbClr val="352A1F"/>
                </a:solidFill>
                <a:latin typeface="Aptos Display" panose="020B0004020202020204" pitchFamily="34" charset="0"/>
              </a:rPr>
              <a:t>Modeled Returns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8933B3C-96B9-71A1-88F2-2BE021E54BE6}"/>
              </a:ext>
            </a:extLst>
          </p:cNvPr>
          <p:cNvSpPr txBox="1"/>
          <p:nvPr/>
        </p:nvSpPr>
        <p:spPr>
          <a:xfrm>
            <a:off x="482600" y="965200"/>
            <a:ext cx="10795000" cy="29238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300">
                <a:solidFill>
                  <a:srgbClr val="625B4F"/>
                </a:solidFill>
                <a:latin typeface="Aptos" panose="020B0004020202020204" pitchFamily="34" charset="0"/>
              </a:rPr>
              <a:t>Current workbook return summary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E1F1A88-5E96-A114-AEB5-2E64C476DC48}"/>
              </a:ext>
            </a:extLst>
          </p:cNvPr>
          <p:cNvSpPr txBox="1"/>
          <p:nvPr/>
        </p:nvSpPr>
        <p:spPr>
          <a:xfrm>
            <a:off x="736600" y="1574800"/>
            <a:ext cx="10541000" cy="92333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>
                <a:solidFill>
                  <a:srgbClr val="3A3124"/>
                </a:solidFill>
                <a:latin typeface="Aptos" panose="020B0004020202020204" pitchFamily="34" charset="0"/>
              </a:rPr>
              <a:t>- Class A: 226,901 profit, 526,901 distributions, 75.63% ROI, 16.71% IRR Class B: 270,368 profit, 867,868 distributions, 45.25% ROI, 9.23% IRR Sponsor: 295,745 profit, 420,745 distributions, 236.60% ROI Sponsor IRR is not meaningful because sponsor cash flows include property payment/basis treatment</a:t>
            </a:r>
          </a:p>
        </p:txBody>
      </p:sp>
    </p:spTree>
    <p:extLst>
      <p:ext uri="{BB962C8B-B14F-4D97-AF65-F5344CB8AC3E}">
        <p14:creationId xmlns:p14="http://schemas.microsoft.com/office/powerpoint/2010/main" val="380991321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7CBA907-25C5-68B8-D3EA-642F7B7D10DE}"/>
              </a:ext>
            </a:extLst>
          </p:cNvPr>
          <p:cNvSpPr txBox="1"/>
          <p:nvPr/>
        </p:nvSpPr>
        <p:spPr>
          <a:xfrm>
            <a:off x="457200" y="355600"/>
            <a:ext cx="11049000" cy="55399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3000" b="1">
                <a:solidFill>
                  <a:srgbClr val="352A1F"/>
                </a:solidFill>
                <a:latin typeface="Aptos Display" panose="020B0004020202020204" pitchFamily="34" charset="0"/>
              </a:rPr>
              <a:t>Cost Position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BAC0005-FA64-AB96-1F6E-E02F68D03239}"/>
              </a:ext>
            </a:extLst>
          </p:cNvPr>
          <p:cNvSpPr txBox="1"/>
          <p:nvPr/>
        </p:nvSpPr>
        <p:spPr>
          <a:xfrm>
            <a:off x="482600" y="965200"/>
            <a:ext cx="10795000" cy="29238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300">
                <a:solidFill>
                  <a:srgbClr val="625B4F"/>
                </a:solidFill>
                <a:latin typeface="Aptos" panose="020B0004020202020204" pitchFamily="34" charset="0"/>
              </a:rPr>
              <a:t>Sponsor-controlled case remains the controlling current case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FBCBA2C-371D-8A4A-596F-535BB6FE493C}"/>
              </a:ext>
            </a:extLst>
          </p:cNvPr>
          <p:cNvSpPr txBox="1"/>
          <p:nvPr/>
        </p:nvSpPr>
        <p:spPr>
          <a:xfrm>
            <a:off x="736600" y="1574800"/>
            <a:ext cx="10541000" cy="3693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>
                <a:solidFill>
                  <a:srgbClr val="3A3124"/>
                </a:solidFill>
                <a:latin typeface="Aptos" panose="020B0004020202020204" pitchFamily="34" charset="0"/>
              </a:rPr>
              <a:t>- Selected total project cost: 897,500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50D1567-AF08-5DD6-0EDF-BD4D9DEFFCAC}"/>
              </a:ext>
            </a:extLst>
          </p:cNvPr>
          <p:cNvSpPr txBox="1"/>
          <p:nvPr/>
        </p:nvSpPr>
        <p:spPr>
          <a:xfrm>
            <a:off x="736600" y="2184400"/>
            <a:ext cx="10541000" cy="3693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>
                <a:solidFill>
                  <a:srgbClr val="3A3124"/>
                </a:solidFill>
                <a:latin typeface="Aptos" panose="020B0004020202020204" pitchFamily="34" charset="0"/>
              </a:rPr>
              <a:t>- Sponsor-controlled bridge range: 897,500-1,635,000 including 150,000 property payment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628178A-7D1B-83BD-BD32-2D28656935C8}"/>
              </a:ext>
            </a:extLst>
          </p:cNvPr>
          <p:cNvSpPr txBox="1"/>
          <p:nvPr/>
        </p:nvSpPr>
        <p:spPr>
          <a:xfrm>
            <a:off x="736600" y="2794000"/>
            <a:ext cx="10541000" cy="3693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>
                <a:solidFill>
                  <a:srgbClr val="3A3124"/>
                </a:solidFill>
                <a:latin typeface="Aptos" panose="020B0004020202020204" pitchFamily="34" charset="0"/>
              </a:rPr>
              <a:t>- Outside-market benchmark retained as stress case, not current capitalization control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2C6EDAC-D4CE-DDCF-FB4F-BC08AA22D790}"/>
              </a:ext>
            </a:extLst>
          </p:cNvPr>
          <p:cNvSpPr txBox="1"/>
          <p:nvPr/>
        </p:nvSpPr>
        <p:spPr>
          <a:xfrm>
            <a:off x="736600" y="3403600"/>
            <a:ext cx="10541000" cy="3693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>
                <a:solidFill>
                  <a:srgbClr val="3A3124"/>
                </a:solidFill>
                <a:latin typeface="Aptos" panose="020B0004020202020204" pitchFamily="34" charset="0"/>
              </a:rPr>
              <a:t>- Wastewater and finish-drift risks remain key cost sensitivities</a:t>
            </a:r>
          </a:p>
        </p:txBody>
      </p:sp>
    </p:spTree>
    <p:extLst>
      <p:ext uri="{BB962C8B-B14F-4D97-AF65-F5344CB8AC3E}">
        <p14:creationId xmlns:p14="http://schemas.microsoft.com/office/powerpoint/2010/main" val="119137752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FE90CB8-E500-2368-8866-412B533C9D74}"/>
              </a:ext>
            </a:extLst>
          </p:cNvPr>
          <p:cNvSpPr txBox="1"/>
          <p:nvPr/>
        </p:nvSpPr>
        <p:spPr>
          <a:xfrm>
            <a:off x="457200" y="355600"/>
            <a:ext cx="11049000" cy="55399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3000" b="1">
                <a:solidFill>
                  <a:srgbClr val="352A1F"/>
                </a:solidFill>
                <a:latin typeface="Aptos Display" panose="020B0004020202020204" pitchFamily="34" charset="0"/>
              </a:rPr>
              <a:t>Execution And Entitlement Focus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AFD855C-045C-CB23-6188-2BCB0C970B9A}"/>
              </a:ext>
            </a:extLst>
          </p:cNvPr>
          <p:cNvSpPr txBox="1"/>
          <p:nvPr/>
        </p:nvSpPr>
        <p:spPr>
          <a:xfrm>
            <a:off x="482600" y="965200"/>
            <a:ext cx="10795000" cy="29238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300">
                <a:solidFill>
                  <a:srgbClr val="625B4F"/>
                </a:solidFill>
                <a:latin typeface="Aptos" panose="020B0004020202020204" pitchFamily="34" charset="0"/>
              </a:rPr>
              <a:t>Highest-risk path remains utilities and wastewater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EB62183-EF02-3E6E-BF4F-A6CB064CBF66}"/>
              </a:ext>
            </a:extLst>
          </p:cNvPr>
          <p:cNvSpPr txBox="1"/>
          <p:nvPr/>
        </p:nvSpPr>
        <p:spPr>
          <a:xfrm>
            <a:off x="736600" y="1574800"/>
            <a:ext cx="10541000" cy="3693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>
                <a:solidFill>
                  <a:srgbClr val="3A3124"/>
                </a:solidFill>
                <a:latin typeface="Aptos" panose="020B0004020202020204" pitchFamily="34" charset="0"/>
              </a:rPr>
              <a:t>- Fuquay-Varina coordination required because the site is in the Urban Service Area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C9E2E42-6E5D-5E24-1A31-5964FC3F5CB0}"/>
              </a:ext>
            </a:extLst>
          </p:cNvPr>
          <p:cNvSpPr txBox="1"/>
          <p:nvPr/>
        </p:nvSpPr>
        <p:spPr>
          <a:xfrm>
            <a:off x="736600" y="2184400"/>
            <a:ext cx="10541000" cy="3693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>
                <a:solidFill>
                  <a:srgbClr val="3A3124"/>
                </a:solidFill>
                <a:latin typeface="Aptos" panose="020B0004020202020204" pitchFamily="34" charset="0"/>
              </a:rPr>
              <a:t>- No planned municipal water or sewer extensions are assumed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628B37B-5440-3D12-6C4C-B65DFA47A58D}"/>
              </a:ext>
            </a:extLst>
          </p:cNvPr>
          <p:cNvSpPr txBox="1"/>
          <p:nvPr/>
        </p:nvSpPr>
        <p:spPr>
          <a:xfrm>
            <a:off x="736600" y="2794000"/>
            <a:ext cx="10541000" cy="3693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>
                <a:solidFill>
                  <a:srgbClr val="3A3124"/>
                </a:solidFill>
                <a:latin typeface="Aptos" panose="020B0004020202020204" pitchFamily="34" charset="0"/>
              </a:rPr>
              <a:t>- Wake County Environmental Services coordination remains critical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D36DC71-A0AD-F37C-C45D-3F0104F7450B}"/>
              </a:ext>
            </a:extLst>
          </p:cNvPr>
          <p:cNvSpPr txBox="1"/>
          <p:nvPr/>
        </p:nvSpPr>
        <p:spPr>
          <a:xfrm>
            <a:off x="736600" y="3403600"/>
            <a:ext cx="10541000" cy="3693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>
                <a:solidFill>
                  <a:srgbClr val="3A3124"/>
                </a:solidFill>
                <a:latin typeface="Aptos" panose="020B0004020202020204" pitchFamily="34" charset="0"/>
              </a:rPr>
              <a:t>- Engineered wastewater feasibility and reserve field planning drive density and layout risk</a:t>
            </a:r>
          </a:p>
        </p:txBody>
      </p:sp>
    </p:spTree>
    <p:extLst>
      <p:ext uri="{BB962C8B-B14F-4D97-AF65-F5344CB8AC3E}">
        <p14:creationId xmlns:p14="http://schemas.microsoft.com/office/powerpoint/2010/main" val="1742731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7C6641A-1B29-FB8F-D7FB-400F56EBC3C5}"/>
              </a:ext>
            </a:extLst>
          </p:cNvPr>
          <p:cNvSpPr txBox="1"/>
          <p:nvPr/>
        </p:nvSpPr>
        <p:spPr>
          <a:xfrm>
            <a:off x="457200" y="355600"/>
            <a:ext cx="11049000" cy="55399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3000" b="1">
                <a:solidFill>
                  <a:srgbClr val="352A1F"/>
                </a:solidFill>
                <a:latin typeface="Aptos Display" panose="020B0004020202020204" pitchFamily="34" charset="0"/>
              </a:rPr>
              <a:t>Current Underwriting Status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D4D17AF-F958-51F7-8D8E-32DCF4816B19}"/>
              </a:ext>
            </a:extLst>
          </p:cNvPr>
          <p:cNvSpPr txBox="1"/>
          <p:nvPr/>
        </p:nvSpPr>
        <p:spPr>
          <a:xfrm>
            <a:off x="482600" y="965200"/>
            <a:ext cx="10795000" cy="29238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300">
                <a:solidFill>
                  <a:srgbClr val="625B4F"/>
                </a:solidFill>
                <a:latin typeface="Aptos" panose="020B0004020202020204" pitchFamily="34" charset="0"/>
              </a:rPr>
              <a:t>Model is internally synced as of this deck version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87CDC39-66F4-123F-858B-300FD5EE7B7D}"/>
              </a:ext>
            </a:extLst>
          </p:cNvPr>
          <p:cNvSpPr txBox="1"/>
          <p:nvPr/>
        </p:nvSpPr>
        <p:spPr>
          <a:xfrm>
            <a:off x="736600" y="1574800"/>
            <a:ext cx="10541000" cy="3693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>
                <a:solidFill>
                  <a:srgbClr val="3A3124"/>
                </a:solidFill>
                <a:latin typeface="Aptos" panose="020B0004020202020204" pitchFamily="34" charset="0"/>
              </a:rPr>
              <a:t>- Markdown files updated to capital-first deferred preferred return waterfall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5F1E15B-3166-D6CD-AF41-809EE91B6317}"/>
              </a:ext>
            </a:extLst>
          </p:cNvPr>
          <p:cNvSpPr txBox="1"/>
          <p:nvPr/>
        </p:nvSpPr>
        <p:spPr>
          <a:xfrm>
            <a:off x="736600" y="2184400"/>
            <a:ext cx="10541000" cy="3693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>
                <a:solidFill>
                  <a:srgbClr val="3A3124"/>
                </a:solidFill>
                <a:latin typeface="Aptos" panose="020B0004020202020204" pitchFamily="34" charset="0"/>
              </a:rPr>
              <a:t>- Workbook uses separate Refi Year and Exit Year option-button selectors on Waterfall tab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F5A0AEF-5268-545A-9F74-A427A9324940}"/>
              </a:ext>
            </a:extLst>
          </p:cNvPr>
          <p:cNvSpPr txBox="1"/>
          <p:nvPr/>
        </p:nvSpPr>
        <p:spPr>
          <a:xfrm>
            <a:off x="736600" y="2794000"/>
            <a:ext cx="10541000" cy="3693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>
                <a:solidFill>
                  <a:srgbClr val="3A3124"/>
                </a:solidFill>
                <a:latin typeface="Aptos" panose="020B0004020202020204" pitchFamily="34" charset="0"/>
              </a:rPr>
              <a:t>- Reserve is funded before distributions, then remaining cash flows through waterfall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85A5D31-EEC3-4CFE-29AC-43205CB77461}"/>
              </a:ext>
            </a:extLst>
          </p:cNvPr>
          <p:cNvSpPr txBox="1"/>
          <p:nvPr/>
        </p:nvSpPr>
        <p:spPr>
          <a:xfrm>
            <a:off x="736600" y="3403600"/>
            <a:ext cx="10541000" cy="3693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>
                <a:solidFill>
                  <a:srgbClr val="3A3124"/>
                </a:solidFill>
                <a:latin typeface="Aptos" panose="020B0004020202020204" pitchFamily="34" charset="0"/>
              </a:rPr>
              <a:t>- PowerPoint v002 reflects current workbook and markdown status</a:t>
            </a:r>
          </a:p>
        </p:txBody>
      </p:sp>
    </p:spTree>
    <p:extLst>
      <p:ext uri="{BB962C8B-B14F-4D97-AF65-F5344CB8AC3E}">
        <p14:creationId xmlns:p14="http://schemas.microsoft.com/office/powerpoint/2010/main" val="342263597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650</Words>
  <Application>Microsoft Office PowerPoint</Application>
  <PresentationFormat>Custom</PresentationFormat>
  <Paragraphs>78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Wes Will Buy Your Home</dc:creator>
  <cp:lastModifiedBy>Wes Will Buy Your Home</cp:lastModifiedBy>
  <cp:revision>1</cp:revision>
  <dcterms:created xsi:type="dcterms:W3CDTF">2026-05-17T01:58:17Z</dcterms:created>
  <dcterms:modified xsi:type="dcterms:W3CDTF">2026-05-17T01:58:17Z</dcterms:modified>
</cp:coreProperties>
</file>