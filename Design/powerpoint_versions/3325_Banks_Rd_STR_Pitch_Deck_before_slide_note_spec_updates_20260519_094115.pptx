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650" autoAdjust="0"/>
  </p:normalViewPr>
  <p:slideViewPr>
    <p:cSldViewPr snapToGrid="0">
      <p:cViewPr varScale="1">
        <p:scale>
          <a:sx n="91" d="100"/>
          <a:sy n="91" d="100"/>
        </p:scale>
        <p:origin x="13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69342C-98B9-4E57-B769-A0640BF8738F}"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3D765-86ED-42E5-8895-5A51C83C2464}" type="slidenum">
              <a:rPr lang="en-US" smtClean="0"/>
              <a:t>‹#›</a:t>
            </a:fld>
            <a:endParaRPr lang="en-US"/>
          </a:p>
        </p:txBody>
      </p:sp>
    </p:spTree>
    <p:extLst>
      <p:ext uri="{BB962C8B-B14F-4D97-AF65-F5344CB8AC3E}">
        <p14:creationId xmlns:p14="http://schemas.microsoft.com/office/powerpoint/2010/main" val="971212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presentation introduces the 3325 Banks Road project as a flexible residential rental platform. The base business plan is co-living and furnished medium-term rental housing. The STR, or short-term rental, strategy is not being presented as the only way the project works. It is additional upside that can be tested after the building is delivered and operating.
The key point for investors is flexibility. The same building design can serve workforce tenants, graduate students, traveling professionals, medium-term furnished renters, one-floor group stays, or potentially whole-building weekly rentals. That optionality is valuable because it lets the project adapt to demand instead of depending on one narrow tenant type.</a:t>
            </a:r>
          </a:p>
        </p:txBody>
      </p:sp>
      <p:sp>
        <p:nvSpPr>
          <p:cNvPr id="4" name="Slide Number Placeholder 3"/>
          <p:cNvSpPr>
            <a:spLocks noGrp="1"/>
          </p:cNvSpPr>
          <p:nvPr>
            <p:ph type="sldNum" sz="quarter" idx="5"/>
          </p:nvPr>
        </p:nvSpPr>
        <p:spPr/>
        <p:txBody>
          <a:bodyPr/>
          <a:lstStyle/>
          <a:p>
            <a:fld id="{DBD3D765-86ED-42E5-8895-5A51C83C2464}" type="slidenum">
              <a:rPr lang="en-US" smtClean="0"/>
              <a:t>1</a:t>
            </a:fld>
            <a:endParaRPr lang="en-US"/>
          </a:p>
        </p:txBody>
      </p:sp>
    </p:spTree>
    <p:extLst>
      <p:ext uri="{BB962C8B-B14F-4D97-AF65-F5344CB8AC3E}">
        <p14:creationId xmlns:p14="http://schemas.microsoft.com/office/powerpoint/2010/main" val="3559046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investment thesis starts with a long-term income-producing residential asset. This is not a speculative resale project. The sponsor controls the land position and is developing a boutique residential platform near the Raleigh and Triangle employment corridor.
The base case is co-living and medium-term furnished rental. That is the most stable underwriting case. </a:t>
            </a:r>
          </a:p>
          <a:p>
            <a:endParaRPr lang="en-US" sz="1100" dirty="0">
              <a:latin typeface="Aptos" panose="020B0004020202020204" pitchFamily="34" charset="0"/>
            </a:endParaRPr>
          </a:p>
          <a:p>
            <a:r>
              <a:rPr lang="en-US" sz="1100" dirty="0">
                <a:latin typeface="Aptos" panose="020B0004020202020204" pitchFamily="34" charset="0"/>
              </a:rPr>
              <a:t>The STR scenarios are used to test whether the project can earn more by renting one floor or the entire building on a weekly basis. This creates upside, but it does not replace the need to underwrite the base residential case carefully.
The current model is still active and subject to refinement. It includes rent options, participant returns, refinance timing, sale timing, and waterfall assumptions.</a:t>
            </a:r>
          </a:p>
        </p:txBody>
      </p:sp>
      <p:sp>
        <p:nvSpPr>
          <p:cNvPr id="4" name="Slide Number Placeholder 3"/>
          <p:cNvSpPr>
            <a:spLocks noGrp="1"/>
          </p:cNvSpPr>
          <p:nvPr>
            <p:ph type="sldNum" sz="quarter" idx="5"/>
          </p:nvPr>
        </p:nvSpPr>
        <p:spPr/>
        <p:txBody>
          <a:bodyPr/>
          <a:lstStyle/>
          <a:p>
            <a:fld id="{DBD3D765-86ED-42E5-8895-5A51C83C2464}" type="slidenum">
              <a:rPr lang="en-US" smtClean="0"/>
              <a:t>2</a:t>
            </a:fld>
            <a:endParaRPr lang="en-US"/>
          </a:p>
        </p:txBody>
      </p:sp>
    </p:spTree>
    <p:extLst>
      <p:ext uri="{BB962C8B-B14F-4D97-AF65-F5344CB8AC3E}">
        <p14:creationId xmlns:p14="http://schemas.microsoft.com/office/powerpoint/2010/main" val="530740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slide summarizes the physical program. The project is approximately 1.1 acres with a planned 6,000 square foot post-frame residential building. The current program has eight private suites.
The intended layout is two floors. Each floor has two premium suites and two co-living suites. Premium suites include a private bedroom, private bathroom, kitchenette, and storage. Co-living suites include a private bedroom, private bathroom, and storage with access to shared common amenities.
The operating flexibility comes from the same layout. The building can be rented by individual suite under the base model. One floor can be tested as short-term rental while the other floor remains residential. If the market and regulations support it, the whole building can also be tested as a weekly group-rental product.</a:t>
            </a:r>
          </a:p>
        </p:txBody>
      </p:sp>
      <p:sp>
        <p:nvSpPr>
          <p:cNvPr id="4" name="Slide Number Placeholder 3"/>
          <p:cNvSpPr>
            <a:spLocks noGrp="1"/>
          </p:cNvSpPr>
          <p:nvPr>
            <p:ph type="sldNum" sz="quarter" idx="5"/>
          </p:nvPr>
        </p:nvSpPr>
        <p:spPr/>
        <p:txBody>
          <a:bodyPr/>
          <a:lstStyle/>
          <a:p>
            <a:fld id="{DBD3D765-86ED-42E5-8895-5A51C83C2464}" type="slidenum">
              <a:rPr lang="en-US" smtClean="0"/>
              <a:t>3</a:t>
            </a:fld>
            <a:endParaRPr lang="en-US"/>
          </a:p>
        </p:txBody>
      </p:sp>
    </p:spTree>
    <p:extLst>
      <p:ext uri="{BB962C8B-B14F-4D97-AF65-F5344CB8AC3E}">
        <p14:creationId xmlns:p14="http://schemas.microsoft.com/office/powerpoint/2010/main" val="921543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is a concept image only. It is meant to communicate design direction and project scale, not final construction documents.
Before this becomes a buildable plan, the design still needs professional architecture, engineering, code review, accessibility review, fire and life safety review, wastewater engineering, and permitting. The concept is useful for investor discussion because it shows the intended character and general program, but it should not be treated as final dimensions or final approval.</a:t>
            </a:r>
          </a:p>
        </p:txBody>
      </p:sp>
      <p:sp>
        <p:nvSpPr>
          <p:cNvPr id="4" name="Slide Number Placeholder 3"/>
          <p:cNvSpPr>
            <a:spLocks noGrp="1"/>
          </p:cNvSpPr>
          <p:nvPr>
            <p:ph type="sldNum" sz="quarter" idx="5"/>
          </p:nvPr>
        </p:nvSpPr>
        <p:spPr/>
        <p:txBody>
          <a:bodyPr/>
          <a:lstStyle/>
          <a:p>
            <a:fld id="{DBD3D765-86ED-42E5-8895-5A51C83C2464}" type="slidenum">
              <a:rPr lang="en-US" smtClean="0"/>
              <a:t>4</a:t>
            </a:fld>
            <a:endParaRPr lang="en-US"/>
          </a:p>
        </p:txBody>
      </p:sp>
    </p:spTree>
    <p:extLst>
      <p:ext uri="{BB962C8B-B14F-4D97-AF65-F5344CB8AC3E}">
        <p14:creationId xmlns:p14="http://schemas.microsoft.com/office/powerpoint/2010/main" val="2904604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base rent positioning is the control underwriting case. In year one, the model uses the low rent case. Year two uses the medium case, and year three and beyond use the high case.
</a:t>
            </a:r>
            <a:r>
              <a:rPr lang="en-US" sz="1200" b="0" i="0" kern="1200" dirty="0">
                <a:solidFill>
                  <a:schemeClr val="tx1"/>
                </a:solidFill>
                <a:effectLst/>
                <a:latin typeface="+mn-lt"/>
                <a:ea typeface="+mn-ea"/>
                <a:cs typeface="+mn-cs"/>
              </a:rPr>
              <a:t>Premium suites are represented as compact furnished studio alternatives. </a:t>
            </a:r>
            <a:r>
              <a:rPr lang="en-US" sz="1100" dirty="0">
                <a:latin typeface="Aptos" panose="020B0004020202020204" pitchFamily="34" charset="0"/>
              </a:rPr>
              <a:t>They justify higher pricing because they include a private bathroom, kitchenette, storage, and furnished/flexible positioning. </a:t>
            </a:r>
          </a:p>
          <a:p>
            <a:endParaRPr lang="en-US" sz="1100" dirty="0">
              <a:latin typeface="Aptos" panose="020B0004020202020204" pitchFamily="34" charset="0"/>
            </a:endParaRPr>
          </a:p>
          <a:p>
            <a:r>
              <a:rPr lang="en-US" sz="1100" dirty="0">
                <a:latin typeface="Aptos" panose="020B0004020202020204" pitchFamily="34" charset="0"/>
              </a:rPr>
              <a:t>The co-living suites are priced below standalone apartment replacement cost and are intended to remain accessible to workforce, graduate student, and professional co-living demand.
The important point is that the base case does not rely on short-term rental income. It is designed to work as residential income first.</a:t>
            </a:r>
          </a:p>
          <a:p>
            <a:endParaRPr lang="en-US" sz="1100" dirty="0">
              <a:latin typeface="Aptos" panose="020B0004020202020204" pitchFamily="34" charset="0"/>
            </a:endParaRPr>
          </a:p>
          <a:p>
            <a:r>
              <a:rPr lang="en-US" sz="1100" dirty="0">
                <a:latin typeface="Aptos" panose="020B0004020202020204" pitchFamily="34" charset="0"/>
              </a:rPr>
              <a:t>There is a separate Market Feasibility Study that will be provided.</a:t>
            </a:r>
          </a:p>
        </p:txBody>
      </p:sp>
      <p:sp>
        <p:nvSpPr>
          <p:cNvPr id="4" name="Slide Number Placeholder 3"/>
          <p:cNvSpPr>
            <a:spLocks noGrp="1"/>
          </p:cNvSpPr>
          <p:nvPr>
            <p:ph type="sldNum" sz="quarter" idx="5"/>
          </p:nvPr>
        </p:nvSpPr>
        <p:spPr/>
        <p:txBody>
          <a:bodyPr/>
          <a:lstStyle/>
          <a:p>
            <a:fld id="{DBD3D765-86ED-42E5-8895-5A51C83C2464}" type="slidenum">
              <a:rPr lang="en-US" smtClean="0"/>
              <a:t>5</a:t>
            </a:fld>
            <a:endParaRPr lang="en-US"/>
          </a:p>
        </p:txBody>
      </p:sp>
    </p:spTree>
    <p:extLst>
      <p:ext uri="{BB962C8B-B14F-4D97-AF65-F5344CB8AC3E}">
        <p14:creationId xmlns:p14="http://schemas.microsoft.com/office/powerpoint/2010/main" val="3211843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operating model separates gross rent, occupancy, operating expenses, and management income. The base stabilized monthly gross rent is currently 12,000. Stabilized occupancy is modeled at 93 percent. The selected operating expense ratio is currently 46.9 percent, based on the operating expense budget.
Management income is modeled dynamically as 6% of effective gross income. That means management income changes when revenue changes. In the STR scenarios, higher effective revenue can also increase management income, but STR operations may also require more operating discipline.
The expense budget includes taxes, insurance, management and admin fees, utilities, repairs, wastewater maintenance, reserve funding, and compliance items.</a:t>
            </a:r>
          </a:p>
        </p:txBody>
      </p:sp>
      <p:sp>
        <p:nvSpPr>
          <p:cNvPr id="4" name="Slide Number Placeholder 3"/>
          <p:cNvSpPr>
            <a:spLocks noGrp="1"/>
          </p:cNvSpPr>
          <p:nvPr>
            <p:ph type="sldNum" sz="quarter" idx="5"/>
          </p:nvPr>
        </p:nvSpPr>
        <p:spPr/>
        <p:txBody>
          <a:bodyPr/>
          <a:lstStyle/>
          <a:p>
            <a:fld id="{DBD3D765-86ED-42E5-8895-5A51C83C2464}" type="slidenum">
              <a:rPr lang="en-US" smtClean="0"/>
              <a:t>6</a:t>
            </a:fld>
            <a:endParaRPr lang="en-US"/>
          </a:p>
        </p:txBody>
      </p:sp>
    </p:spTree>
    <p:extLst>
      <p:ext uri="{BB962C8B-B14F-4D97-AF65-F5344CB8AC3E}">
        <p14:creationId xmlns:p14="http://schemas.microsoft.com/office/powerpoint/2010/main" val="378098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capitalization slide shows the current development funding structure. The current design of the project cost is 848,000. Class A capital is 300,000. Class B capital is 548,000. The property payment to Sponsor is currently 100,000.
The key rule is that design, development, build, and delivery capital are funded by Class A and Class B member capital. The model is not currently using a construction loan. The only new debt currently modeled is the stabilization refinance or takeout loan.
Sponsor execution matters because the cost case depends on post-frame construction, sponsor-owned equipment, sponsor-controlled crew relationships, and disciplined finish scope.</a:t>
            </a:r>
          </a:p>
        </p:txBody>
      </p:sp>
      <p:sp>
        <p:nvSpPr>
          <p:cNvPr id="4" name="Slide Number Placeholder 3"/>
          <p:cNvSpPr>
            <a:spLocks noGrp="1"/>
          </p:cNvSpPr>
          <p:nvPr>
            <p:ph type="sldNum" sz="quarter" idx="5"/>
          </p:nvPr>
        </p:nvSpPr>
        <p:spPr/>
        <p:txBody>
          <a:bodyPr/>
          <a:lstStyle/>
          <a:p>
            <a:fld id="{DBD3D765-86ED-42E5-8895-5A51C83C2464}" type="slidenum">
              <a:rPr lang="en-US" smtClean="0"/>
              <a:t>7</a:t>
            </a:fld>
            <a:endParaRPr lang="en-US"/>
          </a:p>
        </p:txBody>
      </p:sp>
    </p:spTree>
    <p:extLst>
      <p:ext uri="{BB962C8B-B14F-4D97-AF65-F5344CB8AC3E}">
        <p14:creationId xmlns:p14="http://schemas.microsoft.com/office/powerpoint/2010/main" val="307617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refinance is modeled as a stabilization or takeout event. It is not construction debt. Existing debt payoff is currently 194,000. The modeled refinance loan amount is 732,276, with net proceeds after existing debt of 538,276.
The refinance loan is limited by the current model rule and by stabilized value constraints. Refinance proceeds flow through the waterfall and help return capital according to the priority structure.
The current workbook assumes a refinance year of year 3 and a sale or exit year of year 5. Those timing assumptions are adjustable via a dynamic spread sheet.  The spreadsheet allows the model to reflect the effect of any choice which materially affect returns.</a:t>
            </a:r>
          </a:p>
        </p:txBody>
      </p:sp>
      <p:sp>
        <p:nvSpPr>
          <p:cNvPr id="4" name="Slide Number Placeholder 3"/>
          <p:cNvSpPr>
            <a:spLocks noGrp="1"/>
          </p:cNvSpPr>
          <p:nvPr>
            <p:ph type="sldNum" sz="quarter" idx="5"/>
          </p:nvPr>
        </p:nvSpPr>
        <p:spPr/>
        <p:txBody>
          <a:bodyPr/>
          <a:lstStyle/>
          <a:p>
            <a:fld id="{DBD3D765-86ED-42E5-8895-5A51C83C2464}" type="slidenum">
              <a:rPr lang="en-US" smtClean="0"/>
              <a:t>8</a:t>
            </a:fld>
            <a:endParaRPr lang="en-US"/>
          </a:p>
        </p:txBody>
      </p:sp>
    </p:spTree>
    <p:extLst>
      <p:ext uri="{BB962C8B-B14F-4D97-AF65-F5344CB8AC3E}">
        <p14:creationId xmlns:p14="http://schemas.microsoft.com/office/powerpoint/2010/main" val="2391229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slide shows the base case return snapshot. The base case is important because it is the control case against which the STR options should be compared.
Class A capital is 300,000. Class B capital is 547,500. Sponsor capital investment is separated from the sponsor property payment or basis. The current residual split is 50 percent to the sponsor and 50 percent to the Class A/Class B investor pool, with Class A and Class B sharing their pool based on relative investment.
The model separates total profit, total distributions, ROI, and IRR. Investors should focus not only on total return, but also on timing, capital recovery, and downside protection if STR income does not materialize.</a:t>
            </a:r>
          </a:p>
        </p:txBody>
      </p:sp>
      <p:sp>
        <p:nvSpPr>
          <p:cNvPr id="4" name="Slide Number Placeholder 3"/>
          <p:cNvSpPr>
            <a:spLocks noGrp="1"/>
          </p:cNvSpPr>
          <p:nvPr>
            <p:ph type="sldNum" sz="quarter" idx="5"/>
          </p:nvPr>
        </p:nvSpPr>
        <p:spPr/>
        <p:txBody>
          <a:bodyPr/>
          <a:lstStyle/>
          <a:p>
            <a:fld id="{DBD3D765-86ED-42E5-8895-5A51C83C2464}" type="slidenum">
              <a:rPr lang="en-US" smtClean="0"/>
              <a:t>9</a:t>
            </a:fld>
            <a:endParaRPr lang="en-US"/>
          </a:p>
        </p:txBody>
      </p:sp>
    </p:spTree>
    <p:extLst>
      <p:ext uri="{BB962C8B-B14F-4D97-AF65-F5344CB8AC3E}">
        <p14:creationId xmlns:p14="http://schemas.microsoft.com/office/powerpoint/2010/main" val="157902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core risk categories. Wastewater and septic feasibility remain major entitlement and cost variables. Because municipal water and sewer extensions are not assumed, private utility and engineered wastewater planning are central to feasibility. Discussions with municipal regulators and private engineers have been initiated to determine the feasibility of the model. 
STR regulation is also a risk. The project will not rely on weekly rental income until the applicable jurisdictional treatment is confirmed. Construction cost risk is mitigated by the post-frame approach and sponsor-controlled execution, but scope discipline is still necessary.
Lease-up and operations also matter. The key is flexibility: the project is planned to operate as base co-living, medium-term furnished rental. Alternatively, the more profitable STR model can be transitioned to. This will be determined when and if the one-floor STR, or whole-building STR  is found to be supported by demand and rules.</a:t>
            </a:r>
          </a:p>
        </p:txBody>
      </p:sp>
      <p:sp>
        <p:nvSpPr>
          <p:cNvPr id="4" name="Slide Number Placeholder 3"/>
          <p:cNvSpPr>
            <a:spLocks noGrp="1"/>
          </p:cNvSpPr>
          <p:nvPr>
            <p:ph type="sldNum" sz="quarter" idx="5"/>
          </p:nvPr>
        </p:nvSpPr>
        <p:spPr/>
        <p:txBody>
          <a:bodyPr/>
          <a:lstStyle/>
          <a:p>
            <a:fld id="{DBD3D765-86ED-42E5-8895-5A51C83C2464}" type="slidenum">
              <a:rPr lang="en-US" smtClean="0"/>
              <a:t>10</a:t>
            </a:fld>
            <a:endParaRPr lang="en-US"/>
          </a:p>
        </p:txBody>
      </p:sp>
    </p:spTree>
    <p:extLst>
      <p:ext uri="{BB962C8B-B14F-4D97-AF65-F5344CB8AC3E}">
        <p14:creationId xmlns:p14="http://schemas.microsoft.com/office/powerpoint/2010/main" val="280054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execution path begins with entitlement and engineering. That includes zoning classification, occupancy treatment, parking, soil and septic work, wastewater feasibility, and a private utility path.
The next step is capital formation: finalizing member documents, Class A capital, Class B completion capital, and sponsor contribution assumptions. After that, the project moves through design, permitting, construction pricing, and delivery.
The operating phase includes leasing the suites, testing STR demand if appropriate, stabilizing income, refinancing, and then executing the waterfall. Current model timing is refinance in year 3 and exit in year 5.</a:t>
            </a:r>
          </a:p>
        </p:txBody>
      </p:sp>
      <p:sp>
        <p:nvSpPr>
          <p:cNvPr id="4" name="Slide Number Placeholder 3"/>
          <p:cNvSpPr>
            <a:spLocks noGrp="1"/>
          </p:cNvSpPr>
          <p:nvPr>
            <p:ph type="sldNum" sz="quarter" idx="5"/>
          </p:nvPr>
        </p:nvSpPr>
        <p:spPr/>
        <p:txBody>
          <a:bodyPr/>
          <a:lstStyle/>
          <a:p>
            <a:fld id="{DBD3D765-86ED-42E5-8895-5A51C83C2464}" type="slidenum">
              <a:rPr lang="en-US" smtClean="0"/>
              <a:t>11</a:t>
            </a:fld>
            <a:endParaRPr lang="en-US"/>
          </a:p>
        </p:txBody>
      </p:sp>
    </p:spTree>
    <p:extLst>
      <p:ext uri="{BB962C8B-B14F-4D97-AF65-F5344CB8AC3E}">
        <p14:creationId xmlns:p14="http://schemas.microsoft.com/office/powerpoint/2010/main" val="531216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introduces the STR options but intentionally places them behind the base case. The base co-living and medium-term rental case is the control case. The one-floor STR scenario is the first upside test. The whole-building STR scenario is the highest-upside case, but also the one that needs the most validation.
The annual gross revenue comparison shows the tradeoff. In year one, STR can underperform because occupancy ramps more slowly. By stabilization, the STR scenarios can outperform the base case if weekly rates and occupancy are achieved.
The purpose is not to force the project into STR. The purpose is to show that the building design creates operating optionality.</a:t>
            </a:r>
          </a:p>
        </p:txBody>
      </p:sp>
      <p:sp>
        <p:nvSpPr>
          <p:cNvPr id="4" name="Slide Number Placeholder 3"/>
          <p:cNvSpPr>
            <a:spLocks noGrp="1"/>
          </p:cNvSpPr>
          <p:nvPr>
            <p:ph type="sldNum" sz="quarter" idx="5"/>
          </p:nvPr>
        </p:nvSpPr>
        <p:spPr/>
        <p:txBody>
          <a:bodyPr/>
          <a:lstStyle/>
          <a:p>
            <a:fld id="{DBD3D765-86ED-42E5-8895-5A51C83C2464}" type="slidenum">
              <a:rPr lang="en-US" smtClean="0"/>
              <a:t>12</a:t>
            </a:fld>
            <a:endParaRPr lang="en-US"/>
          </a:p>
        </p:txBody>
      </p:sp>
    </p:spTree>
    <p:extLst>
      <p:ext uri="{BB962C8B-B14F-4D97-AF65-F5344CB8AC3E}">
        <p14:creationId xmlns:p14="http://schemas.microsoft.com/office/powerpoint/2010/main" val="2910574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chart compares participant returns across the rent options. Each scenario is broken out by Class A, Class B, and Sponsor. The chart shows total profit, ROI, and IRR.
The important interpretation is that STR upside does not affect each participant identically. Because the waterfall has capital return priorities, preferred return treatment, and residual sharing, the timing and amount of added cash flow - flows differently to Class A, Class B, and Sponsor.
This chart should be used as a comparison tool. It does not replace the live workbook. If assumptions change, the workbook should remain the source of truth.</a:t>
            </a:r>
          </a:p>
        </p:txBody>
      </p:sp>
      <p:sp>
        <p:nvSpPr>
          <p:cNvPr id="4" name="Slide Number Placeholder 3"/>
          <p:cNvSpPr>
            <a:spLocks noGrp="1"/>
          </p:cNvSpPr>
          <p:nvPr>
            <p:ph type="sldNum" sz="quarter" idx="5"/>
          </p:nvPr>
        </p:nvSpPr>
        <p:spPr/>
        <p:txBody>
          <a:bodyPr/>
          <a:lstStyle/>
          <a:p>
            <a:fld id="{DBD3D765-86ED-42E5-8895-5A51C83C2464}" type="slidenum">
              <a:rPr lang="en-US" smtClean="0"/>
              <a:t>13</a:t>
            </a:fld>
            <a:endParaRPr lang="en-US"/>
          </a:p>
        </p:txBody>
      </p:sp>
    </p:spTree>
    <p:extLst>
      <p:ext uri="{BB962C8B-B14F-4D97-AF65-F5344CB8AC3E}">
        <p14:creationId xmlns:p14="http://schemas.microsoft.com/office/powerpoint/2010/main" val="24466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next steps are focused on confirming the base case and validating STR optionality. The base co-living and medium-term rental strategy will remain the control underwriting case.
Before relying on STR, the project should validate one-floor STR through live comparable listings, demand research, pricing tests, and regulatory review. Whole-building STR should be treated as an upside option, not as the foundation of the investment case.
The project also needs continued wastewater engineering, floor plan refinement, code/accessibility review, capital document alignment, and updated investor materials as assumptions change.</a:t>
            </a:r>
          </a:p>
        </p:txBody>
      </p:sp>
      <p:sp>
        <p:nvSpPr>
          <p:cNvPr id="4" name="Slide Number Placeholder 3"/>
          <p:cNvSpPr>
            <a:spLocks noGrp="1"/>
          </p:cNvSpPr>
          <p:nvPr>
            <p:ph type="sldNum" sz="quarter" idx="5"/>
          </p:nvPr>
        </p:nvSpPr>
        <p:spPr/>
        <p:txBody>
          <a:bodyPr/>
          <a:lstStyle/>
          <a:p>
            <a:fld id="{DBD3D765-86ED-42E5-8895-5A51C83C2464}" type="slidenum">
              <a:rPr lang="en-US" smtClean="0"/>
              <a:t>14</a:t>
            </a:fld>
            <a:endParaRPr lang="en-US"/>
          </a:p>
        </p:txBody>
      </p:sp>
    </p:spTree>
    <p:extLst>
      <p:ext uri="{BB962C8B-B14F-4D97-AF65-F5344CB8AC3E}">
        <p14:creationId xmlns:p14="http://schemas.microsoft.com/office/powerpoint/2010/main" val="2651523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DA59-028D-9562-850C-A8FC1A656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28A8AE-27EA-2B80-CA96-2E7EB93BC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EDDA6-42E6-8DD0-1727-7E085C680F17}"/>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C949EBF9-5C94-5D2C-13D9-CEC5F85D9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FCEEB-1D8E-54A9-B461-95EC703823D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728891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806C-DB26-D7F9-B834-22179CEC42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5C8AF3-9AE1-7379-4CD3-0A13FC7BFB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CC36A-5BB0-A06A-CCF1-4705C169F94B}"/>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D5520C8-769A-6D76-6839-A2AE22D43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64DC2-F3E1-F932-3C9E-59C72FBD4FB0}"/>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604094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0775-C37B-3075-66FB-39969C784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27BBF9-9CF4-1AA6-34B3-70FF2DCB3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861B9D-3D05-5034-B36A-ED9CE945A9A1}"/>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049305E9-F6C8-0C15-7170-AE830EBFD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880BF-25ED-7253-3721-C6B3DB43519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857549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3696-1632-3430-7786-162C508C5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54D32-0479-BA3A-4CE1-ABD5529C4E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731E01-0320-AEFF-A67A-08F83525E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A13F34-D521-1EDE-8694-668E9727145C}"/>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B76F95E6-AD50-229A-4010-4B69E9D14E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E7991-2ED0-0731-FA94-3E037562F1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10047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A85FC-E4BD-2CCE-7B6F-8A6ED7B1B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23A2F3-3039-4D49-551B-A8BF8DB24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EFDD1-1CFB-04C0-A47D-4D1E946A7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D4FBE2-C3E5-4AC4-7645-9A17C78D69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6F7C9C-B102-B37C-1C59-30406C3BAF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9CE357-C65F-9651-A0AC-CCBABFF42F85}"/>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8" name="Footer Placeholder 7">
            <a:extLst>
              <a:ext uri="{FF2B5EF4-FFF2-40B4-BE49-F238E27FC236}">
                <a16:creationId xmlns:a16="http://schemas.microsoft.com/office/drawing/2014/main" id="{166E0933-A095-F057-872B-20CE4903B1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BAD407-AA29-0818-7F2B-E2B3DB91AE6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02668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3A946-273E-97EB-AADF-DFC270152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DE40C8-DD4E-D796-0B79-9A0CF98F9FDA}"/>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4" name="Footer Placeholder 3">
            <a:extLst>
              <a:ext uri="{FF2B5EF4-FFF2-40B4-BE49-F238E27FC236}">
                <a16:creationId xmlns:a16="http://schemas.microsoft.com/office/drawing/2014/main" id="{278923F8-EF53-2488-1567-314E0F422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6886E5-5C01-C45A-0943-A99B34E963A9}"/>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89601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6D894-CBD7-404D-9375-4A2106A53FC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3" name="Footer Placeholder 2">
            <a:extLst>
              <a:ext uri="{FF2B5EF4-FFF2-40B4-BE49-F238E27FC236}">
                <a16:creationId xmlns:a16="http://schemas.microsoft.com/office/drawing/2014/main" id="{86E256C2-5F52-BA2C-C591-CFB4DF4AA6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66D9E4-5AE5-DA4C-E351-26D75FD7F90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906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5F2F-EACA-19CF-C2B4-B9A2B6D3D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3237C9-ED7E-B71C-4D2C-4DA5102CD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DFEBD6-F6C6-2B37-8864-46D7654E0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67F4F-0EBD-D27D-57AB-D04E6EF49C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649D91DB-84FB-29C0-494E-175D12152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44F49-7C59-4891-9994-DC86AF73F6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46204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A31D-0575-2DCF-1B0B-172609DCD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791C9-3B2F-6642-334B-B66BB3001E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E44864-67AA-CEDE-872E-9AA9F3B05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7EB5C-2FD3-343F-8C2E-1F1A49B59B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0C00E2D3-5FC1-AF7F-AEF7-EC4C96576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EF6D-E640-C5D0-8062-EC82AC8EDDF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008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3A46-D4AC-E1B7-9889-601DDC1EE6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30221A-5871-87EB-A4B9-18F078174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19C2E-9549-8F11-DB70-E061E91361E0}"/>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CFB58FC-8D1C-2956-75A1-3B9D829E9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6B56A-554F-4260-C674-8BC014A0100D}"/>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630670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9C0C77-1CFE-8B8D-E619-CC01F33030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4813EC-EDC2-AE48-6BB6-1FF4EDAF9B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02B6D-818B-504F-5E04-A3185B3E1872}"/>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518B88B6-6BC6-4C53-CE86-2A1C11F0D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2C398-D508-9132-245E-AE8737136BB1}"/>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123792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A352A-B687-189B-6CE2-EB061F518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B064D9-6355-BC0A-C62B-5EEF55518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394A8-0408-34C9-7A31-CA49F1E247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F9C93B10-8EC8-3978-FEC5-AF574061E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E6C8F9-DD15-1543-CAC2-E16434A61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475C8-AED7-4525-97E1-C362D9D18504}" type="slidenum">
              <a:rPr lang="en-US" smtClean="0"/>
              <a:t>‹#›</a:t>
            </a:fld>
            <a:endParaRPr lang="en-US"/>
          </a:p>
        </p:txBody>
      </p:sp>
    </p:spTree>
    <p:extLst>
      <p:ext uri="{BB962C8B-B14F-4D97-AF65-F5344CB8AC3E}">
        <p14:creationId xmlns:p14="http://schemas.microsoft.com/office/powerpoint/2010/main" val="1271481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2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9F3C05-627D-4AB2-205E-66E0622F8C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51600" y="660400"/>
            <a:ext cx="5080000" cy="3810000"/>
          </a:xfrm>
          <a:prstGeom prst="rect">
            <a:avLst/>
          </a:prstGeom>
        </p:spPr>
      </p:pic>
      <p:sp>
        <p:nvSpPr>
          <p:cNvPr id="4" name="TextBox 3">
            <a:extLst>
              <a:ext uri="{FF2B5EF4-FFF2-40B4-BE49-F238E27FC236}">
                <a16:creationId xmlns:a16="http://schemas.microsoft.com/office/drawing/2014/main" id="{63264FE8-4F3D-811E-1713-7877219C7EBE}"/>
              </a:ext>
            </a:extLst>
          </p:cNvPr>
          <p:cNvSpPr txBox="1"/>
          <p:nvPr/>
        </p:nvSpPr>
        <p:spPr>
          <a:xfrm>
            <a:off x="609600" y="990600"/>
            <a:ext cx="5207000" cy="646331"/>
          </a:xfrm>
          <a:prstGeom prst="rect">
            <a:avLst/>
          </a:prstGeom>
          <a:noFill/>
        </p:spPr>
        <p:txBody>
          <a:bodyPr vert="horz" wrap="square" rtlCol="0">
            <a:spAutoFit/>
          </a:bodyPr>
          <a:lstStyle/>
          <a:p>
            <a:r>
              <a:rPr lang="en-US" sz="3600" b="1">
                <a:solidFill>
                  <a:srgbClr val="FFFFFF"/>
                </a:solidFill>
                <a:latin typeface="Aptos" panose="020B0004020202020204" pitchFamily="34" charset="0"/>
              </a:rPr>
              <a:t>3325 Banks Rd</a:t>
            </a:r>
          </a:p>
        </p:txBody>
      </p:sp>
      <p:sp>
        <p:nvSpPr>
          <p:cNvPr id="5" name="TextBox 4">
            <a:extLst>
              <a:ext uri="{FF2B5EF4-FFF2-40B4-BE49-F238E27FC236}">
                <a16:creationId xmlns:a16="http://schemas.microsoft.com/office/drawing/2014/main" id="{6C888D3F-BCFD-63AA-92EC-9DBC6EE74DAA}"/>
              </a:ext>
            </a:extLst>
          </p:cNvPr>
          <p:cNvSpPr txBox="1"/>
          <p:nvPr/>
        </p:nvSpPr>
        <p:spPr>
          <a:xfrm>
            <a:off x="624490" y="1778000"/>
            <a:ext cx="5080000" cy="707886"/>
          </a:xfrm>
          <a:prstGeom prst="rect">
            <a:avLst/>
          </a:prstGeom>
          <a:noFill/>
        </p:spPr>
        <p:txBody>
          <a:bodyPr vert="horz" wrap="square" rtlCol="0">
            <a:spAutoFit/>
          </a:bodyPr>
          <a:lstStyle/>
          <a:p>
            <a:r>
              <a:rPr lang="en-US" sz="2000" dirty="0">
                <a:solidFill>
                  <a:srgbClr val="E2ECF0"/>
                </a:solidFill>
                <a:latin typeface="Aptos" panose="020B0004020202020204" pitchFamily="34" charset="0"/>
              </a:rPr>
              <a:t>Co-Living Residential Development with Optional STR Operating</a:t>
            </a:r>
          </a:p>
        </p:txBody>
      </p:sp>
      <p:sp>
        <p:nvSpPr>
          <p:cNvPr id="6" name="TextBox 5">
            <a:extLst>
              <a:ext uri="{FF2B5EF4-FFF2-40B4-BE49-F238E27FC236}">
                <a16:creationId xmlns:a16="http://schemas.microsoft.com/office/drawing/2014/main" id="{02665234-1B2B-EAAD-09E2-5D336C24B36A}"/>
              </a:ext>
            </a:extLst>
          </p:cNvPr>
          <p:cNvSpPr txBox="1"/>
          <p:nvPr/>
        </p:nvSpPr>
        <p:spPr>
          <a:xfrm>
            <a:off x="635000" y="2449286"/>
            <a:ext cx="4953000" cy="307777"/>
          </a:xfrm>
          <a:prstGeom prst="rect">
            <a:avLst/>
          </a:prstGeom>
          <a:noFill/>
        </p:spPr>
        <p:txBody>
          <a:bodyPr vert="horz" wrap="square" rtlCol="0">
            <a:spAutoFit/>
          </a:bodyPr>
          <a:lstStyle/>
          <a:p>
            <a:r>
              <a:rPr lang="en-US" sz="1400" dirty="0">
                <a:solidFill>
                  <a:srgbClr val="C4D1D7"/>
                </a:solidFill>
                <a:latin typeface="Aptos" panose="020B0004020202020204" pitchFamily="34" charset="0"/>
              </a:rPr>
              <a:t>Wake County near Raleigh, North Carolina</a:t>
            </a:r>
          </a:p>
        </p:txBody>
      </p:sp>
      <p:sp>
        <p:nvSpPr>
          <p:cNvPr id="7" name="TextBox 6">
            <a:extLst>
              <a:ext uri="{FF2B5EF4-FFF2-40B4-BE49-F238E27FC236}">
                <a16:creationId xmlns:a16="http://schemas.microsoft.com/office/drawing/2014/main" id="{849E8B6F-A4A8-F152-0EC3-4F011A4385FF}"/>
              </a:ext>
            </a:extLst>
          </p:cNvPr>
          <p:cNvSpPr txBox="1"/>
          <p:nvPr/>
        </p:nvSpPr>
        <p:spPr>
          <a:xfrm>
            <a:off x="635000" y="3175000"/>
            <a:ext cx="4953000" cy="1138773"/>
          </a:xfrm>
          <a:prstGeom prst="rect">
            <a:avLst/>
          </a:prstGeom>
          <a:noFill/>
        </p:spPr>
        <p:txBody>
          <a:bodyPr vert="horz" wrap="square" rtlCol="0">
            <a:spAutoFit/>
          </a:bodyPr>
          <a:lstStyle/>
          <a:p>
            <a:r>
              <a:rPr lang="en-US" sz="1700" dirty="0">
                <a:solidFill>
                  <a:srgbClr val="FFFFFF"/>
                </a:solidFill>
                <a:latin typeface="Aptos" panose="020B0004020202020204" pitchFamily="34" charset="0"/>
              </a:rPr>
              <a:t>Base residential underwriting remains the control case .</a:t>
            </a:r>
          </a:p>
          <a:p>
            <a:r>
              <a:rPr lang="en-US" sz="1700" dirty="0">
                <a:solidFill>
                  <a:srgbClr val="FFFFFF"/>
                </a:solidFill>
                <a:latin typeface="Aptos" panose="020B0004020202020204" pitchFamily="34" charset="0"/>
              </a:rPr>
              <a:t>one-floor and whole-building STR are presented as upside operating scenarios.</a:t>
            </a:r>
          </a:p>
        </p:txBody>
      </p:sp>
      <p:sp>
        <p:nvSpPr>
          <p:cNvPr id="8" name="TextBox 7">
            <a:extLst>
              <a:ext uri="{FF2B5EF4-FFF2-40B4-BE49-F238E27FC236}">
                <a16:creationId xmlns:a16="http://schemas.microsoft.com/office/drawing/2014/main" id="{EB56623A-BB57-40F4-2DE6-7FE3DFB8BA58}"/>
              </a:ext>
            </a:extLst>
          </p:cNvPr>
          <p:cNvSpPr txBox="1"/>
          <p:nvPr/>
        </p:nvSpPr>
        <p:spPr>
          <a:xfrm>
            <a:off x="635000" y="5689600"/>
            <a:ext cx="5334000" cy="276999"/>
          </a:xfrm>
          <a:prstGeom prst="rect">
            <a:avLst/>
          </a:prstGeom>
          <a:noFill/>
        </p:spPr>
        <p:txBody>
          <a:bodyPr vert="horz" wrap="square" rtlCol="0">
            <a:spAutoFit/>
          </a:bodyPr>
          <a:lstStyle/>
          <a:p>
            <a:r>
              <a:rPr lang="en-US" sz="1200">
                <a:solidFill>
                  <a:srgbClr val="C4D1D7"/>
                </a:solidFill>
                <a:latin typeface="Aptos" panose="020B0004020202020204" pitchFamily="34" charset="0"/>
              </a:rPr>
              <a:t>Investor pitch deck | STR workbook version</a:t>
            </a:r>
          </a:p>
        </p:txBody>
      </p:sp>
    </p:spTree>
    <p:extLst>
      <p:ext uri="{BB962C8B-B14F-4D97-AF65-F5344CB8AC3E}">
        <p14:creationId xmlns:p14="http://schemas.microsoft.com/office/powerpoint/2010/main" val="14897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209781-DBCB-A281-925F-2141C70251E9}"/>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E6F57C9-CA5A-A998-A58C-60BD6450B251}"/>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OVERVIEW</a:t>
            </a:r>
          </a:p>
        </p:txBody>
      </p:sp>
      <p:sp>
        <p:nvSpPr>
          <p:cNvPr id="4" name="TextBox 3">
            <a:extLst>
              <a:ext uri="{FF2B5EF4-FFF2-40B4-BE49-F238E27FC236}">
                <a16:creationId xmlns:a16="http://schemas.microsoft.com/office/drawing/2014/main" id="{851D80AF-951D-6B40-97C1-A56BDC0C2E85}"/>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Investment Thesis</a:t>
            </a:r>
          </a:p>
        </p:txBody>
      </p:sp>
      <p:sp>
        <p:nvSpPr>
          <p:cNvPr id="5" name="TextBox 4">
            <a:extLst>
              <a:ext uri="{FF2B5EF4-FFF2-40B4-BE49-F238E27FC236}">
                <a16:creationId xmlns:a16="http://schemas.microsoft.com/office/drawing/2014/main" id="{2528E40E-7788-4F1F-A4C6-50BB0542AE63}"/>
              </a:ext>
            </a:extLst>
          </p:cNvPr>
          <p:cNvSpPr txBox="1"/>
          <p:nvPr/>
        </p:nvSpPr>
        <p:spPr>
          <a:xfrm>
            <a:off x="736600" y="1625600"/>
            <a:ext cx="6604000" cy="2123658"/>
          </a:xfrm>
          <a:prstGeom prst="rect">
            <a:avLst/>
          </a:prstGeom>
          <a:noFill/>
        </p:spPr>
        <p:txBody>
          <a:bodyPr vert="horz" wrap="square" rtlCol="0">
            <a:spAutoFit/>
          </a:bodyPr>
          <a:lstStyle/>
          <a:p>
            <a:pPr>
              <a:spcAft>
                <a:spcPts val="800"/>
              </a:spcAft>
            </a:pPr>
            <a:r>
              <a:rPr lang="en-US" sz="1600">
                <a:solidFill>
                  <a:srgbClr val="2A2A2A"/>
                </a:solidFill>
                <a:latin typeface="Aptos" panose="020B0004020202020204" pitchFamily="34" charset="0"/>
              </a:rPr>
              <a:t>Sponsor-led co-living residential development in the Triangle market corridor.</a:t>
            </a:r>
          </a:p>
          <a:p>
            <a:pPr>
              <a:spcAft>
                <a:spcPts val="800"/>
              </a:spcAft>
            </a:pPr>
            <a:r>
              <a:rPr lang="en-US" sz="1600">
                <a:solidFill>
                  <a:srgbClr val="2A2A2A"/>
                </a:solidFill>
                <a:latin typeface="Aptos" panose="020B0004020202020204" pitchFamily="34" charset="0"/>
              </a:rPr>
              <a:t>Base case targets workforce housing, graduate/professional co-living, and furnished medium-term renters.</a:t>
            </a:r>
          </a:p>
          <a:p>
            <a:pPr>
              <a:spcAft>
                <a:spcPts val="800"/>
              </a:spcAft>
            </a:pPr>
            <a:r>
              <a:rPr lang="en-US" sz="1600">
                <a:solidFill>
                  <a:srgbClr val="2A2A2A"/>
                </a:solidFill>
                <a:latin typeface="Aptos" panose="020B0004020202020204" pitchFamily="34" charset="0"/>
              </a:rPr>
              <a:t>STR scenarios test one-floor and whole-building weekly rental upside.</a:t>
            </a:r>
          </a:p>
          <a:p>
            <a:pPr>
              <a:spcAft>
                <a:spcPts val="800"/>
              </a:spcAft>
            </a:pPr>
            <a:r>
              <a:rPr lang="en-US" sz="1600">
                <a:solidFill>
                  <a:srgbClr val="2A2A2A"/>
                </a:solidFill>
                <a:latin typeface="Aptos" panose="020B0004020202020204" pitchFamily="34" charset="0"/>
              </a:rPr>
              <a:t>Capital recovery strategy relies on stabilization, refinance, and operating cash flow.</a:t>
            </a:r>
          </a:p>
        </p:txBody>
      </p:sp>
      <p:sp>
        <p:nvSpPr>
          <p:cNvPr id="6" name="Rectangle 5">
            <a:extLst>
              <a:ext uri="{FF2B5EF4-FFF2-40B4-BE49-F238E27FC236}">
                <a16:creationId xmlns:a16="http://schemas.microsoft.com/office/drawing/2014/main" id="{F3DFE435-3FBF-2673-55E5-2C75E540A11E}"/>
              </a:ext>
            </a:extLst>
          </p:cNvPr>
          <p:cNvSpPr/>
          <p:nvPr/>
        </p:nvSpPr>
        <p:spPr>
          <a:xfrm>
            <a:off x="7874000" y="1600200"/>
            <a:ext cx="3302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98780AC-EB54-EA0B-2C24-38432AC6254B}"/>
              </a:ext>
            </a:extLst>
          </p:cNvPr>
          <p:cNvSpPr/>
          <p:nvPr/>
        </p:nvSpPr>
        <p:spPr>
          <a:xfrm>
            <a:off x="7874000" y="16002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84BC44-F304-2D06-9DE0-7AF3E66FD1F9}"/>
              </a:ext>
            </a:extLst>
          </p:cNvPr>
          <p:cNvSpPr txBox="1"/>
          <p:nvPr/>
        </p:nvSpPr>
        <p:spPr>
          <a:xfrm>
            <a:off x="8102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Competitive Advantage</a:t>
            </a:r>
          </a:p>
        </p:txBody>
      </p:sp>
      <p:sp>
        <p:nvSpPr>
          <p:cNvPr id="9" name="TextBox 8">
            <a:extLst>
              <a:ext uri="{FF2B5EF4-FFF2-40B4-BE49-F238E27FC236}">
                <a16:creationId xmlns:a16="http://schemas.microsoft.com/office/drawing/2014/main" id="{4835D692-5365-D231-881C-28D9FB752E09}"/>
              </a:ext>
            </a:extLst>
          </p:cNvPr>
          <p:cNvSpPr txBox="1"/>
          <p:nvPr/>
        </p:nvSpPr>
        <p:spPr>
          <a:xfrm>
            <a:off x="8102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Controlled land position, 6,000 SF post-frame construction strategy, sponsor equipment and crew capacity, and flexible floor-by-floor rental configuration.</a:t>
            </a:r>
          </a:p>
        </p:txBody>
      </p:sp>
      <p:sp>
        <p:nvSpPr>
          <p:cNvPr id="10" name="Rectangle 9">
            <a:extLst>
              <a:ext uri="{FF2B5EF4-FFF2-40B4-BE49-F238E27FC236}">
                <a16:creationId xmlns:a16="http://schemas.microsoft.com/office/drawing/2014/main" id="{3C3E7C8C-0AE8-F14D-F8F5-936F5827F9A5}"/>
              </a:ext>
            </a:extLst>
          </p:cNvPr>
          <p:cNvSpPr/>
          <p:nvPr/>
        </p:nvSpPr>
        <p:spPr>
          <a:xfrm>
            <a:off x="7874000" y="3708400"/>
            <a:ext cx="3302000" cy="16002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83D18E-6595-AA9B-F370-F2F3A050CF7B}"/>
              </a:ext>
            </a:extLst>
          </p:cNvPr>
          <p:cNvSpPr/>
          <p:nvPr/>
        </p:nvSpPr>
        <p:spPr>
          <a:xfrm>
            <a:off x="7874000" y="3708400"/>
            <a:ext cx="76200" cy="16002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872A44-4FB2-F597-FAD9-B9529D8C2DCB}"/>
              </a:ext>
            </a:extLst>
          </p:cNvPr>
          <p:cNvSpPr txBox="1"/>
          <p:nvPr/>
        </p:nvSpPr>
        <p:spPr>
          <a:xfrm>
            <a:off x="8102600" y="38862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Current Status</a:t>
            </a:r>
          </a:p>
        </p:txBody>
      </p:sp>
      <p:sp>
        <p:nvSpPr>
          <p:cNvPr id="13" name="TextBox 12">
            <a:extLst>
              <a:ext uri="{FF2B5EF4-FFF2-40B4-BE49-F238E27FC236}">
                <a16:creationId xmlns:a16="http://schemas.microsoft.com/office/drawing/2014/main" id="{FA29FB2D-615F-5608-66B9-C729780B1573}"/>
              </a:ext>
            </a:extLst>
          </p:cNvPr>
          <p:cNvSpPr txBox="1"/>
          <p:nvPr/>
        </p:nvSpPr>
        <p:spPr>
          <a:xfrm>
            <a:off x="8102600" y="4267200"/>
            <a:ext cx="2921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STR workbook model with base-case underwriting, rent options, participant returns, refinance timing, sale timing, and waterfall assumptions under active refinement.</a:t>
            </a:r>
          </a:p>
        </p:txBody>
      </p:sp>
    </p:spTree>
    <p:extLst>
      <p:ext uri="{BB962C8B-B14F-4D97-AF65-F5344CB8AC3E}">
        <p14:creationId xmlns:p14="http://schemas.microsoft.com/office/powerpoint/2010/main" val="222415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13DA9F-0D77-3F48-5DCE-B600A87D8118}"/>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3A4A94-C7E4-FB52-D00A-B2310F02395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ASSET</a:t>
            </a:r>
          </a:p>
        </p:txBody>
      </p:sp>
      <p:sp>
        <p:nvSpPr>
          <p:cNvPr id="4" name="TextBox 3">
            <a:extLst>
              <a:ext uri="{FF2B5EF4-FFF2-40B4-BE49-F238E27FC236}">
                <a16:creationId xmlns:a16="http://schemas.microsoft.com/office/drawing/2014/main" id="{510B51EA-0C81-84B5-BB99-A307F3F52004}"/>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Development Program</a:t>
            </a:r>
          </a:p>
        </p:txBody>
      </p:sp>
      <p:sp>
        <p:nvSpPr>
          <p:cNvPr id="5" name="Rectangle 4">
            <a:extLst>
              <a:ext uri="{FF2B5EF4-FFF2-40B4-BE49-F238E27FC236}">
                <a16:creationId xmlns:a16="http://schemas.microsoft.com/office/drawing/2014/main" id="{6C3C15A0-B2F0-8EDC-DC16-AC7141A6415B}"/>
              </a:ext>
            </a:extLst>
          </p:cNvPr>
          <p:cNvSpPr/>
          <p:nvPr/>
        </p:nvSpPr>
        <p:spPr>
          <a:xfrm>
            <a:off x="685800" y="1600200"/>
            <a:ext cx="2286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651180-532D-4641-A9B6-860BE518F3C6}"/>
              </a:ext>
            </a:extLst>
          </p:cNvPr>
          <p:cNvSpPr txBox="1"/>
          <p:nvPr/>
        </p:nvSpPr>
        <p:spPr>
          <a:xfrm>
            <a:off x="863600" y="1765300"/>
            <a:ext cx="1930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1.1 AC</a:t>
            </a:r>
          </a:p>
        </p:txBody>
      </p:sp>
      <p:sp>
        <p:nvSpPr>
          <p:cNvPr id="7" name="TextBox 6">
            <a:extLst>
              <a:ext uri="{FF2B5EF4-FFF2-40B4-BE49-F238E27FC236}">
                <a16:creationId xmlns:a16="http://schemas.microsoft.com/office/drawing/2014/main" id="{8FCB17FA-D0DF-3BD0-7AED-0D174E186EEF}"/>
              </a:ext>
            </a:extLst>
          </p:cNvPr>
          <p:cNvSpPr txBox="1"/>
          <p:nvPr/>
        </p:nvSpPr>
        <p:spPr>
          <a:xfrm>
            <a:off x="863600" y="2209800"/>
            <a:ext cx="1930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Site Area</a:t>
            </a:r>
          </a:p>
        </p:txBody>
      </p:sp>
      <p:sp>
        <p:nvSpPr>
          <p:cNvPr id="8" name="Rectangle 7">
            <a:extLst>
              <a:ext uri="{FF2B5EF4-FFF2-40B4-BE49-F238E27FC236}">
                <a16:creationId xmlns:a16="http://schemas.microsoft.com/office/drawing/2014/main" id="{6A5FBFC3-EB4F-F46F-F103-3B4EE815F975}"/>
              </a:ext>
            </a:extLst>
          </p:cNvPr>
          <p:cNvSpPr/>
          <p:nvPr/>
        </p:nvSpPr>
        <p:spPr>
          <a:xfrm>
            <a:off x="32258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BE1940-1D31-85E7-A649-8CA3BFE4A7D4}"/>
              </a:ext>
            </a:extLst>
          </p:cNvPr>
          <p:cNvSpPr txBox="1"/>
          <p:nvPr/>
        </p:nvSpPr>
        <p:spPr>
          <a:xfrm>
            <a:off x="34036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6,000 SF</a:t>
            </a:r>
          </a:p>
        </p:txBody>
      </p:sp>
      <p:sp>
        <p:nvSpPr>
          <p:cNvPr id="10" name="TextBox 9">
            <a:extLst>
              <a:ext uri="{FF2B5EF4-FFF2-40B4-BE49-F238E27FC236}">
                <a16:creationId xmlns:a16="http://schemas.microsoft.com/office/drawing/2014/main" id="{C1D52983-2DDC-8139-1697-90487BE52896}"/>
              </a:ext>
            </a:extLst>
          </p:cNvPr>
          <p:cNvSpPr txBox="1"/>
          <p:nvPr/>
        </p:nvSpPr>
        <p:spPr>
          <a:xfrm>
            <a:off x="34036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Building Area</a:t>
            </a:r>
          </a:p>
        </p:txBody>
      </p:sp>
      <p:sp>
        <p:nvSpPr>
          <p:cNvPr id="11" name="Rectangle 10">
            <a:extLst>
              <a:ext uri="{FF2B5EF4-FFF2-40B4-BE49-F238E27FC236}">
                <a16:creationId xmlns:a16="http://schemas.microsoft.com/office/drawing/2014/main" id="{9820C9CD-5F6E-6B71-8CBA-370210F5A6D5}"/>
              </a:ext>
            </a:extLst>
          </p:cNvPr>
          <p:cNvSpPr/>
          <p:nvPr/>
        </p:nvSpPr>
        <p:spPr>
          <a:xfrm>
            <a:off x="6172200" y="1600200"/>
            <a:ext cx="2032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6A4B005-E074-D2C9-A306-A9A3BBF875A7}"/>
              </a:ext>
            </a:extLst>
          </p:cNvPr>
          <p:cNvSpPr txBox="1"/>
          <p:nvPr/>
        </p:nvSpPr>
        <p:spPr>
          <a:xfrm>
            <a:off x="6350000" y="1765300"/>
            <a:ext cx="1676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a:t>
            </a:r>
          </a:p>
        </p:txBody>
      </p:sp>
      <p:sp>
        <p:nvSpPr>
          <p:cNvPr id="13" name="TextBox 12">
            <a:extLst>
              <a:ext uri="{FF2B5EF4-FFF2-40B4-BE49-F238E27FC236}">
                <a16:creationId xmlns:a16="http://schemas.microsoft.com/office/drawing/2014/main" id="{9E9B327F-22D5-6C8C-0312-DFD0F561050E}"/>
              </a:ext>
            </a:extLst>
          </p:cNvPr>
          <p:cNvSpPr txBox="1"/>
          <p:nvPr/>
        </p:nvSpPr>
        <p:spPr>
          <a:xfrm>
            <a:off x="6350000" y="2209800"/>
            <a:ext cx="1676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Residential Suites</a:t>
            </a:r>
          </a:p>
        </p:txBody>
      </p:sp>
      <p:sp>
        <p:nvSpPr>
          <p:cNvPr id="14" name="Rectangle 13">
            <a:extLst>
              <a:ext uri="{FF2B5EF4-FFF2-40B4-BE49-F238E27FC236}">
                <a16:creationId xmlns:a16="http://schemas.microsoft.com/office/drawing/2014/main" id="{0E13B9F9-38F8-F802-3430-42A47CBA9E72}"/>
              </a:ext>
            </a:extLst>
          </p:cNvPr>
          <p:cNvSpPr/>
          <p:nvPr/>
        </p:nvSpPr>
        <p:spPr>
          <a:xfrm>
            <a:off x="84582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BE4B99-893C-8913-B7D7-00B78E8E86C5}"/>
              </a:ext>
            </a:extLst>
          </p:cNvPr>
          <p:cNvSpPr txBox="1"/>
          <p:nvPr/>
        </p:nvSpPr>
        <p:spPr>
          <a:xfrm>
            <a:off x="86360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Post-frame</a:t>
            </a:r>
          </a:p>
        </p:txBody>
      </p:sp>
      <p:sp>
        <p:nvSpPr>
          <p:cNvPr id="16" name="TextBox 15">
            <a:extLst>
              <a:ext uri="{FF2B5EF4-FFF2-40B4-BE49-F238E27FC236}">
                <a16:creationId xmlns:a16="http://schemas.microsoft.com/office/drawing/2014/main" id="{BD8E7919-3A2A-931B-C54D-A24B0E726264}"/>
              </a:ext>
            </a:extLst>
          </p:cNvPr>
          <p:cNvSpPr txBox="1"/>
          <p:nvPr/>
        </p:nvSpPr>
        <p:spPr>
          <a:xfrm>
            <a:off x="86360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Construction</a:t>
            </a:r>
          </a:p>
        </p:txBody>
      </p:sp>
      <p:sp>
        <p:nvSpPr>
          <p:cNvPr id="17" name="Rectangle 16">
            <a:extLst>
              <a:ext uri="{FF2B5EF4-FFF2-40B4-BE49-F238E27FC236}">
                <a16:creationId xmlns:a16="http://schemas.microsoft.com/office/drawing/2014/main" id="{319E805D-D961-DBCF-7CB9-9CE61AFC1A8A}"/>
              </a:ext>
            </a:extLst>
          </p:cNvPr>
          <p:cNvSpPr/>
          <p:nvPr/>
        </p:nvSpPr>
        <p:spPr>
          <a:xfrm>
            <a:off x="889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51348C-B437-ADB5-F4F6-A31BFD662EFB}"/>
              </a:ext>
            </a:extLst>
          </p:cNvPr>
          <p:cNvSpPr/>
          <p:nvPr/>
        </p:nvSpPr>
        <p:spPr>
          <a:xfrm>
            <a:off x="889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8CB7641-3A91-F95A-299D-F1B58EFE946A}"/>
              </a:ext>
            </a:extLst>
          </p:cNvPr>
          <p:cNvSpPr txBox="1"/>
          <p:nvPr/>
        </p:nvSpPr>
        <p:spPr>
          <a:xfrm>
            <a:off x="1117600" y="3251200"/>
            <a:ext cx="4572000" cy="1384995"/>
          </a:xfrm>
          <a:prstGeom prst="rect">
            <a:avLst/>
          </a:prstGeom>
          <a:noFill/>
        </p:spPr>
        <p:txBody>
          <a:bodyPr vert="horz" wrap="square" rtlCol="0">
            <a:spAutoFit/>
          </a:bodyPr>
          <a:lstStyle/>
          <a:p>
            <a:r>
              <a:rPr lang="en-US" sz="1400" b="1" dirty="0">
                <a:solidFill>
                  <a:srgbClr val="2A2A2A"/>
                </a:solidFill>
                <a:latin typeface="Aptos" panose="020B0004020202020204" pitchFamily="34" charset="0"/>
              </a:rPr>
              <a:t>First Floor</a:t>
            </a:r>
          </a:p>
          <a:p>
            <a:r>
              <a:rPr lang="en-US" sz="1400" b="1" dirty="0">
                <a:solidFill>
                  <a:srgbClr val="2A2A2A"/>
                </a:solidFill>
                <a:latin typeface="Aptos" panose="020B0004020202020204" pitchFamily="34" charset="0"/>
              </a:rPr>
              <a:t>2 premium suites and 2 co-living suites. Floor plan exhibits should preserve scale against the 6,000 SF building assumption.</a:t>
            </a:r>
          </a:p>
          <a:p>
            <a:endParaRPr lang="en-US" sz="1400" b="1" dirty="0">
              <a:solidFill>
                <a:srgbClr val="2A2A2A"/>
              </a:solidFill>
              <a:latin typeface="Aptos" panose="020B0004020202020204" pitchFamily="34" charset="0"/>
            </a:endParaRPr>
          </a:p>
          <a:p>
            <a:r>
              <a:rPr lang="en-US" sz="1400" b="1" dirty="0">
                <a:solidFill>
                  <a:srgbClr val="2A2A2A"/>
                </a:solidFill>
                <a:latin typeface="Aptos" panose="020B0004020202020204" pitchFamily="34" charset="0"/>
              </a:rPr>
              <a:t>A Kitchen, Dining and Lounge  are planned.</a:t>
            </a:r>
          </a:p>
        </p:txBody>
      </p:sp>
      <p:sp>
        <p:nvSpPr>
          <p:cNvPr id="21" name="Rectangle 20">
            <a:extLst>
              <a:ext uri="{FF2B5EF4-FFF2-40B4-BE49-F238E27FC236}">
                <a16:creationId xmlns:a16="http://schemas.microsoft.com/office/drawing/2014/main" id="{DE272399-9619-34DF-A7EB-50C97CC252C2}"/>
              </a:ext>
            </a:extLst>
          </p:cNvPr>
          <p:cNvSpPr/>
          <p:nvPr/>
        </p:nvSpPr>
        <p:spPr>
          <a:xfrm>
            <a:off x="6350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5A80249-893B-00D1-1A51-2EF21DB7BA3E}"/>
              </a:ext>
            </a:extLst>
          </p:cNvPr>
          <p:cNvSpPr/>
          <p:nvPr/>
        </p:nvSpPr>
        <p:spPr>
          <a:xfrm>
            <a:off x="6350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17767CD-E9AC-D299-7F23-DB60C531F9CC}"/>
              </a:ext>
            </a:extLst>
          </p:cNvPr>
          <p:cNvSpPr txBox="1"/>
          <p:nvPr/>
        </p:nvSpPr>
        <p:spPr>
          <a:xfrm>
            <a:off x="6578600" y="3251200"/>
            <a:ext cx="4572000" cy="1384995"/>
          </a:xfrm>
          <a:prstGeom prst="rect">
            <a:avLst/>
          </a:prstGeom>
          <a:noFill/>
        </p:spPr>
        <p:txBody>
          <a:bodyPr vert="horz" wrap="square" rtlCol="0">
            <a:spAutoFit/>
          </a:bodyPr>
          <a:lstStyle/>
          <a:p>
            <a:r>
              <a:rPr lang="en-US" sz="1400" b="1" dirty="0">
                <a:solidFill>
                  <a:srgbClr val="2A2A2A"/>
                </a:solidFill>
                <a:latin typeface="Aptos" panose="020B0004020202020204" pitchFamily="34" charset="0"/>
              </a:rPr>
              <a:t>Second Floor</a:t>
            </a:r>
          </a:p>
          <a:p>
            <a:r>
              <a:rPr lang="en-US" sz="1400" b="1" dirty="0">
                <a:solidFill>
                  <a:srgbClr val="2A2A2A"/>
                </a:solidFill>
                <a:latin typeface="Aptos" panose="020B0004020202020204" pitchFamily="34" charset="0"/>
              </a:rPr>
              <a:t>2 premium suites and 2 co-living suites. Matching floor mix supports operating flexibility, including a possible one-floor short-term rental scenario.</a:t>
            </a:r>
          </a:p>
          <a:p>
            <a:endParaRPr lang="en-US" sz="1400" b="1" dirty="0">
              <a:solidFill>
                <a:srgbClr val="2A2A2A"/>
              </a:solidFill>
              <a:latin typeface="Aptos" panose="020B0004020202020204" pitchFamily="34" charset="0"/>
            </a:endParaRPr>
          </a:p>
          <a:p>
            <a:r>
              <a:rPr lang="en-US" sz="1400" b="1" dirty="0">
                <a:solidFill>
                  <a:srgbClr val="2A2A2A"/>
                </a:solidFill>
                <a:latin typeface="Aptos" panose="020B0004020202020204" pitchFamily="34" charset="0"/>
              </a:rPr>
              <a:t>Shared Lounge and Entertainment  are planned.</a:t>
            </a:r>
          </a:p>
        </p:txBody>
      </p:sp>
      <p:sp>
        <p:nvSpPr>
          <p:cNvPr id="25" name="TextBox 24">
            <a:extLst>
              <a:ext uri="{FF2B5EF4-FFF2-40B4-BE49-F238E27FC236}">
                <a16:creationId xmlns:a16="http://schemas.microsoft.com/office/drawing/2014/main" id="{0E1BB8FF-14AB-8A45-F8DE-5B0888933032}"/>
              </a:ext>
            </a:extLst>
          </p:cNvPr>
          <p:cNvSpPr txBox="1"/>
          <p:nvPr/>
        </p:nvSpPr>
        <p:spPr>
          <a:xfrm>
            <a:off x="889000" y="5334000"/>
            <a:ext cx="10414000" cy="523220"/>
          </a:xfrm>
          <a:prstGeom prst="rect">
            <a:avLst/>
          </a:prstGeom>
          <a:noFill/>
        </p:spPr>
        <p:txBody>
          <a:bodyPr vert="horz" wrap="square" rtlCol="0">
            <a:spAutoFit/>
          </a:bodyPr>
          <a:lstStyle/>
          <a:p>
            <a:r>
              <a:rPr lang="en-US" sz="1400">
                <a:solidFill>
                  <a:srgbClr val="666666"/>
                </a:solidFill>
                <a:latin typeface="Aptos" panose="020B0004020202020204" pitchFamily="34" charset="0"/>
              </a:rPr>
              <a:t>Shared amenities include communal kitchen, dining, lounge, laundry, storage/mechanical areas, and covered outdoor gathering areas.</a:t>
            </a:r>
          </a:p>
        </p:txBody>
      </p:sp>
    </p:spTree>
    <p:extLst>
      <p:ext uri="{BB962C8B-B14F-4D97-AF65-F5344CB8AC3E}">
        <p14:creationId xmlns:p14="http://schemas.microsoft.com/office/powerpoint/2010/main" val="20228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C09133-92A3-A897-0905-1D2438642DC5}"/>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2BAB61-0937-501E-8E0F-4A1653B0F3D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DESIGN</a:t>
            </a:r>
          </a:p>
        </p:txBody>
      </p:sp>
      <p:sp>
        <p:nvSpPr>
          <p:cNvPr id="4" name="TextBox 3">
            <a:extLst>
              <a:ext uri="{FF2B5EF4-FFF2-40B4-BE49-F238E27FC236}">
                <a16:creationId xmlns:a16="http://schemas.microsoft.com/office/drawing/2014/main" id="{98879D69-FBDA-8D06-C6FD-ACF34A6778EE}"/>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Concept Design Direction</a:t>
            </a:r>
          </a:p>
        </p:txBody>
      </p:sp>
      <p:pic>
        <p:nvPicPr>
          <p:cNvPr id="6" name="Picture 5">
            <a:extLst>
              <a:ext uri="{FF2B5EF4-FFF2-40B4-BE49-F238E27FC236}">
                <a16:creationId xmlns:a16="http://schemas.microsoft.com/office/drawing/2014/main" id="{EE970969-71A3-80E8-946C-1B170C7F57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0" y="1422400"/>
            <a:ext cx="6858000" cy="4572000"/>
          </a:xfrm>
          <a:prstGeom prst="rect">
            <a:avLst/>
          </a:prstGeom>
        </p:spPr>
      </p:pic>
      <p:sp>
        <p:nvSpPr>
          <p:cNvPr id="7" name="TextBox 6">
            <a:extLst>
              <a:ext uri="{FF2B5EF4-FFF2-40B4-BE49-F238E27FC236}">
                <a16:creationId xmlns:a16="http://schemas.microsoft.com/office/drawing/2014/main" id="{E7647AB0-F7BF-565F-F219-01F5304EF2EF}"/>
              </a:ext>
            </a:extLst>
          </p:cNvPr>
          <p:cNvSpPr txBox="1"/>
          <p:nvPr/>
        </p:nvSpPr>
        <p:spPr>
          <a:xfrm>
            <a:off x="736600" y="6172200"/>
            <a:ext cx="10668000" cy="230832"/>
          </a:xfrm>
          <a:prstGeom prst="rect">
            <a:avLst/>
          </a:prstGeom>
          <a:noFill/>
        </p:spPr>
        <p:txBody>
          <a:bodyPr vert="horz" wrap="square" rtlCol="0">
            <a:spAutoFit/>
          </a:bodyPr>
          <a:lstStyle/>
          <a:p>
            <a:r>
              <a:rPr lang="en-US" sz="900">
                <a:solidFill>
                  <a:srgbClr val="666666"/>
                </a:solidFill>
                <a:latin typeface="Aptos" panose="020B0004020202020204" pitchFamily="34" charset="0"/>
              </a:rPr>
              <a:t>Concept image for discussion only. Final dimensions, code compliance, accessibility, fire/life-safety, wastewater, and engineering requirements remain subject to professional design and permitting.</a:t>
            </a:r>
          </a:p>
        </p:txBody>
      </p:sp>
    </p:spTree>
    <p:extLst>
      <p:ext uri="{BB962C8B-B14F-4D97-AF65-F5344CB8AC3E}">
        <p14:creationId xmlns:p14="http://schemas.microsoft.com/office/powerpoint/2010/main" val="3482564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DF3969-1B07-E97D-CAE4-A73CAF820F6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A139B2-3EAF-75A1-D4D2-3320E61F858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MARKET</a:t>
            </a:r>
          </a:p>
        </p:txBody>
      </p:sp>
      <p:sp>
        <p:nvSpPr>
          <p:cNvPr id="4" name="TextBox 3">
            <a:extLst>
              <a:ext uri="{FF2B5EF4-FFF2-40B4-BE49-F238E27FC236}">
                <a16:creationId xmlns:a16="http://schemas.microsoft.com/office/drawing/2014/main" id="{D3146FCB-84B4-9F79-945E-0BA512901090}"/>
              </a:ext>
            </a:extLst>
          </p:cNvPr>
          <p:cNvSpPr txBox="1"/>
          <p:nvPr/>
        </p:nvSpPr>
        <p:spPr>
          <a:xfrm>
            <a:off x="457200" y="736600"/>
            <a:ext cx="9652000" cy="523220"/>
          </a:xfrm>
          <a:prstGeom prst="rect">
            <a:avLst/>
          </a:prstGeom>
          <a:noFill/>
        </p:spPr>
        <p:txBody>
          <a:bodyPr vert="horz" rtlCol="0">
            <a:spAutoFit/>
          </a:bodyPr>
          <a:lstStyle/>
          <a:p>
            <a:r>
              <a:rPr lang="en-US" sz="2800" b="1" dirty="0">
                <a:solidFill>
                  <a:srgbClr val="2A2A2A"/>
                </a:solidFill>
                <a:latin typeface="Aptos" panose="020B0004020202020204" pitchFamily="34" charset="0"/>
              </a:rPr>
              <a:t>Base Rental Positioning</a:t>
            </a:r>
          </a:p>
        </p:txBody>
      </p:sp>
      <p:sp>
        <p:nvSpPr>
          <p:cNvPr id="5" name="Rectangle 4">
            <a:extLst>
              <a:ext uri="{FF2B5EF4-FFF2-40B4-BE49-F238E27FC236}">
                <a16:creationId xmlns:a16="http://schemas.microsoft.com/office/drawing/2014/main" id="{8E72063D-6E03-6B2D-D194-D3F644EBCD2E}"/>
              </a:ext>
            </a:extLst>
          </p:cNvPr>
          <p:cNvSpPr/>
          <p:nvPr/>
        </p:nvSpPr>
        <p:spPr>
          <a:xfrm>
            <a:off x="8890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DEA2F2-78EE-91AD-12FF-3BB0051EF315}"/>
              </a:ext>
            </a:extLst>
          </p:cNvPr>
          <p:cNvSpPr/>
          <p:nvPr/>
        </p:nvSpPr>
        <p:spPr>
          <a:xfrm>
            <a:off x="8890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D6C3E2D-0D4C-00CF-64AA-4BF895307A35}"/>
              </a:ext>
            </a:extLst>
          </p:cNvPr>
          <p:cNvSpPr txBox="1"/>
          <p:nvPr/>
        </p:nvSpPr>
        <p:spPr>
          <a:xfrm>
            <a:off x="11176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Premium Suites</a:t>
            </a:r>
          </a:p>
        </p:txBody>
      </p:sp>
      <p:sp>
        <p:nvSpPr>
          <p:cNvPr id="8" name="TextBox 7">
            <a:extLst>
              <a:ext uri="{FF2B5EF4-FFF2-40B4-BE49-F238E27FC236}">
                <a16:creationId xmlns:a16="http://schemas.microsoft.com/office/drawing/2014/main" id="{0AB07C00-7A22-3592-86A4-C87E477AA030}"/>
              </a:ext>
            </a:extLst>
          </p:cNvPr>
          <p:cNvSpPr txBox="1"/>
          <p:nvPr/>
        </p:nvSpPr>
        <p:spPr>
          <a:xfrm>
            <a:off x="11176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1,350 / mo</a:t>
            </a:r>
          </a:p>
          <a:p>
            <a:r>
              <a:rPr lang="en-US" sz="1200">
                <a:solidFill>
                  <a:srgbClr val="666666"/>
                </a:solidFill>
                <a:latin typeface="Aptos" panose="020B0004020202020204" pitchFamily="34" charset="0"/>
              </a:rPr>
              <a:t>Medium: 1,600 / mo</a:t>
            </a:r>
          </a:p>
          <a:p>
            <a:r>
              <a:rPr lang="en-US" sz="1200">
                <a:solidFill>
                  <a:srgbClr val="666666"/>
                </a:solidFill>
                <a:latin typeface="Aptos" panose="020B0004020202020204" pitchFamily="34" charset="0"/>
              </a:rPr>
              <a:t>High: 1,750 / mo</a:t>
            </a:r>
          </a:p>
        </p:txBody>
      </p:sp>
      <p:sp>
        <p:nvSpPr>
          <p:cNvPr id="9" name="Rectangle 8">
            <a:extLst>
              <a:ext uri="{FF2B5EF4-FFF2-40B4-BE49-F238E27FC236}">
                <a16:creationId xmlns:a16="http://schemas.microsoft.com/office/drawing/2014/main" id="{739C2AFC-8A38-AB41-6FC5-D650BD86DBA5}"/>
              </a:ext>
            </a:extLst>
          </p:cNvPr>
          <p:cNvSpPr/>
          <p:nvPr/>
        </p:nvSpPr>
        <p:spPr>
          <a:xfrm>
            <a:off x="44958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B2EEEC-1C53-2EF0-7681-88685222B9FB}"/>
              </a:ext>
            </a:extLst>
          </p:cNvPr>
          <p:cNvSpPr/>
          <p:nvPr/>
        </p:nvSpPr>
        <p:spPr>
          <a:xfrm>
            <a:off x="44958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7D492B-663A-BCAC-34CB-E2C1CD9D54CD}"/>
              </a:ext>
            </a:extLst>
          </p:cNvPr>
          <p:cNvSpPr txBox="1"/>
          <p:nvPr/>
        </p:nvSpPr>
        <p:spPr>
          <a:xfrm>
            <a:off x="47244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Co-Living Suites</a:t>
            </a:r>
          </a:p>
        </p:txBody>
      </p:sp>
      <p:sp>
        <p:nvSpPr>
          <p:cNvPr id="12" name="TextBox 11">
            <a:extLst>
              <a:ext uri="{FF2B5EF4-FFF2-40B4-BE49-F238E27FC236}">
                <a16:creationId xmlns:a16="http://schemas.microsoft.com/office/drawing/2014/main" id="{132230D2-B2C9-B156-01A8-C8E08ED859A0}"/>
              </a:ext>
            </a:extLst>
          </p:cNvPr>
          <p:cNvSpPr txBox="1"/>
          <p:nvPr/>
        </p:nvSpPr>
        <p:spPr>
          <a:xfrm>
            <a:off x="47244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850 / mo</a:t>
            </a:r>
          </a:p>
          <a:p>
            <a:r>
              <a:rPr lang="en-US" sz="1200">
                <a:solidFill>
                  <a:srgbClr val="666666"/>
                </a:solidFill>
                <a:latin typeface="Aptos" panose="020B0004020202020204" pitchFamily="34" charset="0"/>
              </a:rPr>
              <a:t>Medium: 1,100 / mo</a:t>
            </a:r>
          </a:p>
          <a:p>
            <a:r>
              <a:rPr lang="en-US" sz="1200">
                <a:solidFill>
                  <a:srgbClr val="666666"/>
                </a:solidFill>
                <a:latin typeface="Aptos" panose="020B0004020202020204" pitchFamily="34" charset="0"/>
              </a:rPr>
              <a:t>High: 1,250 / mo</a:t>
            </a:r>
          </a:p>
        </p:txBody>
      </p:sp>
      <p:sp>
        <p:nvSpPr>
          <p:cNvPr id="13" name="Rectangle 12">
            <a:extLst>
              <a:ext uri="{FF2B5EF4-FFF2-40B4-BE49-F238E27FC236}">
                <a16:creationId xmlns:a16="http://schemas.microsoft.com/office/drawing/2014/main" id="{C9CBD661-AC13-FDE5-6467-87048607362D}"/>
              </a:ext>
            </a:extLst>
          </p:cNvPr>
          <p:cNvSpPr/>
          <p:nvPr/>
        </p:nvSpPr>
        <p:spPr>
          <a:xfrm>
            <a:off x="8102600" y="1651000"/>
            <a:ext cx="317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B11441-D859-5A4C-A6A6-7AC8CA0347E8}"/>
              </a:ext>
            </a:extLst>
          </p:cNvPr>
          <p:cNvSpPr/>
          <p:nvPr/>
        </p:nvSpPr>
        <p:spPr>
          <a:xfrm>
            <a:off x="8102600" y="16510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DEB909-707E-6E14-3DE6-90F281245710}"/>
              </a:ext>
            </a:extLst>
          </p:cNvPr>
          <p:cNvSpPr txBox="1"/>
          <p:nvPr/>
        </p:nvSpPr>
        <p:spPr>
          <a:xfrm>
            <a:off x="8331200" y="1828800"/>
            <a:ext cx="2794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Gross Monthly Rent</a:t>
            </a:r>
          </a:p>
          <a:p>
            <a:r>
              <a:rPr lang="en-US" sz="1400" b="1">
                <a:solidFill>
                  <a:srgbClr val="2A2A2A"/>
                </a:solidFill>
                <a:latin typeface="Aptos" panose="020B0004020202020204" pitchFamily="34" charset="0"/>
              </a:rPr>
              <a:t>Low: 8,800</a:t>
            </a:r>
          </a:p>
          <a:p>
            <a:r>
              <a:rPr lang="en-US" sz="1400" b="1">
                <a:solidFill>
                  <a:srgbClr val="2A2A2A"/>
                </a:solidFill>
                <a:latin typeface="Aptos" panose="020B0004020202020204" pitchFamily="34" charset="0"/>
              </a:rPr>
              <a:t>Medium: 10,800</a:t>
            </a:r>
          </a:p>
          <a:p>
            <a:r>
              <a:rPr lang="en-US" sz="1400" b="1">
                <a:solidFill>
                  <a:srgbClr val="2A2A2A"/>
                </a:solidFill>
                <a:latin typeface="Aptos" panose="020B0004020202020204" pitchFamily="34" charset="0"/>
              </a:rPr>
              <a:t>High: 12,000</a:t>
            </a:r>
          </a:p>
        </p:txBody>
      </p:sp>
      <p:sp>
        <p:nvSpPr>
          <p:cNvPr id="17" name="TextBox 16">
            <a:extLst>
              <a:ext uri="{FF2B5EF4-FFF2-40B4-BE49-F238E27FC236}">
                <a16:creationId xmlns:a16="http://schemas.microsoft.com/office/drawing/2014/main" id="{2E2B9941-F770-6557-8C67-EE13B60C5E7E}"/>
              </a:ext>
            </a:extLst>
          </p:cNvPr>
          <p:cNvSpPr txBox="1"/>
          <p:nvPr/>
        </p:nvSpPr>
        <p:spPr>
          <a:xfrm>
            <a:off x="1143000" y="4191000"/>
            <a:ext cx="9398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Current model uses an escalating, table driven rent schedule; low begins Year 1, medium Year 2, high Year 3.</a:t>
            </a:r>
          </a:p>
          <a:p>
            <a:pPr>
              <a:spcAft>
                <a:spcPts val="800"/>
              </a:spcAft>
            </a:pPr>
            <a:r>
              <a:rPr lang="en-US" sz="1500" dirty="0">
                <a:solidFill>
                  <a:srgbClr val="2A2A2A"/>
                </a:solidFill>
                <a:latin typeface="Aptos" panose="020B0004020202020204" pitchFamily="34" charset="0"/>
              </a:rPr>
              <a:t>- Stabilized occupancy assumption: 93.0%.</a:t>
            </a:r>
          </a:p>
          <a:p>
            <a:pPr>
              <a:spcAft>
                <a:spcPts val="800"/>
              </a:spcAft>
            </a:pPr>
            <a:r>
              <a:rPr lang="en-US" sz="1500" dirty="0">
                <a:solidFill>
                  <a:srgbClr val="2A2A2A"/>
                </a:solidFill>
                <a:latin typeface="Aptos" panose="020B0004020202020204" pitchFamily="34" charset="0"/>
              </a:rPr>
              <a:t>- Refinance-year rent scenario currently uses 12,000 monthly gross rent.</a:t>
            </a:r>
          </a:p>
        </p:txBody>
      </p:sp>
    </p:spTree>
    <p:extLst>
      <p:ext uri="{BB962C8B-B14F-4D97-AF65-F5344CB8AC3E}">
        <p14:creationId xmlns:p14="http://schemas.microsoft.com/office/powerpoint/2010/main" val="138513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A9FA7C-B54D-1EA5-814D-060FD3AB35B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65C40D9-58CF-9CB5-3819-58C8C9F1E333}"/>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OPERATIONS</a:t>
            </a:r>
          </a:p>
        </p:txBody>
      </p:sp>
      <p:sp>
        <p:nvSpPr>
          <p:cNvPr id="4" name="TextBox 3">
            <a:extLst>
              <a:ext uri="{FF2B5EF4-FFF2-40B4-BE49-F238E27FC236}">
                <a16:creationId xmlns:a16="http://schemas.microsoft.com/office/drawing/2014/main" id="{3B79C7F8-FB49-AF31-401E-D96C133D5648}"/>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Operating Model</a:t>
            </a:r>
          </a:p>
        </p:txBody>
      </p:sp>
      <p:sp>
        <p:nvSpPr>
          <p:cNvPr id="5" name="Rectangle 4">
            <a:extLst>
              <a:ext uri="{FF2B5EF4-FFF2-40B4-BE49-F238E27FC236}">
                <a16:creationId xmlns:a16="http://schemas.microsoft.com/office/drawing/2014/main" id="{25CEF0C6-94BC-BF49-D976-13AC5128A3B2}"/>
              </a:ext>
            </a:extLst>
          </p:cNvPr>
          <p:cNvSpPr/>
          <p:nvPr/>
        </p:nvSpPr>
        <p:spPr>
          <a:xfrm>
            <a:off x="889000" y="16510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568AE4-2B1D-4B94-CA05-841A26AFECF8}"/>
              </a:ext>
            </a:extLst>
          </p:cNvPr>
          <p:cNvSpPr txBox="1"/>
          <p:nvPr/>
        </p:nvSpPr>
        <p:spPr>
          <a:xfrm>
            <a:off x="1066800" y="18161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12,000</a:t>
            </a:r>
          </a:p>
        </p:txBody>
      </p:sp>
      <p:sp>
        <p:nvSpPr>
          <p:cNvPr id="7" name="TextBox 6">
            <a:extLst>
              <a:ext uri="{FF2B5EF4-FFF2-40B4-BE49-F238E27FC236}">
                <a16:creationId xmlns:a16="http://schemas.microsoft.com/office/drawing/2014/main" id="{378E6AAB-C142-5B21-274D-ECCE8D82832A}"/>
              </a:ext>
            </a:extLst>
          </p:cNvPr>
          <p:cNvSpPr txBox="1"/>
          <p:nvPr/>
        </p:nvSpPr>
        <p:spPr>
          <a:xfrm>
            <a:off x="1066800" y="22606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Monthly Gross Rent</a:t>
            </a:r>
          </a:p>
        </p:txBody>
      </p:sp>
      <p:sp>
        <p:nvSpPr>
          <p:cNvPr id="8" name="Rectangle 7">
            <a:extLst>
              <a:ext uri="{FF2B5EF4-FFF2-40B4-BE49-F238E27FC236}">
                <a16:creationId xmlns:a16="http://schemas.microsoft.com/office/drawing/2014/main" id="{8749045A-3ED4-3904-0E5A-DC2A418623EE}"/>
              </a:ext>
            </a:extLst>
          </p:cNvPr>
          <p:cNvSpPr/>
          <p:nvPr/>
        </p:nvSpPr>
        <p:spPr>
          <a:xfrm>
            <a:off x="4191000" y="16510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A4467D-46BF-3760-A9AC-7E348AA50B49}"/>
              </a:ext>
            </a:extLst>
          </p:cNvPr>
          <p:cNvSpPr txBox="1"/>
          <p:nvPr/>
        </p:nvSpPr>
        <p:spPr>
          <a:xfrm>
            <a:off x="4368800" y="18161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93.0%</a:t>
            </a:r>
          </a:p>
        </p:txBody>
      </p:sp>
      <p:sp>
        <p:nvSpPr>
          <p:cNvPr id="10" name="TextBox 9">
            <a:extLst>
              <a:ext uri="{FF2B5EF4-FFF2-40B4-BE49-F238E27FC236}">
                <a16:creationId xmlns:a16="http://schemas.microsoft.com/office/drawing/2014/main" id="{5A12A775-9331-CF76-E50D-F88CC700AC55}"/>
              </a:ext>
            </a:extLst>
          </p:cNvPr>
          <p:cNvSpPr txBox="1"/>
          <p:nvPr/>
        </p:nvSpPr>
        <p:spPr>
          <a:xfrm>
            <a:off x="4368800" y="22606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Occupancy</a:t>
            </a:r>
          </a:p>
        </p:txBody>
      </p:sp>
      <p:sp>
        <p:nvSpPr>
          <p:cNvPr id="11" name="Rectangle 10">
            <a:extLst>
              <a:ext uri="{FF2B5EF4-FFF2-40B4-BE49-F238E27FC236}">
                <a16:creationId xmlns:a16="http://schemas.microsoft.com/office/drawing/2014/main" id="{242FEB3B-CAE2-CA6C-17A5-D905617344E1}"/>
              </a:ext>
            </a:extLst>
          </p:cNvPr>
          <p:cNvSpPr/>
          <p:nvPr/>
        </p:nvSpPr>
        <p:spPr>
          <a:xfrm>
            <a:off x="6985000" y="1651000"/>
            <a:ext cx="279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5BC7348-332D-9F7A-EE1E-F939DD36FAB0}"/>
              </a:ext>
            </a:extLst>
          </p:cNvPr>
          <p:cNvSpPr txBox="1"/>
          <p:nvPr/>
        </p:nvSpPr>
        <p:spPr>
          <a:xfrm>
            <a:off x="7162800" y="1816100"/>
            <a:ext cx="243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46.9%</a:t>
            </a:r>
          </a:p>
        </p:txBody>
      </p:sp>
      <p:sp>
        <p:nvSpPr>
          <p:cNvPr id="13" name="TextBox 12">
            <a:extLst>
              <a:ext uri="{FF2B5EF4-FFF2-40B4-BE49-F238E27FC236}">
                <a16:creationId xmlns:a16="http://schemas.microsoft.com/office/drawing/2014/main" id="{8630B373-CCFA-532E-C03A-B18B59747E27}"/>
              </a:ext>
            </a:extLst>
          </p:cNvPr>
          <p:cNvSpPr txBox="1"/>
          <p:nvPr/>
        </p:nvSpPr>
        <p:spPr>
          <a:xfrm>
            <a:off x="7162800" y="2260600"/>
            <a:ext cx="243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OpEx Ratio</a:t>
            </a:r>
          </a:p>
        </p:txBody>
      </p:sp>
      <p:sp>
        <p:nvSpPr>
          <p:cNvPr id="14" name="Rectangle 13">
            <a:extLst>
              <a:ext uri="{FF2B5EF4-FFF2-40B4-BE49-F238E27FC236}">
                <a16:creationId xmlns:a16="http://schemas.microsoft.com/office/drawing/2014/main" id="{C74B2E74-77A6-3276-2E80-34407C5AA806}"/>
              </a:ext>
            </a:extLst>
          </p:cNvPr>
          <p:cNvSpPr/>
          <p:nvPr/>
        </p:nvSpPr>
        <p:spPr>
          <a:xfrm>
            <a:off x="10033000" y="16510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4BC899-C8D8-706E-9261-88009056802D}"/>
              </a:ext>
            </a:extLst>
          </p:cNvPr>
          <p:cNvSpPr txBox="1"/>
          <p:nvPr/>
        </p:nvSpPr>
        <p:spPr>
          <a:xfrm>
            <a:off x="10210800" y="18161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8,035</a:t>
            </a:r>
          </a:p>
        </p:txBody>
      </p:sp>
      <p:sp>
        <p:nvSpPr>
          <p:cNvPr id="16" name="TextBox 15">
            <a:extLst>
              <a:ext uri="{FF2B5EF4-FFF2-40B4-BE49-F238E27FC236}">
                <a16:creationId xmlns:a16="http://schemas.microsoft.com/office/drawing/2014/main" id="{6DC15E65-D81F-8C01-2D77-F24C472EA41C}"/>
              </a:ext>
            </a:extLst>
          </p:cNvPr>
          <p:cNvSpPr txBox="1"/>
          <p:nvPr/>
        </p:nvSpPr>
        <p:spPr>
          <a:xfrm>
            <a:off x="10210800" y="2260600"/>
            <a:ext cx="116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Management Fee</a:t>
            </a:r>
          </a:p>
        </p:txBody>
      </p:sp>
      <p:sp>
        <p:nvSpPr>
          <p:cNvPr id="17" name="Rectangle 16">
            <a:extLst>
              <a:ext uri="{FF2B5EF4-FFF2-40B4-BE49-F238E27FC236}">
                <a16:creationId xmlns:a16="http://schemas.microsoft.com/office/drawing/2014/main" id="{CFD94257-3ACB-7803-22E3-71ED287C1187}"/>
              </a:ext>
            </a:extLst>
          </p:cNvPr>
          <p:cNvSpPr/>
          <p:nvPr/>
        </p:nvSpPr>
        <p:spPr>
          <a:xfrm>
            <a:off x="1016000" y="3302000"/>
            <a:ext cx="4699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79845D-FBED-E7DC-58D3-DD5761F55B65}"/>
              </a:ext>
            </a:extLst>
          </p:cNvPr>
          <p:cNvSpPr/>
          <p:nvPr/>
        </p:nvSpPr>
        <p:spPr>
          <a:xfrm>
            <a:off x="1016000" y="33020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3071F7-9190-2E37-C6A9-E56886BB24A3}"/>
              </a:ext>
            </a:extLst>
          </p:cNvPr>
          <p:cNvSpPr txBox="1"/>
          <p:nvPr/>
        </p:nvSpPr>
        <p:spPr>
          <a:xfrm>
            <a:off x="1244600" y="3479800"/>
            <a:ext cx="4318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Expense Budget</a:t>
            </a:r>
          </a:p>
        </p:txBody>
      </p:sp>
      <p:sp>
        <p:nvSpPr>
          <p:cNvPr id="20" name="TextBox 19">
            <a:extLst>
              <a:ext uri="{FF2B5EF4-FFF2-40B4-BE49-F238E27FC236}">
                <a16:creationId xmlns:a16="http://schemas.microsoft.com/office/drawing/2014/main" id="{FDFE37D8-305F-A3A3-1D9C-C537B0A3C024}"/>
              </a:ext>
            </a:extLst>
          </p:cNvPr>
          <p:cNvSpPr txBox="1"/>
          <p:nvPr/>
        </p:nvSpPr>
        <p:spPr>
          <a:xfrm>
            <a:off x="1244600" y="3860800"/>
            <a:ext cx="4318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Operating Expense Budget currently uses the calculated budget ratio of 46.9%. Budget includes property taxes, completed property insurance, management/admin, utilities, repairs, wastewater maintenance, reserves, and compliance items.</a:t>
            </a:r>
          </a:p>
        </p:txBody>
      </p:sp>
      <p:sp>
        <p:nvSpPr>
          <p:cNvPr id="21" name="Rectangle 20">
            <a:extLst>
              <a:ext uri="{FF2B5EF4-FFF2-40B4-BE49-F238E27FC236}">
                <a16:creationId xmlns:a16="http://schemas.microsoft.com/office/drawing/2014/main" id="{48C2F375-CBCC-4C3B-2E74-EB4F47F172BC}"/>
              </a:ext>
            </a:extLst>
          </p:cNvPr>
          <p:cNvSpPr/>
          <p:nvPr/>
        </p:nvSpPr>
        <p:spPr>
          <a:xfrm>
            <a:off x="6477000" y="3302000"/>
            <a:ext cx="4572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3B8A967-A76D-3AD6-8941-2839039DBDDB}"/>
              </a:ext>
            </a:extLst>
          </p:cNvPr>
          <p:cNvSpPr/>
          <p:nvPr/>
        </p:nvSpPr>
        <p:spPr>
          <a:xfrm>
            <a:off x="6477000" y="3302000"/>
            <a:ext cx="76200" cy="1905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3587381-2BF9-8219-7181-BD8E8FC20D64}"/>
              </a:ext>
            </a:extLst>
          </p:cNvPr>
          <p:cNvSpPr txBox="1"/>
          <p:nvPr/>
        </p:nvSpPr>
        <p:spPr>
          <a:xfrm>
            <a:off x="6705600" y="3479800"/>
            <a:ext cx="419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Management Income</a:t>
            </a:r>
          </a:p>
        </p:txBody>
      </p:sp>
      <p:sp>
        <p:nvSpPr>
          <p:cNvPr id="24" name="TextBox 23">
            <a:extLst>
              <a:ext uri="{FF2B5EF4-FFF2-40B4-BE49-F238E27FC236}">
                <a16:creationId xmlns:a16="http://schemas.microsoft.com/office/drawing/2014/main" id="{430639D4-EFA9-1303-22A6-CEBFCD45ADBA}"/>
              </a:ext>
            </a:extLst>
          </p:cNvPr>
          <p:cNvSpPr txBox="1"/>
          <p:nvPr/>
        </p:nvSpPr>
        <p:spPr>
          <a:xfrm>
            <a:off x="6705600" y="3860800"/>
            <a:ext cx="4191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analysis calculates management income dynamically as 6.00% of each year effective gross income.</a:t>
            </a:r>
          </a:p>
        </p:txBody>
      </p:sp>
    </p:spTree>
    <p:extLst>
      <p:ext uri="{BB962C8B-B14F-4D97-AF65-F5344CB8AC3E}">
        <p14:creationId xmlns:p14="http://schemas.microsoft.com/office/powerpoint/2010/main" val="320549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26F354-ECD8-6ED3-E231-65ABFB327062}"/>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F14355-164C-F4E0-EE53-27EDE804DBC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CAPITAL</a:t>
            </a:r>
          </a:p>
        </p:txBody>
      </p:sp>
      <p:sp>
        <p:nvSpPr>
          <p:cNvPr id="4" name="TextBox 3">
            <a:extLst>
              <a:ext uri="{FF2B5EF4-FFF2-40B4-BE49-F238E27FC236}">
                <a16:creationId xmlns:a16="http://schemas.microsoft.com/office/drawing/2014/main" id="{AC740161-BF8A-C4BB-FCD4-69747F042457}"/>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Capitalization and Cost Case</a:t>
            </a:r>
          </a:p>
        </p:txBody>
      </p:sp>
      <p:sp>
        <p:nvSpPr>
          <p:cNvPr id="5" name="Rectangle 4">
            <a:extLst>
              <a:ext uri="{FF2B5EF4-FFF2-40B4-BE49-F238E27FC236}">
                <a16:creationId xmlns:a16="http://schemas.microsoft.com/office/drawing/2014/main" id="{738C2589-921D-9033-4E7E-B9FF3AE6F9F0}"/>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A43EB1-5BE9-E5A9-233C-A711CD3C08BA}"/>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847,500</a:t>
            </a:r>
          </a:p>
        </p:txBody>
      </p:sp>
      <p:sp>
        <p:nvSpPr>
          <p:cNvPr id="7" name="TextBox 6">
            <a:extLst>
              <a:ext uri="{FF2B5EF4-FFF2-40B4-BE49-F238E27FC236}">
                <a16:creationId xmlns:a16="http://schemas.microsoft.com/office/drawing/2014/main" id="{90B62A44-01F6-2C06-DFB4-57ECEF757AE9}"/>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Project Cost</a:t>
            </a:r>
          </a:p>
        </p:txBody>
      </p:sp>
      <p:sp>
        <p:nvSpPr>
          <p:cNvPr id="8" name="Rectangle 7">
            <a:extLst>
              <a:ext uri="{FF2B5EF4-FFF2-40B4-BE49-F238E27FC236}">
                <a16:creationId xmlns:a16="http://schemas.microsoft.com/office/drawing/2014/main" id="{5CCF6593-25C0-3901-6644-93E15F2C535F}"/>
              </a:ext>
            </a:extLst>
          </p:cNvPr>
          <p:cNvSpPr/>
          <p:nvPr/>
        </p:nvSpPr>
        <p:spPr>
          <a:xfrm>
            <a:off x="3937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F7EF4AE-8B81-6411-C608-72A9AB2D8894}"/>
              </a:ext>
            </a:extLst>
          </p:cNvPr>
          <p:cNvSpPr txBox="1"/>
          <p:nvPr/>
        </p:nvSpPr>
        <p:spPr>
          <a:xfrm>
            <a:off x="4114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300,000</a:t>
            </a:r>
          </a:p>
        </p:txBody>
      </p:sp>
      <p:sp>
        <p:nvSpPr>
          <p:cNvPr id="10" name="TextBox 9">
            <a:extLst>
              <a:ext uri="{FF2B5EF4-FFF2-40B4-BE49-F238E27FC236}">
                <a16:creationId xmlns:a16="http://schemas.microsoft.com/office/drawing/2014/main" id="{DC8FDC7F-B804-8F3D-8CA3-9AFD3C985C8A}"/>
              </a:ext>
            </a:extLst>
          </p:cNvPr>
          <p:cNvSpPr txBox="1"/>
          <p:nvPr/>
        </p:nvSpPr>
        <p:spPr>
          <a:xfrm>
            <a:off x="4114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A Capital</a:t>
            </a:r>
          </a:p>
        </p:txBody>
      </p:sp>
      <p:sp>
        <p:nvSpPr>
          <p:cNvPr id="11" name="Rectangle 10">
            <a:extLst>
              <a:ext uri="{FF2B5EF4-FFF2-40B4-BE49-F238E27FC236}">
                <a16:creationId xmlns:a16="http://schemas.microsoft.com/office/drawing/2014/main" id="{4E850C57-8D88-B9C7-902E-14639F86F4CD}"/>
              </a:ext>
            </a:extLst>
          </p:cNvPr>
          <p:cNvSpPr/>
          <p:nvPr/>
        </p:nvSpPr>
        <p:spPr>
          <a:xfrm>
            <a:off x="6731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9AC99D1-A036-1EA1-1F2A-5756C0929AF4}"/>
              </a:ext>
            </a:extLst>
          </p:cNvPr>
          <p:cNvSpPr txBox="1"/>
          <p:nvPr/>
        </p:nvSpPr>
        <p:spPr>
          <a:xfrm>
            <a:off x="6908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547,500</a:t>
            </a:r>
          </a:p>
        </p:txBody>
      </p:sp>
      <p:sp>
        <p:nvSpPr>
          <p:cNvPr id="13" name="TextBox 12">
            <a:extLst>
              <a:ext uri="{FF2B5EF4-FFF2-40B4-BE49-F238E27FC236}">
                <a16:creationId xmlns:a16="http://schemas.microsoft.com/office/drawing/2014/main" id="{E54FCBAC-22D3-85AF-42C7-1193134BDADC}"/>
              </a:ext>
            </a:extLst>
          </p:cNvPr>
          <p:cNvSpPr txBox="1"/>
          <p:nvPr/>
        </p:nvSpPr>
        <p:spPr>
          <a:xfrm>
            <a:off x="6908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B Capital</a:t>
            </a:r>
          </a:p>
        </p:txBody>
      </p:sp>
      <p:sp>
        <p:nvSpPr>
          <p:cNvPr id="14" name="Rectangle 13">
            <a:extLst>
              <a:ext uri="{FF2B5EF4-FFF2-40B4-BE49-F238E27FC236}">
                <a16:creationId xmlns:a16="http://schemas.microsoft.com/office/drawing/2014/main" id="{3BFF7B67-0BD6-1573-BDF7-5085FB9C5758}"/>
              </a:ext>
            </a:extLst>
          </p:cNvPr>
          <p:cNvSpPr/>
          <p:nvPr/>
        </p:nvSpPr>
        <p:spPr>
          <a:xfrm>
            <a:off x="9525000" y="1600200"/>
            <a:ext cx="2159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724B0E7-C34D-7D64-D1FB-641EF188BA44}"/>
              </a:ext>
            </a:extLst>
          </p:cNvPr>
          <p:cNvSpPr txBox="1"/>
          <p:nvPr/>
        </p:nvSpPr>
        <p:spPr>
          <a:xfrm>
            <a:off x="9702800" y="1765300"/>
            <a:ext cx="1803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100,000</a:t>
            </a:r>
          </a:p>
        </p:txBody>
      </p:sp>
      <p:sp>
        <p:nvSpPr>
          <p:cNvPr id="16" name="TextBox 15">
            <a:extLst>
              <a:ext uri="{FF2B5EF4-FFF2-40B4-BE49-F238E27FC236}">
                <a16:creationId xmlns:a16="http://schemas.microsoft.com/office/drawing/2014/main" id="{42C709E1-E12D-EF21-C443-F1443E4ECBBF}"/>
              </a:ext>
            </a:extLst>
          </p:cNvPr>
          <p:cNvSpPr txBox="1"/>
          <p:nvPr/>
        </p:nvSpPr>
        <p:spPr>
          <a:xfrm>
            <a:off x="9702800" y="2209800"/>
            <a:ext cx="1803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Sponsor Property Payment</a:t>
            </a:r>
          </a:p>
        </p:txBody>
      </p:sp>
      <p:sp>
        <p:nvSpPr>
          <p:cNvPr id="17" name="Rectangle 16">
            <a:extLst>
              <a:ext uri="{FF2B5EF4-FFF2-40B4-BE49-F238E27FC236}">
                <a16:creationId xmlns:a16="http://schemas.microsoft.com/office/drawing/2014/main" id="{C6BC2F57-7870-7E07-6DCC-E804A668B625}"/>
              </a:ext>
            </a:extLst>
          </p:cNvPr>
          <p:cNvSpPr/>
          <p:nvPr/>
        </p:nvSpPr>
        <p:spPr>
          <a:xfrm>
            <a:off x="1041400" y="3200400"/>
            <a:ext cx="4826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80453A1-67BC-CE67-EAAA-8A314FB62607}"/>
              </a:ext>
            </a:extLst>
          </p:cNvPr>
          <p:cNvSpPr/>
          <p:nvPr/>
        </p:nvSpPr>
        <p:spPr>
          <a:xfrm>
            <a:off x="1041400" y="3200400"/>
            <a:ext cx="76200" cy="2159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D505D93-1200-B663-5A0C-01BEB8C12091}"/>
              </a:ext>
            </a:extLst>
          </p:cNvPr>
          <p:cNvSpPr txBox="1"/>
          <p:nvPr/>
        </p:nvSpPr>
        <p:spPr>
          <a:xfrm>
            <a:off x="1270000" y="3378200"/>
            <a:ext cx="4445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Sponsor-Controlled Cost Range</a:t>
            </a:r>
          </a:p>
        </p:txBody>
      </p:sp>
      <p:sp>
        <p:nvSpPr>
          <p:cNvPr id="20" name="TextBox 19">
            <a:extLst>
              <a:ext uri="{FF2B5EF4-FFF2-40B4-BE49-F238E27FC236}">
                <a16:creationId xmlns:a16="http://schemas.microsoft.com/office/drawing/2014/main" id="{153FE5FA-DDF5-7847-C4AA-76D6B8218953}"/>
              </a:ext>
            </a:extLst>
          </p:cNvPr>
          <p:cNvSpPr txBox="1"/>
          <p:nvPr/>
        </p:nvSpPr>
        <p:spPr>
          <a:xfrm>
            <a:off x="1270000" y="3759200"/>
            <a:ext cx="4445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sponsor-controlled bridge: 847,500 low / 1,585,000 high. Case assumes post-frame construction, sponsor equipment/crew capacity, disciplined finish scope, and 100,000 payment to sponsor for property.</a:t>
            </a:r>
          </a:p>
        </p:txBody>
      </p:sp>
      <p:sp>
        <p:nvSpPr>
          <p:cNvPr id="21" name="Rectangle 20">
            <a:extLst>
              <a:ext uri="{FF2B5EF4-FFF2-40B4-BE49-F238E27FC236}">
                <a16:creationId xmlns:a16="http://schemas.microsoft.com/office/drawing/2014/main" id="{B70FF5D7-96D1-1AE5-018F-726E6FF9A05C}"/>
              </a:ext>
            </a:extLst>
          </p:cNvPr>
          <p:cNvSpPr/>
          <p:nvPr/>
        </p:nvSpPr>
        <p:spPr>
          <a:xfrm>
            <a:off x="6502400" y="3200400"/>
            <a:ext cx="444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D76EF24-C984-BCDD-D80F-D6E9B80FDE15}"/>
              </a:ext>
            </a:extLst>
          </p:cNvPr>
          <p:cNvSpPr/>
          <p:nvPr/>
        </p:nvSpPr>
        <p:spPr>
          <a:xfrm>
            <a:off x="6502400" y="3200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5192B94-F473-5352-2C10-6884BD6604F5}"/>
              </a:ext>
            </a:extLst>
          </p:cNvPr>
          <p:cNvSpPr txBox="1"/>
          <p:nvPr/>
        </p:nvSpPr>
        <p:spPr>
          <a:xfrm>
            <a:off x="6731000" y="3378200"/>
            <a:ext cx="406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Capital Source Rule</a:t>
            </a:r>
          </a:p>
        </p:txBody>
      </p:sp>
      <p:sp>
        <p:nvSpPr>
          <p:cNvPr id="24" name="TextBox 23">
            <a:extLst>
              <a:ext uri="{FF2B5EF4-FFF2-40B4-BE49-F238E27FC236}">
                <a16:creationId xmlns:a16="http://schemas.microsoft.com/office/drawing/2014/main" id="{B9F9270B-D1AD-9A36-84F4-A47A0686BD4A}"/>
              </a:ext>
            </a:extLst>
          </p:cNvPr>
          <p:cNvSpPr txBox="1"/>
          <p:nvPr/>
        </p:nvSpPr>
        <p:spPr>
          <a:xfrm>
            <a:off x="6731000" y="3759200"/>
            <a:ext cx="4064000" cy="646331"/>
          </a:xfrm>
          <a:prstGeom prst="rect">
            <a:avLst/>
          </a:prstGeom>
          <a:noFill/>
        </p:spPr>
        <p:txBody>
          <a:bodyPr vert="horz" wrap="square" rtlCol="0">
            <a:spAutoFit/>
          </a:bodyPr>
          <a:lstStyle/>
          <a:p>
            <a:r>
              <a:rPr lang="en-US" sz="1200" dirty="0">
                <a:solidFill>
                  <a:srgbClr val="666666"/>
                </a:solidFill>
                <a:latin typeface="Aptos" panose="020B0004020202020204" pitchFamily="34" charset="0"/>
              </a:rPr>
              <a:t>Class A and Class B member’s capital fund development/build completion. No construction loan is currently modeled.</a:t>
            </a:r>
          </a:p>
        </p:txBody>
      </p:sp>
    </p:spTree>
    <p:extLst>
      <p:ext uri="{BB962C8B-B14F-4D97-AF65-F5344CB8AC3E}">
        <p14:creationId xmlns:p14="http://schemas.microsoft.com/office/powerpoint/2010/main" val="3775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8219FE-4C26-F6D6-B48B-38E8F4199CC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E4B5CE-72CB-D0AB-2742-C5FD965A8E6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REFINANCE</a:t>
            </a:r>
          </a:p>
        </p:txBody>
      </p:sp>
      <p:sp>
        <p:nvSpPr>
          <p:cNvPr id="4" name="TextBox 3">
            <a:extLst>
              <a:ext uri="{FF2B5EF4-FFF2-40B4-BE49-F238E27FC236}">
                <a16:creationId xmlns:a16="http://schemas.microsoft.com/office/drawing/2014/main" id="{85A8C76C-67F6-5034-7652-921D566BA2C6}"/>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Refinance Takeout Structure</a:t>
            </a:r>
          </a:p>
        </p:txBody>
      </p:sp>
      <p:sp>
        <p:nvSpPr>
          <p:cNvPr id="5" name="Rectangle 4">
            <a:extLst>
              <a:ext uri="{FF2B5EF4-FFF2-40B4-BE49-F238E27FC236}">
                <a16:creationId xmlns:a16="http://schemas.microsoft.com/office/drawing/2014/main" id="{BDBF8D85-D0EB-0F97-747A-8487F252653D}"/>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F5C667-B003-9A6C-266A-A623E33BFA4B}"/>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194,000</a:t>
            </a:r>
          </a:p>
        </p:txBody>
      </p:sp>
      <p:sp>
        <p:nvSpPr>
          <p:cNvPr id="7" name="TextBox 6">
            <a:extLst>
              <a:ext uri="{FF2B5EF4-FFF2-40B4-BE49-F238E27FC236}">
                <a16:creationId xmlns:a16="http://schemas.microsoft.com/office/drawing/2014/main" id="{9DA8F0B4-2B06-F93E-805D-30F82692D271}"/>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Debt Payoff</a:t>
            </a:r>
          </a:p>
        </p:txBody>
      </p:sp>
      <p:sp>
        <p:nvSpPr>
          <p:cNvPr id="8" name="Rectangle 7">
            <a:extLst>
              <a:ext uri="{FF2B5EF4-FFF2-40B4-BE49-F238E27FC236}">
                <a16:creationId xmlns:a16="http://schemas.microsoft.com/office/drawing/2014/main" id="{10112779-5534-85A2-3CB1-0A9018B3CE9B}"/>
              </a:ext>
            </a:extLst>
          </p:cNvPr>
          <p:cNvSpPr/>
          <p:nvPr/>
        </p:nvSpPr>
        <p:spPr>
          <a:xfrm>
            <a:off x="3937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C9B1D5-D3A2-9AD1-3171-85801C00785D}"/>
              </a:ext>
            </a:extLst>
          </p:cNvPr>
          <p:cNvSpPr txBox="1"/>
          <p:nvPr/>
        </p:nvSpPr>
        <p:spPr>
          <a:xfrm>
            <a:off x="4114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732,276</a:t>
            </a:r>
          </a:p>
        </p:txBody>
      </p:sp>
      <p:sp>
        <p:nvSpPr>
          <p:cNvPr id="10" name="TextBox 9">
            <a:extLst>
              <a:ext uri="{FF2B5EF4-FFF2-40B4-BE49-F238E27FC236}">
                <a16:creationId xmlns:a16="http://schemas.microsoft.com/office/drawing/2014/main" id="{37A0B1E5-C553-F084-E965-0B34A35146CB}"/>
              </a:ext>
            </a:extLst>
          </p:cNvPr>
          <p:cNvSpPr txBox="1"/>
          <p:nvPr/>
        </p:nvSpPr>
        <p:spPr>
          <a:xfrm>
            <a:off x="4114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Refi Loan Amount</a:t>
            </a:r>
          </a:p>
        </p:txBody>
      </p:sp>
      <p:sp>
        <p:nvSpPr>
          <p:cNvPr id="11" name="Rectangle 10">
            <a:extLst>
              <a:ext uri="{FF2B5EF4-FFF2-40B4-BE49-F238E27FC236}">
                <a16:creationId xmlns:a16="http://schemas.microsoft.com/office/drawing/2014/main" id="{D9AA54DF-E2CE-0FE5-7CBF-8372C5270865}"/>
              </a:ext>
            </a:extLst>
          </p:cNvPr>
          <p:cNvSpPr/>
          <p:nvPr/>
        </p:nvSpPr>
        <p:spPr>
          <a:xfrm>
            <a:off x="6985000" y="16002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4467A3E-9360-626A-D2CE-6C1CC472E264}"/>
              </a:ext>
            </a:extLst>
          </p:cNvPr>
          <p:cNvSpPr txBox="1"/>
          <p:nvPr/>
        </p:nvSpPr>
        <p:spPr>
          <a:xfrm>
            <a:off x="7162800" y="17653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538,276</a:t>
            </a:r>
          </a:p>
        </p:txBody>
      </p:sp>
      <p:sp>
        <p:nvSpPr>
          <p:cNvPr id="13" name="TextBox 12">
            <a:extLst>
              <a:ext uri="{FF2B5EF4-FFF2-40B4-BE49-F238E27FC236}">
                <a16:creationId xmlns:a16="http://schemas.microsoft.com/office/drawing/2014/main" id="{B2DAA084-ABB5-2EFE-FEE2-73F5B1D41727}"/>
              </a:ext>
            </a:extLst>
          </p:cNvPr>
          <p:cNvSpPr txBox="1"/>
          <p:nvPr/>
        </p:nvSpPr>
        <p:spPr>
          <a:xfrm>
            <a:off x="7162800" y="22098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Net After Existing Debt</a:t>
            </a:r>
          </a:p>
        </p:txBody>
      </p:sp>
      <p:sp>
        <p:nvSpPr>
          <p:cNvPr id="14" name="Rectangle 13">
            <a:extLst>
              <a:ext uri="{FF2B5EF4-FFF2-40B4-BE49-F238E27FC236}">
                <a16:creationId xmlns:a16="http://schemas.microsoft.com/office/drawing/2014/main" id="{EC45E82E-A262-181A-EF04-F9D9A3134242}"/>
              </a:ext>
            </a:extLst>
          </p:cNvPr>
          <p:cNvSpPr/>
          <p:nvPr/>
        </p:nvSpPr>
        <p:spPr>
          <a:xfrm>
            <a:off x="10287000" y="16002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F8B0F5-7B16-496A-D3C1-08E9C29ED087}"/>
              </a:ext>
            </a:extLst>
          </p:cNvPr>
          <p:cNvSpPr txBox="1"/>
          <p:nvPr/>
        </p:nvSpPr>
        <p:spPr>
          <a:xfrm>
            <a:off x="10464800" y="17653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13,812</a:t>
            </a:r>
          </a:p>
        </p:txBody>
      </p:sp>
      <p:sp>
        <p:nvSpPr>
          <p:cNvPr id="16" name="TextBox 15">
            <a:extLst>
              <a:ext uri="{FF2B5EF4-FFF2-40B4-BE49-F238E27FC236}">
                <a16:creationId xmlns:a16="http://schemas.microsoft.com/office/drawing/2014/main" id="{1FF3F71D-49FB-A235-514F-D8BBAF50C30C}"/>
              </a:ext>
            </a:extLst>
          </p:cNvPr>
          <p:cNvSpPr txBox="1"/>
          <p:nvPr/>
        </p:nvSpPr>
        <p:spPr>
          <a:xfrm>
            <a:off x="10464800" y="2209800"/>
            <a:ext cx="1168400" cy="400110"/>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Annual Debt Service</a:t>
            </a:r>
          </a:p>
        </p:txBody>
      </p:sp>
      <p:sp>
        <p:nvSpPr>
          <p:cNvPr id="17" name="TextBox 16">
            <a:extLst>
              <a:ext uri="{FF2B5EF4-FFF2-40B4-BE49-F238E27FC236}">
                <a16:creationId xmlns:a16="http://schemas.microsoft.com/office/drawing/2014/main" id="{763FDCB8-4919-89CB-4C1F-E21454EBD720}"/>
              </a:ext>
            </a:extLst>
          </p:cNvPr>
          <p:cNvSpPr txBox="1"/>
          <p:nvPr/>
        </p:nvSpPr>
        <p:spPr>
          <a:xfrm>
            <a:off x="1117600" y="3429000"/>
            <a:ext cx="9779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Only new loan currently modeled is the stabilization refinance/takeout loan.</a:t>
            </a:r>
          </a:p>
          <a:p>
            <a:pPr>
              <a:spcAft>
                <a:spcPts val="800"/>
              </a:spcAft>
            </a:pPr>
            <a:r>
              <a:rPr lang="en-US" sz="1500" dirty="0">
                <a:solidFill>
                  <a:srgbClr val="2A2A2A"/>
                </a:solidFill>
                <a:latin typeface="Aptos" panose="020B0004020202020204" pitchFamily="34" charset="0"/>
              </a:rPr>
              <a:t>- Refinance loan is the lesser of 70% of stabilized value or existing debt plus Class A plus Class B capitalization.</a:t>
            </a:r>
          </a:p>
          <a:p>
            <a:pPr>
              <a:spcAft>
                <a:spcPts val="800"/>
              </a:spcAft>
            </a:pPr>
            <a:r>
              <a:rPr lang="en-US" sz="1500" dirty="0">
                <a:solidFill>
                  <a:srgbClr val="2A2A2A"/>
                </a:solidFill>
                <a:latin typeface="Aptos" panose="020B0004020202020204" pitchFamily="34" charset="0"/>
              </a:rPr>
              <a:t>- Operating cash and refinance proceeds flow through the waterfall according to the selected timing and priority rules.</a:t>
            </a:r>
          </a:p>
        </p:txBody>
      </p:sp>
    </p:spTree>
    <p:extLst>
      <p:ext uri="{BB962C8B-B14F-4D97-AF65-F5344CB8AC3E}">
        <p14:creationId xmlns:p14="http://schemas.microsoft.com/office/powerpoint/2010/main" val="3634742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7EFB11-4160-481A-B27F-1A644B8E019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8FF836-D160-99BE-0C70-2ED1017EE8A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RETURNS</a:t>
            </a:r>
          </a:p>
        </p:txBody>
      </p:sp>
      <p:sp>
        <p:nvSpPr>
          <p:cNvPr id="4" name="TextBox 3">
            <a:extLst>
              <a:ext uri="{FF2B5EF4-FFF2-40B4-BE49-F238E27FC236}">
                <a16:creationId xmlns:a16="http://schemas.microsoft.com/office/drawing/2014/main" id="{5B6E657A-D219-1422-F91A-27B25920568A}"/>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Waterfall and Returns Snapshot</a:t>
            </a:r>
          </a:p>
        </p:txBody>
      </p:sp>
      <p:sp>
        <p:nvSpPr>
          <p:cNvPr id="5" name="Rectangle 4">
            <a:extLst>
              <a:ext uri="{FF2B5EF4-FFF2-40B4-BE49-F238E27FC236}">
                <a16:creationId xmlns:a16="http://schemas.microsoft.com/office/drawing/2014/main" id="{400FFEC5-A5DC-6153-3DAE-97D8A85529CE}"/>
              </a:ext>
            </a:extLst>
          </p:cNvPr>
          <p:cNvSpPr/>
          <p:nvPr/>
        </p:nvSpPr>
        <p:spPr>
          <a:xfrm>
            <a:off x="9144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D8DAB4D-7C72-6517-878A-C62D63AF5C24}"/>
              </a:ext>
            </a:extLst>
          </p:cNvPr>
          <p:cNvSpPr/>
          <p:nvPr/>
        </p:nvSpPr>
        <p:spPr>
          <a:xfrm>
            <a:off x="9144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DB69F6E-52BC-3124-CA49-5C5AA96A01BA}"/>
              </a:ext>
            </a:extLst>
          </p:cNvPr>
          <p:cNvSpPr txBox="1"/>
          <p:nvPr/>
        </p:nvSpPr>
        <p:spPr>
          <a:xfrm>
            <a:off x="11430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A</a:t>
            </a:r>
          </a:p>
        </p:txBody>
      </p:sp>
      <p:sp>
        <p:nvSpPr>
          <p:cNvPr id="8" name="TextBox 7">
            <a:extLst>
              <a:ext uri="{FF2B5EF4-FFF2-40B4-BE49-F238E27FC236}">
                <a16:creationId xmlns:a16="http://schemas.microsoft.com/office/drawing/2014/main" id="{44434318-5395-D935-553C-1A5F79EA07BE}"/>
              </a:ext>
            </a:extLst>
          </p:cNvPr>
          <p:cNvSpPr txBox="1"/>
          <p:nvPr/>
        </p:nvSpPr>
        <p:spPr>
          <a:xfrm>
            <a:off x="11430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300,000</a:t>
            </a:r>
          </a:p>
          <a:p>
            <a:r>
              <a:rPr lang="en-US" sz="1200">
                <a:solidFill>
                  <a:srgbClr val="666666"/>
                </a:solidFill>
                <a:latin typeface="Aptos" panose="020B0004020202020204" pitchFamily="34" charset="0"/>
              </a:rPr>
              <a:t>Total Profit: 219,799 | IRR: 16.34%</a:t>
            </a:r>
          </a:p>
        </p:txBody>
      </p:sp>
      <p:sp>
        <p:nvSpPr>
          <p:cNvPr id="9" name="Rectangle 8">
            <a:extLst>
              <a:ext uri="{FF2B5EF4-FFF2-40B4-BE49-F238E27FC236}">
                <a16:creationId xmlns:a16="http://schemas.microsoft.com/office/drawing/2014/main" id="{76A5C7AE-867E-1029-3E23-5B1E7F4C8C95}"/>
              </a:ext>
            </a:extLst>
          </p:cNvPr>
          <p:cNvSpPr/>
          <p:nvPr/>
        </p:nvSpPr>
        <p:spPr>
          <a:xfrm>
            <a:off x="45720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15DA6D-71DE-95E9-0706-AC29FA854ABB}"/>
              </a:ext>
            </a:extLst>
          </p:cNvPr>
          <p:cNvSpPr/>
          <p:nvPr/>
        </p:nvSpPr>
        <p:spPr>
          <a:xfrm>
            <a:off x="45720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865570-65D1-8A44-73D9-314849EB49F7}"/>
              </a:ext>
            </a:extLst>
          </p:cNvPr>
          <p:cNvSpPr txBox="1"/>
          <p:nvPr/>
        </p:nvSpPr>
        <p:spPr>
          <a:xfrm>
            <a:off x="48006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B</a:t>
            </a:r>
          </a:p>
        </p:txBody>
      </p:sp>
      <p:sp>
        <p:nvSpPr>
          <p:cNvPr id="12" name="TextBox 11">
            <a:extLst>
              <a:ext uri="{FF2B5EF4-FFF2-40B4-BE49-F238E27FC236}">
                <a16:creationId xmlns:a16="http://schemas.microsoft.com/office/drawing/2014/main" id="{69F56499-51A2-807C-B6DF-F0818109D8A1}"/>
              </a:ext>
            </a:extLst>
          </p:cNvPr>
          <p:cNvSpPr txBox="1"/>
          <p:nvPr/>
        </p:nvSpPr>
        <p:spPr>
          <a:xfrm>
            <a:off x="48006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547,500</a:t>
            </a:r>
          </a:p>
          <a:p>
            <a:r>
              <a:rPr lang="en-US" sz="1200">
                <a:solidFill>
                  <a:srgbClr val="666666"/>
                </a:solidFill>
                <a:latin typeface="Aptos" panose="020B0004020202020204" pitchFamily="34" charset="0"/>
              </a:rPr>
              <a:t>Total Profit: 234,783 | IRR: 8.98%</a:t>
            </a:r>
          </a:p>
        </p:txBody>
      </p:sp>
      <p:sp>
        <p:nvSpPr>
          <p:cNvPr id="13" name="Rectangle 12">
            <a:extLst>
              <a:ext uri="{FF2B5EF4-FFF2-40B4-BE49-F238E27FC236}">
                <a16:creationId xmlns:a16="http://schemas.microsoft.com/office/drawing/2014/main" id="{27052D0C-F7D4-1E81-BD7D-4001D0703BAE}"/>
              </a:ext>
            </a:extLst>
          </p:cNvPr>
          <p:cNvSpPr/>
          <p:nvPr/>
        </p:nvSpPr>
        <p:spPr>
          <a:xfrm>
            <a:off x="8229600" y="1676400"/>
            <a:ext cx="3048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F93FB7-FDD7-01E5-EAA2-C4CB5F47C99F}"/>
              </a:ext>
            </a:extLst>
          </p:cNvPr>
          <p:cNvSpPr/>
          <p:nvPr/>
        </p:nvSpPr>
        <p:spPr>
          <a:xfrm>
            <a:off x="8229600" y="1676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4BCE9E-CE77-6055-EB44-A5E9E6E82671}"/>
              </a:ext>
            </a:extLst>
          </p:cNvPr>
          <p:cNvSpPr txBox="1"/>
          <p:nvPr/>
        </p:nvSpPr>
        <p:spPr>
          <a:xfrm>
            <a:off x="84582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a:t>
            </a:r>
          </a:p>
        </p:txBody>
      </p:sp>
      <p:sp>
        <p:nvSpPr>
          <p:cNvPr id="16" name="TextBox 15">
            <a:extLst>
              <a:ext uri="{FF2B5EF4-FFF2-40B4-BE49-F238E27FC236}">
                <a16:creationId xmlns:a16="http://schemas.microsoft.com/office/drawing/2014/main" id="{70941A56-E863-8BF7-CA24-C89A11E64448}"/>
              </a:ext>
            </a:extLst>
          </p:cNvPr>
          <p:cNvSpPr txBox="1"/>
          <p:nvPr/>
        </p:nvSpPr>
        <p:spPr>
          <a:xfrm>
            <a:off x="8458200" y="2235200"/>
            <a:ext cx="2667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136,283</a:t>
            </a:r>
          </a:p>
          <a:p>
            <a:r>
              <a:rPr lang="en-US" sz="1200">
                <a:solidFill>
                  <a:srgbClr val="666666"/>
                </a:solidFill>
                <a:latin typeface="Aptos" panose="020B0004020202020204" pitchFamily="34" charset="0"/>
              </a:rPr>
              <a:t>Property Payment/Basis: 100,000 | Total Profit: 327,148</a:t>
            </a:r>
          </a:p>
        </p:txBody>
      </p:sp>
      <p:sp>
        <p:nvSpPr>
          <p:cNvPr id="17" name="TextBox 16">
            <a:extLst>
              <a:ext uri="{FF2B5EF4-FFF2-40B4-BE49-F238E27FC236}">
                <a16:creationId xmlns:a16="http://schemas.microsoft.com/office/drawing/2014/main" id="{B7D29B62-A03B-4E6C-30AA-84224CC274FC}"/>
              </a:ext>
            </a:extLst>
          </p:cNvPr>
          <p:cNvSpPr txBox="1"/>
          <p:nvPr/>
        </p:nvSpPr>
        <p:spPr>
          <a:xfrm>
            <a:off x="1168400" y="4318000"/>
            <a:ext cx="9652000" cy="1159292"/>
          </a:xfrm>
          <a:prstGeom prst="rect">
            <a:avLst/>
          </a:prstGeom>
          <a:noFill/>
        </p:spPr>
        <p:txBody>
          <a:bodyPr vert="horz" wrap="square" rtlCol="0">
            <a:spAutoFit/>
          </a:bodyPr>
          <a:lstStyle/>
          <a:p>
            <a:pPr>
              <a:spcAft>
                <a:spcPts val="800"/>
              </a:spcAft>
            </a:pPr>
            <a:r>
              <a:rPr lang="en-US" sz="1400">
                <a:solidFill>
                  <a:srgbClr val="2A2A2A"/>
                </a:solidFill>
                <a:latin typeface="Aptos" panose="020B0004020202020204" pitchFamily="34" charset="0"/>
              </a:rPr>
              <a:t>- Sponsor residual share is currently 50%.</a:t>
            </a:r>
          </a:p>
          <a:p>
            <a:pPr>
              <a:spcAft>
                <a:spcPts val="800"/>
              </a:spcAft>
            </a:pPr>
            <a:r>
              <a:rPr lang="en-US" sz="1400">
                <a:solidFill>
                  <a:srgbClr val="2A2A2A"/>
                </a:solidFill>
                <a:latin typeface="Aptos" panose="020B0004020202020204" pitchFamily="34" charset="0"/>
              </a:rPr>
              <a:t>- The remaining 50% residual pool is split between Class A and Class B based on their relative capital investments; current result is Class A 18% and Class B 32%.</a:t>
            </a:r>
          </a:p>
          <a:p>
            <a:pPr>
              <a:spcAft>
                <a:spcPts val="800"/>
              </a:spcAft>
            </a:pPr>
            <a:r>
              <a:rPr lang="en-US" sz="1400">
                <a:solidFill>
                  <a:srgbClr val="2A2A2A"/>
                </a:solidFill>
                <a:latin typeface="Aptos" panose="020B0004020202020204" pitchFamily="34" charset="0"/>
              </a:rPr>
              <a:t>- Waterfall priority: reserve funding, Class A capital, Class B capital, accrued Class A preferred return, then residual split.</a:t>
            </a:r>
          </a:p>
        </p:txBody>
      </p:sp>
    </p:spTree>
    <p:extLst>
      <p:ext uri="{BB962C8B-B14F-4D97-AF65-F5344CB8AC3E}">
        <p14:creationId xmlns:p14="http://schemas.microsoft.com/office/powerpoint/2010/main" val="328324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7A010-8E87-9A91-7088-AA5CE7F238C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3334CD-1FB0-2AA5-F182-8B2C0F650AA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RISK</a:t>
            </a:r>
          </a:p>
        </p:txBody>
      </p:sp>
      <p:sp>
        <p:nvSpPr>
          <p:cNvPr id="4" name="TextBox 3">
            <a:extLst>
              <a:ext uri="{FF2B5EF4-FFF2-40B4-BE49-F238E27FC236}">
                <a16:creationId xmlns:a16="http://schemas.microsoft.com/office/drawing/2014/main" id="{AF758B61-CAF6-770D-09F6-3DCDF7798F90}"/>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Key Risks and Mitigants</a:t>
            </a:r>
          </a:p>
        </p:txBody>
      </p:sp>
      <p:sp>
        <p:nvSpPr>
          <p:cNvPr id="5" name="Rectangle 4">
            <a:extLst>
              <a:ext uri="{FF2B5EF4-FFF2-40B4-BE49-F238E27FC236}">
                <a16:creationId xmlns:a16="http://schemas.microsoft.com/office/drawing/2014/main" id="{6DFC9BFE-1683-E509-40C3-1C7407D0FF03}"/>
              </a:ext>
            </a:extLst>
          </p:cNvPr>
          <p:cNvSpPr/>
          <p:nvPr/>
        </p:nvSpPr>
        <p:spPr>
          <a:xfrm>
            <a:off x="8636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7A40CA-0149-28AD-BC06-24ED4D6C19B9}"/>
              </a:ext>
            </a:extLst>
          </p:cNvPr>
          <p:cNvSpPr/>
          <p:nvPr/>
        </p:nvSpPr>
        <p:spPr>
          <a:xfrm>
            <a:off x="8636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E728FB-02D6-C610-0D97-9B7B1DACBBA7}"/>
              </a:ext>
            </a:extLst>
          </p:cNvPr>
          <p:cNvSpPr txBox="1"/>
          <p:nvPr/>
        </p:nvSpPr>
        <p:spPr>
          <a:xfrm>
            <a:off x="10922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Wastewater / Septic</a:t>
            </a:r>
          </a:p>
        </p:txBody>
      </p:sp>
      <p:sp>
        <p:nvSpPr>
          <p:cNvPr id="8" name="TextBox 7">
            <a:extLst>
              <a:ext uri="{FF2B5EF4-FFF2-40B4-BE49-F238E27FC236}">
                <a16:creationId xmlns:a16="http://schemas.microsoft.com/office/drawing/2014/main" id="{F6D2BAF9-BD54-D2EC-1096-A9EF3742FC82}"/>
              </a:ext>
            </a:extLst>
          </p:cNvPr>
          <p:cNvSpPr txBox="1"/>
          <p:nvPr/>
        </p:nvSpPr>
        <p:spPr>
          <a:xfrm>
            <a:off x="10922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engineered system cost or density constraint. Mitigation: early soil, septic, wastewater engineering and Wake County coordination.</a:t>
            </a:r>
          </a:p>
        </p:txBody>
      </p:sp>
      <p:sp>
        <p:nvSpPr>
          <p:cNvPr id="9" name="Rectangle 8">
            <a:extLst>
              <a:ext uri="{FF2B5EF4-FFF2-40B4-BE49-F238E27FC236}">
                <a16:creationId xmlns:a16="http://schemas.microsoft.com/office/drawing/2014/main" id="{D2B004EF-1EF1-9C71-8418-7D8004495675}"/>
              </a:ext>
            </a:extLst>
          </p:cNvPr>
          <p:cNvSpPr/>
          <p:nvPr/>
        </p:nvSpPr>
        <p:spPr>
          <a:xfrm>
            <a:off x="44450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686A8C5-1671-58DC-8D39-0480B0A1A69D}"/>
              </a:ext>
            </a:extLst>
          </p:cNvPr>
          <p:cNvSpPr/>
          <p:nvPr/>
        </p:nvSpPr>
        <p:spPr>
          <a:xfrm>
            <a:off x="44450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803E45-A9C6-C178-9E57-A0A49F54BB71}"/>
              </a:ext>
            </a:extLst>
          </p:cNvPr>
          <p:cNvSpPr txBox="1"/>
          <p:nvPr/>
        </p:nvSpPr>
        <p:spPr>
          <a:xfrm>
            <a:off x="4673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Utilities / Entitlement</a:t>
            </a:r>
          </a:p>
        </p:txBody>
      </p:sp>
      <p:sp>
        <p:nvSpPr>
          <p:cNvPr id="12" name="TextBox 11">
            <a:extLst>
              <a:ext uri="{FF2B5EF4-FFF2-40B4-BE49-F238E27FC236}">
                <a16:creationId xmlns:a16="http://schemas.microsoft.com/office/drawing/2014/main" id="{949CAC00-7414-0416-1427-0B5F83161D5C}"/>
              </a:ext>
            </a:extLst>
          </p:cNvPr>
          <p:cNvSpPr txBox="1"/>
          <p:nvPr/>
        </p:nvSpPr>
        <p:spPr>
          <a:xfrm>
            <a:off x="4673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no planned municipal water/sewer extension. Mitigation: proceed with private utility and onsite wastewater feasibility as base case.</a:t>
            </a:r>
          </a:p>
        </p:txBody>
      </p:sp>
      <p:sp>
        <p:nvSpPr>
          <p:cNvPr id="13" name="Rectangle 12">
            <a:extLst>
              <a:ext uri="{FF2B5EF4-FFF2-40B4-BE49-F238E27FC236}">
                <a16:creationId xmlns:a16="http://schemas.microsoft.com/office/drawing/2014/main" id="{9996A101-5C76-EE0C-8A2A-FF93E1E59682}"/>
              </a:ext>
            </a:extLst>
          </p:cNvPr>
          <p:cNvSpPr/>
          <p:nvPr/>
        </p:nvSpPr>
        <p:spPr>
          <a:xfrm>
            <a:off x="80264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4FF2BA-FBA4-BA37-F815-E379B0555652}"/>
              </a:ext>
            </a:extLst>
          </p:cNvPr>
          <p:cNvSpPr/>
          <p:nvPr/>
        </p:nvSpPr>
        <p:spPr>
          <a:xfrm>
            <a:off x="80264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A059F9F-DA44-6796-1FBB-4E2DA996B513}"/>
              </a:ext>
            </a:extLst>
          </p:cNvPr>
          <p:cNvSpPr txBox="1"/>
          <p:nvPr/>
        </p:nvSpPr>
        <p:spPr>
          <a:xfrm>
            <a:off x="82550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Construction Cost</a:t>
            </a:r>
          </a:p>
        </p:txBody>
      </p:sp>
      <p:sp>
        <p:nvSpPr>
          <p:cNvPr id="16" name="TextBox 15">
            <a:extLst>
              <a:ext uri="{FF2B5EF4-FFF2-40B4-BE49-F238E27FC236}">
                <a16:creationId xmlns:a16="http://schemas.microsoft.com/office/drawing/2014/main" id="{33EBF3AF-CF10-4CE7-0F5B-B6810B255559}"/>
              </a:ext>
            </a:extLst>
          </p:cNvPr>
          <p:cNvSpPr txBox="1"/>
          <p:nvPr/>
        </p:nvSpPr>
        <p:spPr>
          <a:xfrm>
            <a:off x="82550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budget creep above sponsor-controlled range. Mitigation: post-frame system, owner equipment/crew, scope discipline, contingency.</a:t>
            </a:r>
          </a:p>
        </p:txBody>
      </p:sp>
      <p:sp>
        <p:nvSpPr>
          <p:cNvPr id="17" name="Rectangle 16">
            <a:extLst>
              <a:ext uri="{FF2B5EF4-FFF2-40B4-BE49-F238E27FC236}">
                <a16:creationId xmlns:a16="http://schemas.microsoft.com/office/drawing/2014/main" id="{622643FE-EBFA-C7BD-A428-817322B32E98}"/>
              </a:ext>
            </a:extLst>
          </p:cNvPr>
          <p:cNvSpPr/>
          <p:nvPr/>
        </p:nvSpPr>
        <p:spPr>
          <a:xfrm>
            <a:off x="2667000" y="4013200"/>
            <a:ext cx="6858000" cy="1524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741BF1-F5A1-3689-3192-0348B0018C49}"/>
              </a:ext>
            </a:extLst>
          </p:cNvPr>
          <p:cNvSpPr/>
          <p:nvPr/>
        </p:nvSpPr>
        <p:spPr>
          <a:xfrm>
            <a:off x="2667000" y="4013200"/>
            <a:ext cx="76200" cy="1524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AB4AA3A-CEFC-B2C9-D6C1-EF4FA1312139}"/>
              </a:ext>
            </a:extLst>
          </p:cNvPr>
          <p:cNvSpPr txBox="1"/>
          <p:nvPr/>
        </p:nvSpPr>
        <p:spPr>
          <a:xfrm>
            <a:off x="2895600" y="4191000"/>
            <a:ext cx="647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Lease-Up / STR Operations</a:t>
            </a:r>
          </a:p>
        </p:txBody>
      </p:sp>
      <p:sp>
        <p:nvSpPr>
          <p:cNvPr id="20" name="TextBox 19">
            <a:extLst>
              <a:ext uri="{FF2B5EF4-FFF2-40B4-BE49-F238E27FC236}">
                <a16:creationId xmlns:a16="http://schemas.microsoft.com/office/drawing/2014/main" id="{A8EDBFE6-93BF-709A-628D-6DEF5E46B4E2}"/>
              </a:ext>
            </a:extLst>
          </p:cNvPr>
          <p:cNvSpPr txBox="1"/>
          <p:nvPr/>
        </p:nvSpPr>
        <p:spPr>
          <a:xfrm>
            <a:off x="2895600" y="4572000"/>
            <a:ext cx="647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co-living rent acceptance, STR booking depth, and occupancy pace. Mitigation: flexible furnished medium-term and workforce/professional tenant positioning.</a:t>
            </a:r>
          </a:p>
        </p:txBody>
      </p:sp>
    </p:spTree>
    <p:extLst>
      <p:ext uri="{BB962C8B-B14F-4D97-AF65-F5344CB8AC3E}">
        <p14:creationId xmlns:p14="http://schemas.microsoft.com/office/powerpoint/2010/main" val="374150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6B8CC1-F767-165C-DAB9-DA9555AC59AF}"/>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17D4EE-6B67-F2CE-8465-C761C284627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TIMELINE</a:t>
            </a:r>
          </a:p>
        </p:txBody>
      </p:sp>
      <p:sp>
        <p:nvSpPr>
          <p:cNvPr id="4" name="TextBox 3">
            <a:extLst>
              <a:ext uri="{FF2B5EF4-FFF2-40B4-BE49-F238E27FC236}">
                <a16:creationId xmlns:a16="http://schemas.microsoft.com/office/drawing/2014/main" id="{A679C442-88B8-B4BD-6944-216B191ECEF2}"/>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Execution Path</a:t>
            </a:r>
          </a:p>
        </p:txBody>
      </p:sp>
      <p:sp>
        <p:nvSpPr>
          <p:cNvPr id="5" name="Rectangle 4">
            <a:extLst>
              <a:ext uri="{FF2B5EF4-FFF2-40B4-BE49-F238E27FC236}">
                <a16:creationId xmlns:a16="http://schemas.microsoft.com/office/drawing/2014/main" id="{D8A47B4A-1C0F-735C-BC31-C23D3FF3F392}"/>
              </a:ext>
            </a:extLst>
          </p:cNvPr>
          <p:cNvSpPr/>
          <p:nvPr/>
        </p:nvSpPr>
        <p:spPr>
          <a:xfrm>
            <a:off x="8128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99B7ACB-8654-148B-DE77-C2FA1613B26D}"/>
              </a:ext>
            </a:extLst>
          </p:cNvPr>
          <p:cNvSpPr/>
          <p:nvPr/>
        </p:nvSpPr>
        <p:spPr>
          <a:xfrm>
            <a:off x="8128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EB1CF3-2D69-0227-A170-67CE65EE4084}"/>
              </a:ext>
            </a:extLst>
          </p:cNvPr>
          <p:cNvSpPr txBox="1"/>
          <p:nvPr/>
        </p:nvSpPr>
        <p:spPr>
          <a:xfrm>
            <a:off x="1041400" y="1828800"/>
            <a:ext cx="2032000" cy="523220"/>
          </a:xfrm>
          <a:prstGeom prst="rect">
            <a:avLst/>
          </a:prstGeom>
          <a:noFill/>
        </p:spPr>
        <p:txBody>
          <a:bodyPr vert="horz" wrap="square" rtlCol="0">
            <a:spAutoFit/>
          </a:bodyPr>
          <a:lstStyle/>
          <a:p>
            <a:r>
              <a:rPr lang="en-US" sz="1400" b="1">
                <a:solidFill>
                  <a:srgbClr val="2A2A2A"/>
                </a:solidFill>
                <a:latin typeface="Aptos" panose="020B0004020202020204" pitchFamily="34" charset="0"/>
              </a:rPr>
              <a:t>1. Entitlement + Engineering</a:t>
            </a:r>
          </a:p>
        </p:txBody>
      </p:sp>
      <p:sp>
        <p:nvSpPr>
          <p:cNvPr id="8" name="TextBox 7">
            <a:extLst>
              <a:ext uri="{FF2B5EF4-FFF2-40B4-BE49-F238E27FC236}">
                <a16:creationId xmlns:a16="http://schemas.microsoft.com/office/drawing/2014/main" id="{14EA1610-FF84-8562-6361-D2D51FE38B7B}"/>
              </a:ext>
            </a:extLst>
          </p:cNvPr>
          <p:cNvSpPr txBox="1"/>
          <p:nvPr/>
        </p:nvSpPr>
        <p:spPr>
          <a:xfrm>
            <a:off x="1041400" y="2209800"/>
            <a:ext cx="2032000" cy="1200329"/>
          </a:xfrm>
          <a:prstGeom prst="rect">
            <a:avLst/>
          </a:prstGeom>
          <a:noFill/>
        </p:spPr>
        <p:txBody>
          <a:bodyPr vert="horz" wrap="square" rtlCol="0">
            <a:spAutoFit/>
          </a:bodyPr>
          <a:lstStyle/>
          <a:p>
            <a:r>
              <a:rPr lang="en-US" sz="1200">
                <a:solidFill>
                  <a:srgbClr val="666666"/>
                </a:solidFill>
                <a:latin typeface="Aptos" panose="020B0004020202020204" pitchFamily="34" charset="0"/>
              </a:rPr>
              <a:t>Confirm zoning classification, occupancy treatment, parking, soil/septic/wastewater feasibility, and private utility path.</a:t>
            </a:r>
          </a:p>
        </p:txBody>
      </p:sp>
      <p:sp>
        <p:nvSpPr>
          <p:cNvPr id="9" name="Rectangle 8">
            <a:extLst>
              <a:ext uri="{FF2B5EF4-FFF2-40B4-BE49-F238E27FC236}">
                <a16:creationId xmlns:a16="http://schemas.microsoft.com/office/drawing/2014/main" id="{AA8B382D-153B-075B-23BE-7C4791238BA2}"/>
              </a:ext>
            </a:extLst>
          </p:cNvPr>
          <p:cNvSpPr/>
          <p:nvPr/>
        </p:nvSpPr>
        <p:spPr>
          <a:xfrm>
            <a:off x="35306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2ABF3D1-9E21-1F0E-E8B6-EB94F3FD98F4}"/>
              </a:ext>
            </a:extLst>
          </p:cNvPr>
          <p:cNvSpPr/>
          <p:nvPr/>
        </p:nvSpPr>
        <p:spPr>
          <a:xfrm>
            <a:off x="35306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DB86D0-4F4A-C118-52D1-6938A7D05BBC}"/>
              </a:ext>
            </a:extLst>
          </p:cNvPr>
          <p:cNvSpPr txBox="1"/>
          <p:nvPr/>
        </p:nvSpPr>
        <p:spPr>
          <a:xfrm>
            <a:off x="37592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2. Capital Formation</a:t>
            </a:r>
          </a:p>
        </p:txBody>
      </p:sp>
      <p:sp>
        <p:nvSpPr>
          <p:cNvPr id="12" name="TextBox 11">
            <a:extLst>
              <a:ext uri="{FF2B5EF4-FFF2-40B4-BE49-F238E27FC236}">
                <a16:creationId xmlns:a16="http://schemas.microsoft.com/office/drawing/2014/main" id="{1568F684-687D-017B-47A5-552CC95F11E0}"/>
              </a:ext>
            </a:extLst>
          </p:cNvPr>
          <p:cNvSpPr txBox="1"/>
          <p:nvPr/>
        </p:nvSpPr>
        <p:spPr>
          <a:xfrm>
            <a:off x="3759200" y="2209800"/>
            <a:ext cx="2032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Finalize trust/member documents, Class A capital, Class B completion capital, and sponsor contribution assumptions.</a:t>
            </a:r>
          </a:p>
        </p:txBody>
      </p:sp>
      <p:sp>
        <p:nvSpPr>
          <p:cNvPr id="13" name="Rectangle 12">
            <a:extLst>
              <a:ext uri="{FF2B5EF4-FFF2-40B4-BE49-F238E27FC236}">
                <a16:creationId xmlns:a16="http://schemas.microsoft.com/office/drawing/2014/main" id="{78BF06C4-4689-DCD8-2423-2370A973660D}"/>
              </a:ext>
            </a:extLst>
          </p:cNvPr>
          <p:cNvSpPr/>
          <p:nvPr/>
        </p:nvSpPr>
        <p:spPr>
          <a:xfrm>
            <a:off x="62484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BE6E62-ECFE-5D6E-7ECF-FF048CE94FF1}"/>
              </a:ext>
            </a:extLst>
          </p:cNvPr>
          <p:cNvSpPr/>
          <p:nvPr/>
        </p:nvSpPr>
        <p:spPr>
          <a:xfrm>
            <a:off x="62484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B3325D-692D-A27A-8092-F42A0360C280}"/>
              </a:ext>
            </a:extLst>
          </p:cNvPr>
          <p:cNvSpPr txBox="1"/>
          <p:nvPr/>
        </p:nvSpPr>
        <p:spPr>
          <a:xfrm>
            <a:off x="64770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3. Design + Permit</a:t>
            </a:r>
          </a:p>
        </p:txBody>
      </p:sp>
      <p:sp>
        <p:nvSpPr>
          <p:cNvPr id="16" name="TextBox 15">
            <a:extLst>
              <a:ext uri="{FF2B5EF4-FFF2-40B4-BE49-F238E27FC236}">
                <a16:creationId xmlns:a16="http://schemas.microsoft.com/office/drawing/2014/main" id="{6505C633-8C8E-BC50-CBED-67005C21B602}"/>
              </a:ext>
            </a:extLst>
          </p:cNvPr>
          <p:cNvSpPr txBox="1"/>
          <p:nvPr/>
        </p:nvSpPr>
        <p:spPr>
          <a:xfrm>
            <a:off x="64770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Advance architecture, civil, wastewater, and construction pricing to permit-ready package.</a:t>
            </a:r>
          </a:p>
        </p:txBody>
      </p:sp>
      <p:sp>
        <p:nvSpPr>
          <p:cNvPr id="17" name="Rectangle 16">
            <a:extLst>
              <a:ext uri="{FF2B5EF4-FFF2-40B4-BE49-F238E27FC236}">
                <a16:creationId xmlns:a16="http://schemas.microsoft.com/office/drawing/2014/main" id="{1342D96E-B4DF-18F6-016E-4FDAAAEA4FC3}"/>
              </a:ext>
            </a:extLst>
          </p:cNvPr>
          <p:cNvSpPr/>
          <p:nvPr/>
        </p:nvSpPr>
        <p:spPr>
          <a:xfrm>
            <a:off x="89662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66DCF6-FFBA-38D3-C93F-9472BF4B55A9}"/>
              </a:ext>
            </a:extLst>
          </p:cNvPr>
          <p:cNvSpPr/>
          <p:nvPr/>
        </p:nvSpPr>
        <p:spPr>
          <a:xfrm>
            <a:off x="89662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993ECBE-55F3-3112-C4D8-ACC08798314E}"/>
              </a:ext>
            </a:extLst>
          </p:cNvPr>
          <p:cNvSpPr txBox="1"/>
          <p:nvPr/>
        </p:nvSpPr>
        <p:spPr>
          <a:xfrm>
            <a:off x="91948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4. Build + Stabilize</a:t>
            </a:r>
          </a:p>
        </p:txBody>
      </p:sp>
      <p:sp>
        <p:nvSpPr>
          <p:cNvPr id="20" name="TextBox 19">
            <a:extLst>
              <a:ext uri="{FF2B5EF4-FFF2-40B4-BE49-F238E27FC236}">
                <a16:creationId xmlns:a16="http://schemas.microsoft.com/office/drawing/2014/main" id="{8BE36E28-C787-0AA0-3D69-3565614668E5}"/>
              </a:ext>
            </a:extLst>
          </p:cNvPr>
          <p:cNvSpPr txBox="1"/>
          <p:nvPr/>
        </p:nvSpPr>
        <p:spPr>
          <a:xfrm>
            <a:off x="91948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Deliver post-frame building, lease suites, stabilize occupancy, refinance, and execute waterfall.</a:t>
            </a:r>
          </a:p>
        </p:txBody>
      </p:sp>
      <p:sp>
        <p:nvSpPr>
          <p:cNvPr id="21" name="TextBox 20">
            <a:extLst>
              <a:ext uri="{FF2B5EF4-FFF2-40B4-BE49-F238E27FC236}">
                <a16:creationId xmlns:a16="http://schemas.microsoft.com/office/drawing/2014/main" id="{5B717B9A-B377-6A47-A485-BA58F3E2A4DD}"/>
              </a:ext>
            </a:extLst>
          </p:cNvPr>
          <p:cNvSpPr txBox="1"/>
          <p:nvPr/>
        </p:nvSpPr>
        <p:spPr>
          <a:xfrm>
            <a:off x="1092200" y="5003800"/>
            <a:ext cx="9652000" cy="584775"/>
          </a:xfrm>
          <a:prstGeom prst="rect">
            <a:avLst/>
          </a:prstGeom>
          <a:noFill/>
        </p:spPr>
        <p:txBody>
          <a:bodyPr vert="horz" wrap="square" rtlCol="0">
            <a:spAutoFit/>
          </a:bodyPr>
          <a:lstStyle/>
          <a:p>
            <a:r>
              <a:rPr lang="en-US" sz="1600" b="1" dirty="0">
                <a:solidFill>
                  <a:srgbClr val="2A2A2A"/>
                </a:solidFill>
                <a:latin typeface="Aptos" panose="020B0004020202020204" pitchFamily="34" charset="0"/>
              </a:rPr>
              <a:t>- Current model stabilization/refinance year: Year 3. </a:t>
            </a:r>
          </a:p>
          <a:p>
            <a:r>
              <a:rPr lang="en-US" sz="1600" b="1" dirty="0">
                <a:solidFill>
                  <a:srgbClr val="2A2A2A"/>
                </a:solidFill>
                <a:latin typeface="Aptos" panose="020B0004020202020204" pitchFamily="34" charset="0"/>
              </a:rPr>
              <a:t>- Current sale/exit year: Year 5.</a:t>
            </a:r>
          </a:p>
        </p:txBody>
      </p:sp>
    </p:spTree>
    <p:extLst>
      <p:ext uri="{BB962C8B-B14F-4D97-AF65-F5344CB8AC3E}">
        <p14:creationId xmlns:p14="http://schemas.microsoft.com/office/powerpoint/2010/main" val="371624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F6F4A5D-3E66-A6B2-152A-AA5E0439563E}"/>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97E78D8B-6A78-6CBC-24A5-071FCAAE36C0}"/>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Rent Option Comparison</a:t>
            </a:r>
          </a:p>
        </p:txBody>
      </p:sp>
      <p:sp>
        <p:nvSpPr>
          <p:cNvPr id="9" name="TextBox 8">
            <a:extLst>
              <a:ext uri="{FF2B5EF4-FFF2-40B4-BE49-F238E27FC236}">
                <a16:creationId xmlns:a16="http://schemas.microsoft.com/office/drawing/2014/main" id="{58C6886E-8836-2BDE-EC05-2F28DD183515}"/>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STR scenarios are positioned behind the base case as upside comparisons, not as the starting underwriting case.</a:t>
            </a:r>
          </a:p>
        </p:txBody>
      </p:sp>
      <p:graphicFrame>
        <p:nvGraphicFramePr>
          <p:cNvPr id="10" name="Table 9">
            <a:extLst>
              <a:ext uri="{FF2B5EF4-FFF2-40B4-BE49-F238E27FC236}">
                <a16:creationId xmlns:a16="http://schemas.microsoft.com/office/drawing/2014/main" id="{415C2F06-AD5C-3AE3-81D0-EE5E0BD78CE1}"/>
              </a:ext>
            </a:extLst>
          </p:cNvPr>
          <p:cNvGraphicFramePr>
            <a:graphicFrameLocks noGrp="1"/>
          </p:cNvGraphicFramePr>
          <p:nvPr>
            <p:extLst>
              <p:ext uri="{D42A27DB-BD31-4B8C-83A1-F6EECF244321}">
                <p14:modId xmlns:p14="http://schemas.microsoft.com/office/powerpoint/2010/main" val="1087516981"/>
              </p:ext>
            </p:extLst>
          </p:nvPr>
        </p:nvGraphicFramePr>
        <p:xfrm>
          <a:off x="698500" y="1841500"/>
          <a:ext cx="7493000" cy="1727200"/>
        </p:xfrm>
        <a:graphic>
          <a:graphicData uri="http://schemas.openxmlformats.org/drawingml/2006/table">
            <a:tbl>
              <a:tblPr firstRow="1" bandRow="1">
                <a:tableStyleId>{5C22544A-7EE6-4342-B048-85BDC9FD1C3A}</a:tableStyleId>
              </a:tblPr>
              <a:tblGrid>
                <a:gridCol w="1873250">
                  <a:extLst>
                    <a:ext uri="{9D8B030D-6E8A-4147-A177-3AD203B41FA5}">
                      <a16:colId xmlns:a16="http://schemas.microsoft.com/office/drawing/2014/main" val="3806897580"/>
                    </a:ext>
                  </a:extLst>
                </a:gridCol>
                <a:gridCol w="1873250">
                  <a:extLst>
                    <a:ext uri="{9D8B030D-6E8A-4147-A177-3AD203B41FA5}">
                      <a16:colId xmlns:a16="http://schemas.microsoft.com/office/drawing/2014/main" val="2933325193"/>
                    </a:ext>
                  </a:extLst>
                </a:gridCol>
                <a:gridCol w="1873250">
                  <a:extLst>
                    <a:ext uri="{9D8B030D-6E8A-4147-A177-3AD203B41FA5}">
                      <a16:colId xmlns:a16="http://schemas.microsoft.com/office/drawing/2014/main" val="3780354126"/>
                    </a:ext>
                  </a:extLst>
                </a:gridCol>
                <a:gridCol w="1873250">
                  <a:extLst>
                    <a:ext uri="{9D8B030D-6E8A-4147-A177-3AD203B41FA5}">
                      <a16:colId xmlns:a16="http://schemas.microsoft.com/office/drawing/2014/main" val="3492875222"/>
                    </a:ext>
                  </a:extLst>
                </a:gridCol>
              </a:tblGrid>
              <a:tr h="431800">
                <a:tc>
                  <a:txBody>
                    <a:bodyPr/>
                    <a:lstStyle/>
                    <a:p>
                      <a:r>
                        <a:rPr lang="en-US" sz="900" b="1">
                          <a:solidFill>
                            <a:srgbClr val="183B4A"/>
                          </a:solidFill>
                          <a:latin typeface="Aptos" panose="020B0004020202020204" pitchFamily="34" charset="0"/>
                        </a:rPr>
                        <a:t>Scenario</a:t>
                      </a:r>
                    </a:p>
                  </a:txBody>
                  <a:tcPr>
                    <a:solidFill>
                      <a:srgbClr val="E7F0EF"/>
                    </a:solidFill>
                  </a:tcPr>
                </a:tc>
                <a:tc>
                  <a:txBody>
                    <a:bodyPr/>
                    <a:lstStyle/>
                    <a:p>
                      <a:r>
                        <a:rPr lang="en-US" sz="900" b="1">
                          <a:solidFill>
                            <a:srgbClr val="183B4A"/>
                          </a:solidFill>
                          <a:latin typeface="Aptos" panose="020B0004020202020204" pitchFamily="34" charset="0"/>
                        </a:rPr>
                        <a:t>Year 1 Gross</a:t>
                      </a:r>
                    </a:p>
                  </a:txBody>
                  <a:tcPr>
                    <a:solidFill>
                      <a:srgbClr val="E7F0EF"/>
                    </a:solidFill>
                  </a:tcPr>
                </a:tc>
                <a:tc>
                  <a:txBody>
                    <a:bodyPr/>
                    <a:lstStyle/>
                    <a:p>
                      <a:r>
                        <a:rPr lang="en-US" sz="900" b="1">
                          <a:solidFill>
                            <a:srgbClr val="183B4A"/>
                          </a:solidFill>
                          <a:latin typeface="Aptos" panose="020B0004020202020204" pitchFamily="34" charset="0"/>
                        </a:rPr>
                        <a:t>Stabilized Gross</a:t>
                      </a:r>
                    </a:p>
                  </a:txBody>
                  <a:tcPr>
                    <a:solidFill>
                      <a:srgbClr val="E7F0EF"/>
                    </a:solidFill>
                  </a:tcPr>
                </a:tc>
                <a:tc>
                  <a:txBody>
                    <a:bodyPr/>
                    <a:lstStyle/>
                    <a:p>
                      <a:r>
                        <a:rPr lang="en-US" sz="900" b="1">
                          <a:solidFill>
                            <a:srgbClr val="183B4A"/>
                          </a:solidFill>
                          <a:latin typeface="Aptos" panose="020B0004020202020204" pitchFamily="34" charset="0"/>
                        </a:rPr>
                        <a:t>Use in Model</a:t>
                      </a:r>
                    </a:p>
                  </a:txBody>
                  <a:tcPr>
                    <a:solidFill>
                      <a:srgbClr val="E7F0EF"/>
                    </a:solidFill>
                  </a:tcPr>
                </a:tc>
                <a:extLst>
                  <a:ext uri="{0D108BD9-81ED-4DB2-BD59-A6C34878D82A}">
                    <a16:rowId xmlns:a16="http://schemas.microsoft.com/office/drawing/2014/main" val="2702145141"/>
                  </a:ext>
                </a:extLst>
              </a:tr>
              <a:tr h="431800">
                <a:tc>
                  <a:txBody>
                    <a:bodyPr/>
                    <a:lstStyle/>
                    <a:p>
                      <a:r>
                        <a:rPr lang="en-US" sz="850">
                          <a:solidFill>
                            <a:srgbClr val="1F2933"/>
                          </a:solidFill>
                          <a:latin typeface="Aptos" panose="020B0004020202020204" pitchFamily="34" charset="0"/>
                        </a:rPr>
                        <a:t>Base Co-Living / Medium-Term</a:t>
                      </a:r>
                    </a:p>
                  </a:txBody>
                  <a:tcPr/>
                </a:tc>
                <a:tc>
                  <a:txBody>
                    <a:bodyPr/>
                    <a:lstStyle/>
                    <a:p>
                      <a:r>
                        <a:rPr lang="en-US" sz="850">
                          <a:solidFill>
                            <a:srgbClr val="1F2933"/>
                          </a:solidFill>
                          <a:latin typeface="Aptos" panose="020B0004020202020204" pitchFamily="34" charset="0"/>
                        </a:rPr>
                        <a:t>105,600</a:t>
                      </a:r>
                    </a:p>
                  </a:txBody>
                  <a:tcPr/>
                </a:tc>
                <a:tc>
                  <a:txBody>
                    <a:bodyPr/>
                    <a:lstStyle/>
                    <a:p>
                      <a:r>
                        <a:rPr lang="en-US" sz="850">
                          <a:solidFill>
                            <a:srgbClr val="1F2933"/>
                          </a:solidFill>
                          <a:latin typeface="Aptos" panose="020B0004020202020204" pitchFamily="34" charset="0"/>
                        </a:rPr>
                        <a:t>144,000</a:t>
                      </a:r>
                    </a:p>
                  </a:txBody>
                  <a:tcPr/>
                </a:tc>
                <a:tc>
                  <a:txBody>
                    <a:bodyPr/>
                    <a:lstStyle/>
                    <a:p>
                      <a:r>
                        <a:rPr lang="en-US" sz="850">
                          <a:solidFill>
                            <a:srgbClr val="1F2933"/>
                          </a:solidFill>
                          <a:latin typeface="Aptos" panose="020B0004020202020204" pitchFamily="34" charset="0"/>
                        </a:rPr>
                        <a:t>Control case</a:t>
                      </a:r>
                    </a:p>
                  </a:txBody>
                  <a:tcPr/>
                </a:tc>
                <a:extLst>
                  <a:ext uri="{0D108BD9-81ED-4DB2-BD59-A6C34878D82A}">
                    <a16:rowId xmlns:a16="http://schemas.microsoft.com/office/drawing/2014/main" val="2099813298"/>
                  </a:ext>
                </a:extLst>
              </a:tr>
              <a:tr h="431800">
                <a:tc>
                  <a:txBody>
                    <a:bodyPr/>
                    <a:lstStyle/>
                    <a:p>
                      <a:r>
                        <a:rPr lang="en-US" sz="850">
                          <a:solidFill>
                            <a:srgbClr val="1F2933"/>
                          </a:solidFill>
                          <a:latin typeface="Aptos" panose="020B0004020202020204" pitchFamily="34" charset="0"/>
                        </a:rPr>
                        <a:t>One Floor STR + Co-Living</a:t>
                      </a:r>
                    </a:p>
                  </a:txBody>
                  <a:tcPr/>
                </a:tc>
                <a:tc>
                  <a:txBody>
                    <a:bodyPr/>
                    <a:lstStyle/>
                    <a:p>
                      <a:r>
                        <a:rPr lang="en-US" sz="850">
                          <a:solidFill>
                            <a:srgbClr val="1F2933"/>
                          </a:solidFill>
                          <a:latin typeface="Aptos" panose="020B0004020202020204" pitchFamily="34" charset="0"/>
                        </a:rPr>
                        <a:t>95,440</a:t>
                      </a:r>
                    </a:p>
                  </a:txBody>
                  <a:tcPr/>
                </a:tc>
                <a:tc>
                  <a:txBody>
                    <a:bodyPr/>
                    <a:lstStyle/>
                    <a:p>
                      <a:r>
                        <a:rPr lang="en-US" sz="850">
                          <a:solidFill>
                            <a:srgbClr val="1F2933"/>
                          </a:solidFill>
                          <a:latin typeface="Aptos" panose="020B0004020202020204" pitchFamily="34" charset="0"/>
                        </a:rPr>
                        <a:t>173,400</a:t>
                      </a:r>
                    </a:p>
                  </a:txBody>
                  <a:tcPr/>
                </a:tc>
                <a:tc>
                  <a:txBody>
                    <a:bodyPr/>
                    <a:lstStyle/>
                    <a:p>
                      <a:r>
                        <a:rPr lang="en-US" sz="850">
                          <a:solidFill>
                            <a:srgbClr val="1F2933"/>
                          </a:solidFill>
                          <a:latin typeface="Aptos" panose="020B0004020202020204" pitchFamily="34" charset="0"/>
                        </a:rPr>
                        <a:t>Upside test</a:t>
                      </a:r>
                    </a:p>
                  </a:txBody>
                  <a:tcPr/>
                </a:tc>
                <a:extLst>
                  <a:ext uri="{0D108BD9-81ED-4DB2-BD59-A6C34878D82A}">
                    <a16:rowId xmlns:a16="http://schemas.microsoft.com/office/drawing/2014/main" val="818237663"/>
                  </a:ext>
                </a:extLst>
              </a:tr>
              <a:tr h="431800">
                <a:tc>
                  <a:txBody>
                    <a:bodyPr/>
                    <a:lstStyle/>
                    <a:p>
                      <a:r>
                        <a:rPr lang="en-US" sz="850">
                          <a:solidFill>
                            <a:srgbClr val="1F2933"/>
                          </a:solidFill>
                          <a:latin typeface="Aptos" panose="020B0004020202020204" pitchFamily="34" charset="0"/>
                        </a:rPr>
                        <a:t>Whole Building STR</a:t>
                      </a:r>
                    </a:p>
                  </a:txBody>
                  <a:tcPr/>
                </a:tc>
                <a:tc>
                  <a:txBody>
                    <a:bodyPr/>
                    <a:lstStyle/>
                    <a:p>
                      <a:r>
                        <a:rPr lang="en-US" sz="850">
                          <a:solidFill>
                            <a:srgbClr val="1F2933"/>
                          </a:solidFill>
                          <a:latin typeface="Aptos" panose="020B0004020202020204" pitchFamily="34" charset="0"/>
                        </a:rPr>
                        <a:t>70,798</a:t>
                      </a:r>
                    </a:p>
                  </a:txBody>
                  <a:tcPr/>
                </a:tc>
                <a:tc>
                  <a:txBody>
                    <a:bodyPr/>
                    <a:lstStyle/>
                    <a:p>
                      <a:r>
                        <a:rPr lang="en-US" sz="850">
                          <a:solidFill>
                            <a:srgbClr val="1F2933"/>
                          </a:solidFill>
                          <a:latin typeface="Aptos" panose="020B0004020202020204" pitchFamily="34" charset="0"/>
                        </a:rPr>
                        <a:t>183,040</a:t>
                      </a:r>
                    </a:p>
                  </a:txBody>
                  <a:tcPr/>
                </a:tc>
                <a:tc>
                  <a:txBody>
                    <a:bodyPr/>
                    <a:lstStyle/>
                    <a:p>
                      <a:r>
                        <a:rPr lang="en-US" sz="850">
                          <a:solidFill>
                            <a:srgbClr val="1F2933"/>
                          </a:solidFill>
                          <a:latin typeface="Aptos" panose="020B0004020202020204" pitchFamily="34" charset="0"/>
                        </a:rPr>
                        <a:t>Highest upside</a:t>
                      </a:r>
                    </a:p>
                  </a:txBody>
                  <a:tcPr/>
                </a:tc>
                <a:extLst>
                  <a:ext uri="{0D108BD9-81ED-4DB2-BD59-A6C34878D82A}">
                    <a16:rowId xmlns:a16="http://schemas.microsoft.com/office/drawing/2014/main" val="1013872682"/>
                  </a:ext>
                </a:extLst>
              </a:tr>
            </a:tbl>
          </a:graphicData>
        </a:graphic>
      </p:graphicFrame>
      <p:sp>
        <p:nvSpPr>
          <p:cNvPr id="11" name="Rectangle 10">
            <a:extLst>
              <a:ext uri="{FF2B5EF4-FFF2-40B4-BE49-F238E27FC236}">
                <a16:creationId xmlns:a16="http://schemas.microsoft.com/office/drawing/2014/main" id="{4B155BBC-95F9-0926-307F-05EAF3DA9CB2}"/>
              </a:ext>
            </a:extLst>
          </p:cNvPr>
          <p:cNvSpPr/>
          <p:nvPr/>
        </p:nvSpPr>
        <p:spPr>
          <a:xfrm>
            <a:off x="736600" y="3810000"/>
            <a:ext cx="7429500" cy="1143000"/>
          </a:xfrm>
          <a:prstGeom prst="rect">
            <a:avLst/>
          </a:prstGeom>
          <a:solidFill>
            <a:srgbClr val="E7F0EF"/>
          </a:solidFill>
          <a:ln>
            <a:solidFill>
              <a:srgbClr val="CAD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5A58E1-52C4-601F-2707-23FB6311C739}"/>
              </a:ext>
            </a:extLst>
          </p:cNvPr>
          <p:cNvSpPr txBox="1"/>
          <p:nvPr/>
        </p:nvSpPr>
        <p:spPr>
          <a:xfrm>
            <a:off x="889000" y="3937000"/>
            <a:ext cx="7124700" cy="200055"/>
          </a:xfrm>
          <a:prstGeom prst="rect">
            <a:avLst/>
          </a:prstGeom>
          <a:noFill/>
        </p:spPr>
        <p:txBody>
          <a:bodyPr vert="horz" lIns="0" tIns="0" rIns="0" bIns="0" rtlCol="0">
            <a:spAutoFit/>
          </a:bodyPr>
          <a:lstStyle/>
          <a:p>
            <a:r>
              <a:rPr lang="en-US" sz="1300" b="1">
                <a:solidFill>
                  <a:srgbClr val="244C5A"/>
                </a:solidFill>
                <a:latin typeface="Aptos" panose="020B0004020202020204" pitchFamily="34" charset="0"/>
              </a:rPr>
              <a:t>Interpretation</a:t>
            </a:r>
          </a:p>
        </p:txBody>
      </p:sp>
      <p:sp>
        <p:nvSpPr>
          <p:cNvPr id="13" name="TextBox 12">
            <a:extLst>
              <a:ext uri="{FF2B5EF4-FFF2-40B4-BE49-F238E27FC236}">
                <a16:creationId xmlns:a16="http://schemas.microsoft.com/office/drawing/2014/main" id="{081BE713-CCAE-92E2-465D-620FCF4EAEB2}"/>
              </a:ext>
            </a:extLst>
          </p:cNvPr>
          <p:cNvSpPr txBox="1"/>
          <p:nvPr/>
        </p:nvSpPr>
        <p:spPr>
          <a:xfrm>
            <a:off x="889000" y="4292600"/>
            <a:ext cx="7124700" cy="461665"/>
          </a:xfrm>
          <a:prstGeom prst="rect">
            <a:avLst/>
          </a:prstGeom>
          <a:noFill/>
        </p:spPr>
        <p:txBody>
          <a:bodyPr vert="horz" lIns="0" tIns="0" rIns="0" bIns="0" rtlCol="0">
            <a:spAutoFit/>
          </a:bodyPr>
          <a:lstStyle/>
          <a:p>
            <a:r>
              <a:rPr lang="en-US" sz="1000" dirty="0">
                <a:solidFill>
                  <a:srgbClr val="1F2933"/>
                </a:solidFill>
                <a:latin typeface="Aptos" panose="020B0004020202020204" pitchFamily="34" charset="0"/>
              </a:rPr>
              <a:t>- Base Co-Living / Medium-Term remains the control case. </a:t>
            </a:r>
          </a:p>
          <a:p>
            <a:r>
              <a:rPr lang="en-US" sz="1000" dirty="0">
                <a:solidFill>
                  <a:srgbClr val="1F2933"/>
                </a:solidFill>
                <a:latin typeface="Aptos" panose="020B0004020202020204" pitchFamily="34" charset="0"/>
              </a:rPr>
              <a:t>- One Floor STR + Co-Living is the preferred operational test. </a:t>
            </a:r>
          </a:p>
          <a:p>
            <a:r>
              <a:rPr lang="en-US" sz="1000" dirty="0">
                <a:solidFill>
                  <a:srgbClr val="1F2933"/>
                </a:solidFill>
                <a:latin typeface="Aptos" panose="020B0004020202020204" pitchFamily="34" charset="0"/>
              </a:rPr>
              <a:t>- Whole Building STR is the highest-upside case but requires booking validation and stronger operating discipline.</a:t>
            </a:r>
          </a:p>
        </p:txBody>
      </p:sp>
    </p:spTree>
    <p:extLst>
      <p:ext uri="{BB962C8B-B14F-4D97-AF65-F5344CB8AC3E}">
        <p14:creationId xmlns:p14="http://schemas.microsoft.com/office/powerpoint/2010/main" val="225708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06A6384-4DCF-339E-E64B-F0BD42E68F78}"/>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60C46F74-B329-DB68-EDD9-6FEF1C756D84}"/>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Participant Return Comparison</a:t>
            </a:r>
          </a:p>
        </p:txBody>
      </p:sp>
      <p:sp>
        <p:nvSpPr>
          <p:cNvPr id="9" name="TextBox 8">
            <a:extLst>
              <a:ext uri="{FF2B5EF4-FFF2-40B4-BE49-F238E27FC236}">
                <a16:creationId xmlns:a16="http://schemas.microsoft.com/office/drawing/2014/main" id="{993165D6-28A8-3A6C-A23D-F49C774CC6A6}"/>
              </a:ext>
            </a:extLst>
          </p:cNvPr>
          <p:cNvSpPr txBox="1"/>
          <p:nvPr/>
        </p:nvSpPr>
        <p:spPr>
          <a:xfrm>
            <a:off x="508000" y="1092201"/>
            <a:ext cx="7747000" cy="184666"/>
          </a:xfrm>
          <a:prstGeom prst="rect">
            <a:avLst/>
          </a:prstGeom>
          <a:noFill/>
        </p:spPr>
        <p:txBody>
          <a:bodyPr vert="horz" lIns="0" tIns="0" rIns="0" bIns="0" rtlCol="0">
            <a:spAutoFit/>
          </a:bodyPr>
          <a:lstStyle/>
          <a:p>
            <a:r>
              <a:rPr lang="en-US" sz="1200" dirty="0">
                <a:solidFill>
                  <a:srgbClr val="52616B"/>
                </a:solidFill>
                <a:latin typeface="Aptos" panose="020B0004020202020204" pitchFamily="34" charset="0"/>
              </a:rPr>
              <a:t>Total profit, ROI, and IRR by participant across the rent options.</a:t>
            </a:r>
          </a:p>
        </p:txBody>
      </p:sp>
      <p:sp>
        <p:nvSpPr>
          <p:cNvPr id="12" name="TextBox 11">
            <a:extLst>
              <a:ext uri="{FF2B5EF4-FFF2-40B4-BE49-F238E27FC236}">
                <a16:creationId xmlns:a16="http://schemas.microsoft.com/office/drawing/2014/main" id="{60300F5C-83D8-B22B-84D1-7CDACEAEE631}"/>
              </a:ext>
            </a:extLst>
          </p:cNvPr>
          <p:cNvSpPr txBox="1"/>
          <p:nvPr/>
        </p:nvSpPr>
        <p:spPr>
          <a:xfrm>
            <a:off x="698500" y="6506026"/>
            <a:ext cx="7493000" cy="138499"/>
          </a:xfrm>
          <a:prstGeom prst="rect">
            <a:avLst/>
          </a:prstGeom>
          <a:noFill/>
        </p:spPr>
        <p:txBody>
          <a:bodyPr vert="horz" lIns="0" tIns="0" rIns="0" bIns="0" rtlCol="0">
            <a:spAutoFit/>
          </a:bodyPr>
          <a:lstStyle/>
          <a:p>
            <a:r>
              <a:rPr lang="en-US" sz="900" dirty="0">
                <a:solidFill>
                  <a:srgbClr val="52616B"/>
                </a:solidFill>
                <a:latin typeface="Aptos" panose="020B0004020202020204" pitchFamily="34" charset="0"/>
              </a:rPr>
              <a:t>Chart reflects the current STR workbook comparison table. Base case is retained for comparison against one-floor and full-building STR upside.</a:t>
            </a:r>
          </a:p>
        </p:txBody>
      </p:sp>
      <p:pic>
        <p:nvPicPr>
          <p:cNvPr id="4" name="Picture 3">
            <a:extLst>
              <a:ext uri="{FF2B5EF4-FFF2-40B4-BE49-F238E27FC236}">
                <a16:creationId xmlns:a16="http://schemas.microsoft.com/office/drawing/2014/main" id="{4AC16E09-47A0-08DF-5163-CEC64B725D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9724" y="1011548"/>
            <a:ext cx="6505904" cy="5468153"/>
          </a:xfrm>
          <a:prstGeom prst="rect">
            <a:avLst/>
          </a:prstGeom>
        </p:spPr>
      </p:pic>
    </p:spTree>
    <p:extLst>
      <p:ext uri="{BB962C8B-B14F-4D97-AF65-F5344CB8AC3E}">
        <p14:creationId xmlns:p14="http://schemas.microsoft.com/office/powerpoint/2010/main" val="3093653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0B97B29-1BF7-2CB4-4255-F49B17AC5C9B}"/>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DISCUSSION</a:t>
            </a:r>
          </a:p>
        </p:txBody>
      </p:sp>
      <p:sp>
        <p:nvSpPr>
          <p:cNvPr id="8" name="TextBox 7">
            <a:extLst>
              <a:ext uri="{FF2B5EF4-FFF2-40B4-BE49-F238E27FC236}">
                <a16:creationId xmlns:a16="http://schemas.microsoft.com/office/drawing/2014/main" id="{9F67DECD-4288-8256-EA49-599713D597B2}"/>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Next Steps</a:t>
            </a:r>
          </a:p>
        </p:txBody>
      </p:sp>
      <p:sp>
        <p:nvSpPr>
          <p:cNvPr id="9" name="TextBox 8">
            <a:extLst>
              <a:ext uri="{FF2B5EF4-FFF2-40B4-BE49-F238E27FC236}">
                <a16:creationId xmlns:a16="http://schemas.microsoft.com/office/drawing/2014/main" id="{CFC152A1-73E3-F724-8B5B-5EB842651EA0}"/>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Use STR as a tested option, not an unverified requirement.</a:t>
            </a:r>
          </a:p>
        </p:txBody>
      </p:sp>
      <p:sp>
        <p:nvSpPr>
          <p:cNvPr id="10" name="TextBox 9">
            <a:extLst>
              <a:ext uri="{FF2B5EF4-FFF2-40B4-BE49-F238E27FC236}">
                <a16:creationId xmlns:a16="http://schemas.microsoft.com/office/drawing/2014/main" id="{4620DCA6-F5D6-6215-8151-005D7B557D95}"/>
              </a:ext>
            </a:extLst>
          </p:cNvPr>
          <p:cNvSpPr txBox="1"/>
          <p:nvPr/>
        </p:nvSpPr>
        <p:spPr>
          <a:xfrm>
            <a:off x="698500" y="1727200"/>
            <a:ext cx="7493000" cy="923330"/>
          </a:xfrm>
          <a:prstGeom prst="rect">
            <a:avLst/>
          </a:prstGeom>
          <a:noFill/>
        </p:spPr>
        <p:txBody>
          <a:bodyPr vert="horz" lIns="0" tIns="0" rIns="0" bIns="0" rtlCol="0">
            <a:spAutoFit/>
          </a:bodyPr>
          <a:lstStyle/>
          <a:p>
            <a:r>
              <a:rPr lang="en-US" sz="1200">
                <a:solidFill>
                  <a:srgbClr val="1F2933"/>
                </a:solidFill>
                <a:latin typeface="Aptos" panose="020B0004020202020204" pitchFamily="34" charset="0"/>
              </a:rPr>
              <a:t>Keep base co-living / medium-term rental as the control underwriting case.</a:t>
            </a:r>
          </a:p>
          <a:p>
            <a:r>
              <a:rPr lang="en-US" sz="1200">
                <a:solidFill>
                  <a:srgbClr val="1F2933"/>
                </a:solidFill>
                <a:latin typeface="Aptos" panose="020B0004020202020204" pitchFamily="34" charset="0"/>
              </a:rPr>
              <a:t>Validate one-floor STR with live comp set and regulatory review before adopting as a primary strategy.</a:t>
            </a:r>
          </a:p>
          <a:p>
            <a:r>
              <a:rPr lang="en-US" sz="1200">
                <a:solidFill>
                  <a:srgbClr val="1F2933"/>
                </a:solidFill>
                <a:latin typeface="Aptos" panose="020B0004020202020204" pitchFamily="34" charset="0"/>
              </a:rPr>
              <a:t>Confirm wastewater engineering path and reserve field requirements.</a:t>
            </a:r>
          </a:p>
          <a:p>
            <a:r>
              <a:rPr lang="en-US" sz="1200">
                <a:solidFill>
                  <a:srgbClr val="1F2933"/>
                </a:solidFill>
                <a:latin typeface="Aptos" panose="020B0004020202020204" pitchFamily="34" charset="0"/>
              </a:rPr>
              <a:t>Refine schematic floor plan with dimensions, code/accessibility review, and stacked plumbing strategy.</a:t>
            </a:r>
          </a:p>
          <a:p>
            <a:r>
              <a:rPr lang="en-US" sz="1200">
                <a:solidFill>
                  <a:srgbClr val="1F2933"/>
                </a:solidFill>
                <a:latin typeface="Aptos" panose="020B0004020202020204" pitchFamily="34" charset="0"/>
              </a:rPr>
              <a:t>Update investor package as workbook assumptions change.</a:t>
            </a:r>
          </a:p>
        </p:txBody>
      </p:sp>
      <p:sp>
        <p:nvSpPr>
          <p:cNvPr id="11" name="TextBox 10">
            <a:extLst>
              <a:ext uri="{FF2B5EF4-FFF2-40B4-BE49-F238E27FC236}">
                <a16:creationId xmlns:a16="http://schemas.microsoft.com/office/drawing/2014/main" id="{8FEAF8AB-7802-68E4-74CD-92E4BE6735E6}"/>
              </a:ext>
            </a:extLst>
          </p:cNvPr>
          <p:cNvSpPr txBox="1"/>
          <p:nvPr/>
        </p:nvSpPr>
        <p:spPr>
          <a:xfrm>
            <a:off x="711200" y="4508500"/>
            <a:ext cx="7493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Planning model only. Not tax, legal, securities, lending, engineering, or investment advice.</a:t>
            </a:r>
          </a:p>
        </p:txBody>
      </p:sp>
    </p:spTree>
    <p:extLst>
      <p:ext uri="{BB962C8B-B14F-4D97-AF65-F5344CB8AC3E}">
        <p14:creationId xmlns:p14="http://schemas.microsoft.com/office/powerpoint/2010/main" val="2581146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369</TotalTime>
  <Words>2987</Words>
  <Application>Microsoft Office PowerPoint</Application>
  <PresentationFormat>Widescreen</PresentationFormat>
  <Paragraphs>202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 Will Buy Your Home</dc:creator>
  <cp:lastModifiedBy>Wes Will Buy Your Home</cp:lastModifiedBy>
  <cp:revision>14</cp:revision>
  <dcterms:created xsi:type="dcterms:W3CDTF">2026-05-16T02:45:59Z</dcterms:created>
  <dcterms:modified xsi:type="dcterms:W3CDTF">2026-05-19T13:36:59Z</dcterms:modified>
</cp:coreProperties>
</file>