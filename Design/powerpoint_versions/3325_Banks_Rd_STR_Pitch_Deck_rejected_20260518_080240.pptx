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DA59-028D-9562-850C-A8FC1A65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A8AE-27EA-2B80-CA96-2E7EB93BC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DDA6-42E6-8DD0-1727-7E085C68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BF9-5C94-5D2C-13D9-CEC5F85D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CEEB-1D8E-54A9-B461-95EC7038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806C-DB26-D7F9-B834-22179CEC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8AF3-9AE1-7379-4CD3-0A13FC7B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C36A-5BB0-A06A-CCF1-4705C16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20C8-769A-6D76-6839-A2AE22D4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64DC2-F3E1-F932-3C9E-59C72FBD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0775-C37B-3075-66FB-39969C7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BBF9-9CF4-1AA6-34B3-70FF2DCB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1B9D-3D05-5034-B36A-ED9CE945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05E9-F6C8-0C15-7170-AE830EBF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880BF-25ED-7253-3721-C6B3DB43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4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3696-1632-3430-7786-162C508C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4D32-0479-BA3A-4CE1-ABD5529C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1E01-0320-AEFF-A67A-08F83525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13F34-D521-1EDE-8694-668E9727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95E6-AD50-229A-4010-4B69E9D1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7991-2ED0-0731-FA94-3E037562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85FC-E4BD-2CCE-7B6F-8A6ED7B1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A2F3-3039-4D49-551B-A8BF8DB2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FDD1-1CFB-04C0-A47D-4D1E946A7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4FBE2-C3E5-4AC4-7645-9A17C78D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F7C9C-B102-B37C-1C59-30406C3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CE357-C65F-9651-A0AC-CCBABFF4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0933-A095-F057-872B-20CE4903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D407-AA29-0818-7F2B-E2B3DB9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946-273E-97EB-AADF-DFC27015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E40C8-DD4E-D796-0B79-9A0CF98F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923F8-EF53-2488-1567-314E0F42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886E5-5C01-C45A-0943-A99B34E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D894-CBD7-404D-9375-4A2106A5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256C2-5F52-BA2C-C591-CFB4DF4A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D9E4-5AE5-DA4C-E351-26D75FD7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F2F-EACA-19CF-C2B4-B9A2B6D3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37C9-ED7E-B71C-4D2C-4DA5102C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FEBD6-F6C6-2B37-8864-46D7654E0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67F4F-0EBD-D27D-57AB-D04E6EF4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D91DB-84FB-29C0-494E-175D1215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4F49-7C59-4891-9994-DC86AF7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A31D-0575-2DCF-1B0B-172609DC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791C9-3B2F-6642-334B-B66BB3001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4864-67AA-CEDE-872E-9AA9F3B05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EB5C-2FD3-343F-8C2E-1F1A49B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E2D3-5FC1-AF7F-AEF7-EC4C9657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EF6D-E640-C5D0-8062-EC82AC8E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8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3A46-D4AC-E1B7-9889-601DDC1E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0221A-5871-87EB-A4B9-18F0781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9C2E-9549-8F11-DB70-E061E913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58FC-8D1C-2956-75A1-3B9D829E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B56A-554F-4260-C674-8BC014A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C0C77-1CFE-8B8D-E619-CC01F3303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813EC-EDC2-AE48-6BB6-1FF4EDAF9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2B6D-818B-504F-5E04-A3185B3E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88B6-6BC6-4C53-CE86-2A1C11F0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C398-D508-9132-245E-AE873713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352A-B687-189B-6CE2-EB061F5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64D9-6355-BC0A-C62B-5EEF5551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94A8-0408-34C9-7A31-CA49F1E24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93B10-8EC8-3978-FEC5-AF574061E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6C8F9-DD15-1543-CAC2-E16434A61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E96192-3392-5117-3136-DB9A646B3E0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DF136-A6A7-8DCD-73A0-57D6FEB055F2}"/>
              </a:ext>
            </a:extLst>
          </p:cNvPr>
          <p:cNvSpPr txBox="1"/>
          <p:nvPr/>
        </p:nvSpPr>
        <p:spPr>
          <a:xfrm>
            <a:off x="685800" y="1016000"/>
            <a:ext cx="7747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1A3C48"/>
                </a:solidFill>
                <a:latin typeface="Aptos" panose="020B0004020202020204" pitchFamily="34" charset="0"/>
              </a:rPr>
              <a:t>3325 Banks 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26BDE-62E9-7B5B-5297-913034673096}"/>
              </a:ext>
            </a:extLst>
          </p:cNvPr>
          <p:cNvSpPr txBox="1"/>
          <p:nvPr/>
        </p:nvSpPr>
        <p:spPr>
          <a:xfrm>
            <a:off x="711200" y="1676400"/>
            <a:ext cx="774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Co-Living Development with STR Operating Optionality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C40FA-1C8F-FB62-FFC3-8A3C3667C399}"/>
              </a:ext>
            </a:extLst>
          </p:cNvPr>
          <p:cNvSpPr txBox="1"/>
          <p:nvPr/>
        </p:nvSpPr>
        <p:spPr>
          <a:xfrm>
            <a:off x="711200" y="2260600"/>
            <a:ext cx="546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Wake County near Raleigh, North Carolina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197D6-2D17-86DB-3A0C-58F40AA7E673}"/>
              </a:ext>
            </a:extLst>
          </p:cNvPr>
          <p:cNvSpPr txBox="1"/>
          <p:nvPr/>
        </p:nvSpPr>
        <p:spPr>
          <a:xfrm>
            <a:off x="711200" y="2984500"/>
            <a:ext cx="774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F2933"/>
                </a:solidFill>
                <a:latin typeface="Aptos" panose="020B0004020202020204" pitchFamily="34" charset="0"/>
              </a:rPr>
              <a:t>Base residential underwriting remains the control case; short-term rental options are presented as upside operating scenarios.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835B25-9ABC-9D51-BA7E-FB142B815E8A}"/>
              </a:ext>
            </a:extLst>
          </p:cNvPr>
          <p:cNvSpPr txBox="1"/>
          <p:nvPr/>
        </p:nvSpPr>
        <p:spPr>
          <a:xfrm>
            <a:off x="711200" y="46355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05D65"/>
                </a:solidFill>
                <a:latin typeface="Aptos" panose="020B0004020202020204" pitchFamily="34" charset="0"/>
              </a:rPr>
              <a:t>Investor pitch deck | STR workbook version</a:t>
            </a:r>
          </a:p>
        </p:txBody>
      </p:sp>
    </p:spTree>
    <p:extLst>
      <p:ext uri="{BB962C8B-B14F-4D97-AF65-F5344CB8AC3E}">
        <p14:creationId xmlns:p14="http://schemas.microsoft.com/office/powerpoint/2010/main" val="14897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373B-6695-69FE-DCA6-0C001F350CA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53962-D09D-A0E6-DB0F-CBED04D69007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01658-7176-7C80-7A30-2D43FFB5DB66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Investment Thesis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F34DD-3C86-1662-012E-E57DE0872BED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Flexible residential platform first; STR optionality second.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DD5FA-A0E5-15F3-32DE-077CDC7B4574}"/>
              </a:ext>
            </a:extLst>
          </p:cNvPr>
          <p:cNvSpPr txBox="1"/>
          <p:nvPr/>
        </p:nvSpPr>
        <p:spPr>
          <a:xfrm>
            <a:off x="660400" y="1841500"/>
            <a:ext cx="4699000" cy="14157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Sponsor-led co-living residential development in the Triangle market corridor.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Base case targets workforce housing, graduate/professional co-living, and furnished medium-term renters.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STR operating scenarios test whether one floor or the whole building can capture weekly group lodging demand.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Capital recovery strategy relies on stabilization, refinance, and waterfall distributions.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9E6E63-5E48-B591-9E5E-1E89A8239AD5}"/>
              </a:ext>
            </a:extLst>
          </p:cNvPr>
          <p:cNvSpPr/>
          <p:nvPr/>
        </p:nvSpPr>
        <p:spPr>
          <a:xfrm>
            <a:off x="5778500" y="1739900"/>
            <a:ext cx="2794000" cy="1397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9AA5F-1756-74A2-6D23-53372A76B527}"/>
              </a:ext>
            </a:extLst>
          </p:cNvPr>
          <p:cNvSpPr txBox="1"/>
          <p:nvPr/>
        </p:nvSpPr>
        <p:spPr>
          <a:xfrm>
            <a:off x="5930900" y="1866900"/>
            <a:ext cx="2489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Competitive Advantage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E8C78C-4B75-832D-8160-37CDB6D8F8BB}"/>
              </a:ext>
            </a:extLst>
          </p:cNvPr>
          <p:cNvSpPr txBox="1"/>
          <p:nvPr/>
        </p:nvSpPr>
        <p:spPr>
          <a:xfrm>
            <a:off x="5930900" y="2222500"/>
            <a:ext cx="24892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Controlled land position, post-frame construction strategy, sponsor equipment and crew capacity, private-bath suite design, and the ability to operate by suite, floor, or building.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05A8B8-1664-204E-AA69-C93745154483}"/>
              </a:ext>
            </a:extLst>
          </p:cNvPr>
          <p:cNvSpPr/>
          <p:nvPr/>
        </p:nvSpPr>
        <p:spPr>
          <a:xfrm>
            <a:off x="5778500" y="3378200"/>
            <a:ext cx="2794000" cy="13335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9DB47B-00B2-D2DD-3A83-0BCCDC3033E5}"/>
              </a:ext>
            </a:extLst>
          </p:cNvPr>
          <p:cNvSpPr txBox="1"/>
          <p:nvPr/>
        </p:nvSpPr>
        <p:spPr>
          <a:xfrm>
            <a:off x="5930900" y="3505200"/>
            <a:ext cx="2489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Current Status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E96BDF-CEAB-E84F-C4B4-FE1E9FDC61A8}"/>
              </a:ext>
            </a:extLst>
          </p:cNvPr>
          <p:cNvSpPr txBox="1"/>
          <p:nvPr/>
        </p:nvSpPr>
        <p:spPr>
          <a:xfrm>
            <a:off x="5930900" y="3860800"/>
            <a:ext cx="24892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STR workbook model with rent options, participant returns, refinance timing, sale timing, and waterfall assumptions under active refinement.</a:t>
            </a:r>
          </a:p>
        </p:txBody>
      </p:sp>
    </p:spTree>
    <p:extLst>
      <p:ext uri="{BB962C8B-B14F-4D97-AF65-F5344CB8AC3E}">
        <p14:creationId xmlns:p14="http://schemas.microsoft.com/office/powerpoint/2010/main" val="22241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670AD7-7523-3709-BEC9-DB2F84B529A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2C6CB-7016-B26A-DE79-1596A70F9F4F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ASSET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E6D6C-ADA7-5D87-DB7C-4D792E0AFF5E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Development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4E7C0-1FDC-21D3-926B-631565D68932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Two-floor, 8-suite residential platform designed for multiple rental strategies.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DA096-24C1-AAE3-A600-EC048A5BEABD}"/>
              </a:ext>
            </a:extLst>
          </p:cNvPr>
          <p:cNvSpPr/>
          <p:nvPr/>
        </p:nvSpPr>
        <p:spPr>
          <a:xfrm>
            <a:off x="6096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1674B-CA62-9911-BAE5-9D0E93A99C65}"/>
              </a:ext>
            </a:extLst>
          </p:cNvPr>
          <p:cNvSpPr txBox="1"/>
          <p:nvPr/>
        </p:nvSpPr>
        <p:spPr>
          <a:xfrm>
            <a:off x="6858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1.1 AC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82161A-D9F3-BDFB-D5F8-7AB6271B5199}"/>
              </a:ext>
            </a:extLst>
          </p:cNvPr>
          <p:cNvSpPr txBox="1"/>
          <p:nvPr/>
        </p:nvSpPr>
        <p:spPr>
          <a:xfrm>
            <a:off x="7112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Site area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A9E1DF-4074-F70F-FC0A-E389DA7A02D2}"/>
              </a:ext>
            </a:extLst>
          </p:cNvPr>
          <p:cNvSpPr/>
          <p:nvPr/>
        </p:nvSpPr>
        <p:spPr>
          <a:xfrm>
            <a:off x="24765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1820C8-36AC-B8B6-0D7A-AEE376F051C2}"/>
              </a:ext>
            </a:extLst>
          </p:cNvPr>
          <p:cNvSpPr txBox="1"/>
          <p:nvPr/>
        </p:nvSpPr>
        <p:spPr>
          <a:xfrm>
            <a:off x="25527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6,000 SF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A3043B-FB2A-5189-A339-A07B8DAC5046}"/>
              </a:ext>
            </a:extLst>
          </p:cNvPr>
          <p:cNvSpPr txBox="1"/>
          <p:nvPr/>
        </p:nvSpPr>
        <p:spPr>
          <a:xfrm>
            <a:off x="25781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Building area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C641E5-1A14-63D4-3888-4786881A02EB}"/>
              </a:ext>
            </a:extLst>
          </p:cNvPr>
          <p:cNvSpPr/>
          <p:nvPr/>
        </p:nvSpPr>
        <p:spPr>
          <a:xfrm>
            <a:off x="43434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13BE8E-170C-7508-0D4C-59A750244A43}"/>
              </a:ext>
            </a:extLst>
          </p:cNvPr>
          <p:cNvSpPr txBox="1"/>
          <p:nvPr/>
        </p:nvSpPr>
        <p:spPr>
          <a:xfrm>
            <a:off x="44196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A04CD7-EBBA-3524-33CC-FAF428BB31F0}"/>
              </a:ext>
            </a:extLst>
          </p:cNvPr>
          <p:cNvSpPr txBox="1"/>
          <p:nvPr/>
        </p:nvSpPr>
        <p:spPr>
          <a:xfrm>
            <a:off x="44450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Private suites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69E35E-41F7-198F-9BDF-5B64BFCBF166}"/>
              </a:ext>
            </a:extLst>
          </p:cNvPr>
          <p:cNvSpPr/>
          <p:nvPr/>
        </p:nvSpPr>
        <p:spPr>
          <a:xfrm>
            <a:off x="6210300" y="1778000"/>
            <a:ext cx="18796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9C94B1-E00F-2BB2-267D-54D360CFA451}"/>
              </a:ext>
            </a:extLst>
          </p:cNvPr>
          <p:cNvSpPr txBox="1"/>
          <p:nvPr/>
        </p:nvSpPr>
        <p:spPr>
          <a:xfrm>
            <a:off x="6286500" y="1930400"/>
            <a:ext cx="17272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Post-frame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262D86-2EEE-D23F-4928-0AF52C74F261}"/>
              </a:ext>
            </a:extLst>
          </p:cNvPr>
          <p:cNvSpPr txBox="1"/>
          <p:nvPr/>
        </p:nvSpPr>
        <p:spPr>
          <a:xfrm>
            <a:off x="6311900" y="2349500"/>
            <a:ext cx="16764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Construction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1DE21A4-D440-0DB7-C736-D25D63A35D0A}"/>
              </a:ext>
            </a:extLst>
          </p:cNvPr>
          <p:cNvSpPr/>
          <p:nvPr/>
        </p:nvSpPr>
        <p:spPr>
          <a:xfrm>
            <a:off x="609600" y="3213100"/>
            <a:ext cx="3708400" cy="1651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102DAF-2F6B-F6C2-D3D1-64239FB7D158}"/>
              </a:ext>
            </a:extLst>
          </p:cNvPr>
          <p:cNvSpPr txBox="1"/>
          <p:nvPr/>
        </p:nvSpPr>
        <p:spPr>
          <a:xfrm>
            <a:off x="762000" y="3340100"/>
            <a:ext cx="3403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Floor Configuration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787367-60EB-5989-6E39-37A66644C981}"/>
              </a:ext>
            </a:extLst>
          </p:cNvPr>
          <p:cNvSpPr txBox="1"/>
          <p:nvPr/>
        </p:nvSpPr>
        <p:spPr>
          <a:xfrm>
            <a:off x="762000" y="3695700"/>
            <a:ext cx="34036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Each floor includes two premium suites and two co-living suites. Premium suites include private bedroom, bathroom, kitchenette, and storage. Co-living suites include private bedroom, bathroom, and storage with shared common amenities.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2012A8-6479-9B86-AE7E-5B2660E69595}"/>
              </a:ext>
            </a:extLst>
          </p:cNvPr>
          <p:cNvSpPr/>
          <p:nvPr/>
        </p:nvSpPr>
        <p:spPr>
          <a:xfrm>
            <a:off x="4699000" y="3213100"/>
            <a:ext cx="3429000" cy="1651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F7B8CF-F16B-59ED-A702-D9F60FB6E634}"/>
              </a:ext>
            </a:extLst>
          </p:cNvPr>
          <p:cNvSpPr txBox="1"/>
          <p:nvPr/>
        </p:nvSpPr>
        <p:spPr>
          <a:xfrm>
            <a:off x="4851400" y="3340100"/>
            <a:ext cx="3124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Shared Amenities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9B146A-70D6-8B18-292E-A6454301CB8D}"/>
              </a:ext>
            </a:extLst>
          </p:cNvPr>
          <p:cNvSpPr txBox="1"/>
          <p:nvPr/>
        </p:nvSpPr>
        <p:spPr>
          <a:xfrm>
            <a:off x="4851400" y="3695700"/>
            <a:ext cx="3124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Communal kitchen, dining, lounge/living space, laundry, storage/mechanical areas, and covered outdoor gathering areas.</a:t>
            </a:r>
          </a:p>
        </p:txBody>
      </p:sp>
    </p:spTree>
    <p:extLst>
      <p:ext uri="{BB962C8B-B14F-4D97-AF65-F5344CB8AC3E}">
        <p14:creationId xmlns:p14="http://schemas.microsoft.com/office/powerpoint/2010/main" val="20228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EE0A73-6F2F-4C0C-83D4-AA9305478FE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A6426-2CB5-0E13-6F70-BF1F48891C45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4832C-65E7-5282-D92D-57C1E8956A15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Concept Design Direction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CE1EA-63C3-0C1D-E3B8-28E5D74555CD}"/>
              </a:ext>
            </a:extLst>
          </p:cNvPr>
          <p:cNvSpPr txBox="1"/>
          <p:nvPr/>
        </p:nvSpPr>
        <p:spPr>
          <a:xfrm>
            <a:off x="508000" y="12192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Concept image for discussion only. Final design remains subject to professional drawings, code, accessibility, fire/life-safety, wastewater, and permitting review.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28A69D-2E7F-C1F7-EA71-1CDB7BAE9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25" y="2635250"/>
            <a:ext cx="25717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6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CF946F4-8018-0315-4742-972D3499C5A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8B155-2387-4F5C-8BA1-7C1CF796CE9C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3EB24-A4BF-8964-325D-6A420FC1C198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Base Rent Positioning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D2C84-7937-B171-5C33-3345E33F2997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Base case uses co-living / medium-term rent as the control underwriting case.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6AA351-24E9-D7B7-0E29-DB6D45B0E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872778"/>
              </p:ext>
            </p:extLst>
          </p:nvPr>
        </p:nvGraphicFramePr>
        <p:xfrm>
          <a:off x="685800" y="1803400"/>
          <a:ext cx="77470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370397961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619008833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22066802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69282493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4996612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Rent Case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Premium Suites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Co-Living Suites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Monthly Gross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Annual Gross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93142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Low / 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1,350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850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8,800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105,600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3866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Medium / 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1,600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1,100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10,800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129,600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44105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High / Year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1,750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1,250 x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144,000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2601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6528F65-7D2B-F0D8-0531-C5708F9C6B73}"/>
              </a:ext>
            </a:extLst>
          </p:cNvPr>
          <p:cNvSpPr txBox="1"/>
          <p:nvPr/>
        </p:nvSpPr>
        <p:spPr>
          <a:xfrm>
            <a:off x="736600" y="3708400"/>
            <a:ext cx="7493000" cy="9079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Premium suites are positioned near compact furnished studio / one-bedroom alternatives.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Co-living suites remain below standalone apartment replacement cost.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Stabilized occupancy assumption: 93.0%.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Base case remains viable without STR execution.</a:t>
            </a:r>
          </a:p>
        </p:txBody>
      </p:sp>
    </p:spTree>
    <p:extLst>
      <p:ext uri="{BB962C8B-B14F-4D97-AF65-F5344CB8AC3E}">
        <p14:creationId xmlns:p14="http://schemas.microsoft.com/office/powerpoint/2010/main" val="138513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B3BD67-5ECC-6017-B698-0914F217B94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387D9-1FCF-0663-88BD-A3E24BF9AFC4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5C77F-F96B-F50C-5AAA-09F56EF4086D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A097E-CCE8-FFDF-BC5B-BB07788CF860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Residential underwriting remains visible while weekly-rental alternatives are tested.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029E6A-D067-5206-7C58-C548EFB4A84E}"/>
              </a:ext>
            </a:extLst>
          </p:cNvPr>
          <p:cNvSpPr/>
          <p:nvPr/>
        </p:nvSpPr>
        <p:spPr>
          <a:xfrm>
            <a:off x="571500" y="1778000"/>
            <a:ext cx="1981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0938F-A49E-76ED-49BC-3113A391A5D0}"/>
              </a:ext>
            </a:extLst>
          </p:cNvPr>
          <p:cNvSpPr txBox="1"/>
          <p:nvPr/>
        </p:nvSpPr>
        <p:spPr>
          <a:xfrm>
            <a:off x="647700" y="1930400"/>
            <a:ext cx="1828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12,000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AFE48-9D65-370F-973B-452D379599BC}"/>
              </a:ext>
            </a:extLst>
          </p:cNvPr>
          <p:cNvSpPr txBox="1"/>
          <p:nvPr/>
        </p:nvSpPr>
        <p:spPr>
          <a:xfrm>
            <a:off x="673100" y="2349500"/>
            <a:ext cx="1778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Base stabilized monthly gross rent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9DDD08-51E1-9E91-66BC-4E78D88D6F51}"/>
              </a:ext>
            </a:extLst>
          </p:cNvPr>
          <p:cNvSpPr/>
          <p:nvPr/>
        </p:nvSpPr>
        <p:spPr>
          <a:xfrm>
            <a:off x="2794000" y="1778000"/>
            <a:ext cx="18415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386287-88AC-FEB0-DF60-8A66DDBE5F45}"/>
              </a:ext>
            </a:extLst>
          </p:cNvPr>
          <p:cNvSpPr txBox="1"/>
          <p:nvPr/>
        </p:nvSpPr>
        <p:spPr>
          <a:xfrm>
            <a:off x="2870200" y="1930400"/>
            <a:ext cx="16891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93.0%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ECFDC3-54A0-5AEE-00F3-55E3172744AC}"/>
              </a:ext>
            </a:extLst>
          </p:cNvPr>
          <p:cNvSpPr txBox="1"/>
          <p:nvPr/>
        </p:nvSpPr>
        <p:spPr>
          <a:xfrm>
            <a:off x="2895600" y="2349500"/>
            <a:ext cx="16383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Stabilized occupancy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9CA7EE-4D7F-7781-EA22-7CD708D7AD98}"/>
              </a:ext>
            </a:extLst>
          </p:cNvPr>
          <p:cNvSpPr/>
          <p:nvPr/>
        </p:nvSpPr>
        <p:spPr>
          <a:xfrm>
            <a:off x="4889500" y="1778000"/>
            <a:ext cx="18415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B1A5E9-E7E9-992C-5A3B-5305B38F45E7}"/>
              </a:ext>
            </a:extLst>
          </p:cNvPr>
          <p:cNvSpPr txBox="1"/>
          <p:nvPr/>
        </p:nvSpPr>
        <p:spPr>
          <a:xfrm>
            <a:off x="4965700" y="1930400"/>
            <a:ext cx="16891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46.9%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8F51DC-F1E0-B3F5-9F1A-C3548CD00C20}"/>
              </a:ext>
            </a:extLst>
          </p:cNvPr>
          <p:cNvSpPr txBox="1"/>
          <p:nvPr/>
        </p:nvSpPr>
        <p:spPr>
          <a:xfrm>
            <a:off x="4991100" y="2349500"/>
            <a:ext cx="16383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Selected expense ratio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1B7F63-A595-7D85-C489-91B06B266EAD}"/>
              </a:ext>
            </a:extLst>
          </p:cNvPr>
          <p:cNvSpPr/>
          <p:nvPr/>
        </p:nvSpPr>
        <p:spPr>
          <a:xfrm>
            <a:off x="6985000" y="1778000"/>
            <a:ext cx="13335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D82FA0-1F72-30F4-5D7B-015B630AD816}"/>
              </a:ext>
            </a:extLst>
          </p:cNvPr>
          <p:cNvSpPr txBox="1"/>
          <p:nvPr/>
        </p:nvSpPr>
        <p:spPr>
          <a:xfrm>
            <a:off x="7061200" y="1930400"/>
            <a:ext cx="11811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6.0%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A068C1-7D45-3846-8B7A-FADE47DA0562}"/>
              </a:ext>
            </a:extLst>
          </p:cNvPr>
          <p:cNvSpPr txBox="1"/>
          <p:nvPr/>
        </p:nvSpPr>
        <p:spPr>
          <a:xfrm>
            <a:off x="7086600" y="2349500"/>
            <a:ext cx="11303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Management fee rate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D5A9CA-72D2-E8E8-E73B-D2DBF79A03A0}"/>
              </a:ext>
            </a:extLst>
          </p:cNvPr>
          <p:cNvSpPr/>
          <p:nvPr/>
        </p:nvSpPr>
        <p:spPr>
          <a:xfrm>
            <a:off x="571500" y="3200400"/>
            <a:ext cx="3746500" cy="1524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12AEE0-F2DA-9F6E-DD39-0E162E34ADAA}"/>
              </a:ext>
            </a:extLst>
          </p:cNvPr>
          <p:cNvSpPr txBox="1"/>
          <p:nvPr/>
        </p:nvSpPr>
        <p:spPr>
          <a:xfrm>
            <a:off x="723900" y="3327400"/>
            <a:ext cx="3441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Expense Budget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A30061-3B92-3463-CB91-8F2269084CFE}"/>
              </a:ext>
            </a:extLst>
          </p:cNvPr>
          <p:cNvSpPr txBox="1"/>
          <p:nvPr/>
        </p:nvSpPr>
        <p:spPr>
          <a:xfrm>
            <a:off x="723900" y="3683000"/>
            <a:ext cx="3441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Operating Expense Budget includes taxes, completed property insurance, management/admin, utilities, repairs, wastewater maintenance, reserve funding, and compliance items.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B8FB480-7663-689E-5B7A-FF44D7898830}"/>
              </a:ext>
            </a:extLst>
          </p:cNvPr>
          <p:cNvSpPr/>
          <p:nvPr/>
        </p:nvSpPr>
        <p:spPr>
          <a:xfrm>
            <a:off x="4699000" y="3200400"/>
            <a:ext cx="3619500" cy="1524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616DDE-1AC0-53F9-831D-A45BB8EB431F}"/>
              </a:ext>
            </a:extLst>
          </p:cNvPr>
          <p:cNvSpPr txBox="1"/>
          <p:nvPr/>
        </p:nvSpPr>
        <p:spPr>
          <a:xfrm>
            <a:off x="4851400" y="3327400"/>
            <a:ext cx="331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Management Income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38F2A2-D670-DBD9-E6FB-5A48D7DF2F7D}"/>
              </a:ext>
            </a:extLst>
          </p:cNvPr>
          <p:cNvSpPr txBox="1"/>
          <p:nvPr/>
        </p:nvSpPr>
        <p:spPr>
          <a:xfrm>
            <a:off x="4851400" y="3683000"/>
            <a:ext cx="3314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Management income is dynamic and based on 6.0% of effective gross income, so it changes as operating scenarios change.</a:t>
            </a:r>
          </a:p>
        </p:txBody>
      </p:sp>
    </p:spTree>
    <p:extLst>
      <p:ext uri="{BB962C8B-B14F-4D97-AF65-F5344CB8AC3E}">
        <p14:creationId xmlns:p14="http://schemas.microsoft.com/office/powerpoint/2010/main" val="320549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76CEC1-5EDD-F80B-40F8-48C541749E4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B8AC5-9FF6-046A-A791-4120120D8141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CAPITAL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DC3C5-21AF-F1C0-53A8-14EACBBF365A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Capitalization and Cost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BD6C9-C855-7261-1048-A3862EE10C88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Class A and Class B member capital fund development/build completion.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C51E73-2180-A886-0A86-C87E48A17BD0}"/>
              </a:ext>
            </a:extLst>
          </p:cNvPr>
          <p:cNvSpPr/>
          <p:nvPr/>
        </p:nvSpPr>
        <p:spPr>
          <a:xfrm>
            <a:off x="5715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7FDFD-4EC6-0591-8719-61BD59C9CAFC}"/>
              </a:ext>
            </a:extLst>
          </p:cNvPr>
          <p:cNvSpPr txBox="1"/>
          <p:nvPr/>
        </p:nvSpPr>
        <p:spPr>
          <a:xfrm>
            <a:off x="6477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847,500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6D5FC-8963-0062-599E-AF200049BCA7}"/>
              </a:ext>
            </a:extLst>
          </p:cNvPr>
          <p:cNvSpPr txBox="1"/>
          <p:nvPr/>
        </p:nvSpPr>
        <p:spPr>
          <a:xfrm>
            <a:off x="6731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Selected project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F91C15-D70E-D043-5FDB-F39FA8292AFE}"/>
              </a:ext>
            </a:extLst>
          </p:cNvPr>
          <p:cNvSpPr/>
          <p:nvPr/>
        </p:nvSpPr>
        <p:spPr>
          <a:xfrm>
            <a:off x="24130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72DB98-0CE8-B59C-FD2C-C6BB552030D8}"/>
              </a:ext>
            </a:extLst>
          </p:cNvPr>
          <p:cNvSpPr txBox="1"/>
          <p:nvPr/>
        </p:nvSpPr>
        <p:spPr>
          <a:xfrm>
            <a:off x="24892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300,000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E62231-ED6E-1742-6586-354C9FA85B04}"/>
              </a:ext>
            </a:extLst>
          </p:cNvPr>
          <p:cNvSpPr txBox="1"/>
          <p:nvPr/>
        </p:nvSpPr>
        <p:spPr>
          <a:xfrm>
            <a:off x="25146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Class A capital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E98229-349C-2898-5464-FF02E6F1ADC2}"/>
              </a:ext>
            </a:extLst>
          </p:cNvPr>
          <p:cNvSpPr/>
          <p:nvPr/>
        </p:nvSpPr>
        <p:spPr>
          <a:xfrm>
            <a:off x="42545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F365E1-F699-6CD5-E2AD-9AF0CAAC70CC}"/>
              </a:ext>
            </a:extLst>
          </p:cNvPr>
          <p:cNvSpPr txBox="1"/>
          <p:nvPr/>
        </p:nvSpPr>
        <p:spPr>
          <a:xfrm>
            <a:off x="43307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547,500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5E3146-6F81-147F-6DD7-11B4F91A8C07}"/>
              </a:ext>
            </a:extLst>
          </p:cNvPr>
          <p:cNvSpPr txBox="1"/>
          <p:nvPr/>
        </p:nvSpPr>
        <p:spPr>
          <a:xfrm>
            <a:off x="43561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Class B capital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2B92A2-8A98-86E3-F902-7A628D6EA709}"/>
              </a:ext>
            </a:extLst>
          </p:cNvPr>
          <p:cNvSpPr/>
          <p:nvPr/>
        </p:nvSpPr>
        <p:spPr>
          <a:xfrm>
            <a:off x="6096000" y="1778000"/>
            <a:ext cx="1981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136B2B-6E26-78AA-A4CF-1B73E3F19A28}"/>
              </a:ext>
            </a:extLst>
          </p:cNvPr>
          <p:cNvSpPr txBox="1"/>
          <p:nvPr/>
        </p:nvSpPr>
        <p:spPr>
          <a:xfrm>
            <a:off x="6172200" y="1930400"/>
            <a:ext cx="1828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100,000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5DC236-F33B-0F8F-8290-DC2A9AA11291}"/>
              </a:ext>
            </a:extLst>
          </p:cNvPr>
          <p:cNvSpPr txBox="1"/>
          <p:nvPr/>
        </p:nvSpPr>
        <p:spPr>
          <a:xfrm>
            <a:off x="6197600" y="2349500"/>
            <a:ext cx="1778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Sponsor property payment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D838CE-6E52-ADDB-F1EA-2FA5CD403436}"/>
              </a:ext>
            </a:extLst>
          </p:cNvPr>
          <p:cNvSpPr/>
          <p:nvPr/>
        </p:nvSpPr>
        <p:spPr>
          <a:xfrm>
            <a:off x="571500" y="3200400"/>
            <a:ext cx="3746500" cy="1524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03F619-4180-D524-CF97-79DDFCCFA44E}"/>
              </a:ext>
            </a:extLst>
          </p:cNvPr>
          <p:cNvSpPr txBox="1"/>
          <p:nvPr/>
        </p:nvSpPr>
        <p:spPr>
          <a:xfrm>
            <a:off x="723900" y="3327400"/>
            <a:ext cx="3441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Capital Source Rule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69D49D-B238-70AE-C53A-6DECF04B174E}"/>
              </a:ext>
            </a:extLst>
          </p:cNvPr>
          <p:cNvSpPr txBox="1"/>
          <p:nvPr/>
        </p:nvSpPr>
        <p:spPr>
          <a:xfrm>
            <a:off x="723900" y="3683000"/>
            <a:ext cx="3441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No construction loan is currently modeled. Member capital funds the development path; the only new debt modeled is the stabilization refinance/takeout loan.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B054CA2-8128-4F30-6167-0089F28861A7}"/>
              </a:ext>
            </a:extLst>
          </p:cNvPr>
          <p:cNvSpPr/>
          <p:nvPr/>
        </p:nvSpPr>
        <p:spPr>
          <a:xfrm>
            <a:off x="4699000" y="3200400"/>
            <a:ext cx="3619500" cy="1524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E37E7B-BBFF-DF48-0CB1-110F0617E462}"/>
              </a:ext>
            </a:extLst>
          </p:cNvPr>
          <p:cNvSpPr txBox="1"/>
          <p:nvPr/>
        </p:nvSpPr>
        <p:spPr>
          <a:xfrm>
            <a:off x="4851400" y="3327400"/>
            <a:ext cx="331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Sponsor Execution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CD7CAD-1EED-1AF8-4416-4131F26D175D}"/>
              </a:ext>
            </a:extLst>
          </p:cNvPr>
          <p:cNvSpPr txBox="1"/>
          <p:nvPr/>
        </p:nvSpPr>
        <p:spPr>
          <a:xfrm>
            <a:off x="4851400" y="3683000"/>
            <a:ext cx="3314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Post-frame construction, sponsor equipment/crew capacity, and scope discipline are central to cost feasibility.</a:t>
            </a:r>
          </a:p>
        </p:txBody>
      </p:sp>
    </p:spTree>
    <p:extLst>
      <p:ext uri="{BB962C8B-B14F-4D97-AF65-F5344CB8AC3E}">
        <p14:creationId xmlns:p14="http://schemas.microsoft.com/office/powerpoint/2010/main" val="377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A3047D-8431-72DF-4930-0FBBC0BE74E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CB51C-90E6-24E8-D14D-4E20647DFD15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REFINANCE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23C6A-2A50-183F-78CF-45DE2C0C8A64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Refinance Takeout 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8A837-2B7F-4BD7-5DCD-E11C6B19480D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Refinance is modeled as a stabilization/takeout event, not construction debt.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D0959A-B958-3241-D9B0-5B0BB9131CB3}"/>
              </a:ext>
            </a:extLst>
          </p:cNvPr>
          <p:cNvSpPr/>
          <p:nvPr/>
        </p:nvSpPr>
        <p:spPr>
          <a:xfrm>
            <a:off x="5715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730DAA-5B6A-2F21-3A0F-AB86211A97D8}"/>
              </a:ext>
            </a:extLst>
          </p:cNvPr>
          <p:cNvSpPr txBox="1"/>
          <p:nvPr/>
        </p:nvSpPr>
        <p:spPr>
          <a:xfrm>
            <a:off x="6477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194,000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A1F279-5FAA-AFBD-73D3-07DBC7F7B6EB}"/>
              </a:ext>
            </a:extLst>
          </p:cNvPr>
          <p:cNvSpPr txBox="1"/>
          <p:nvPr/>
        </p:nvSpPr>
        <p:spPr>
          <a:xfrm>
            <a:off x="6731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Existing debt payoff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E74B47-D45F-33A1-C9B7-92CF42242337}"/>
              </a:ext>
            </a:extLst>
          </p:cNvPr>
          <p:cNvSpPr/>
          <p:nvPr/>
        </p:nvSpPr>
        <p:spPr>
          <a:xfrm>
            <a:off x="24130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FFED6-0AAF-062A-4296-373CA542DD8F}"/>
              </a:ext>
            </a:extLst>
          </p:cNvPr>
          <p:cNvSpPr txBox="1"/>
          <p:nvPr/>
        </p:nvSpPr>
        <p:spPr>
          <a:xfrm>
            <a:off x="24892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732,276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4CB013-3FE7-CB57-D099-B1271ED2737D}"/>
              </a:ext>
            </a:extLst>
          </p:cNvPr>
          <p:cNvSpPr txBox="1"/>
          <p:nvPr/>
        </p:nvSpPr>
        <p:spPr>
          <a:xfrm>
            <a:off x="25146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Refi loan amount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DE0EE1-4C6A-B057-783A-CFF3B3D3F819}"/>
              </a:ext>
            </a:extLst>
          </p:cNvPr>
          <p:cNvSpPr/>
          <p:nvPr/>
        </p:nvSpPr>
        <p:spPr>
          <a:xfrm>
            <a:off x="42545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91FA52-8CE2-2B27-8188-AEC951D42992}"/>
              </a:ext>
            </a:extLst>
          </p:cNvPr>
          <p:cNvSpPr txBox="1"/>
          <p:nvPr/>
        </p:nvSpPr>
        <p:spPr>
          <a:xfrm>
            <a:off x="43307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538,276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26AB5E-AECE-159B-0500-2A9F722C3FE8}"/>
              </a:ext>
            </a:extLst>
          </p:cNvPr>
          <p:cNvSpPr txBox="1"/>
          <p:nvPr/>
        </p:nvSpPr>
        <p:spPr>
          <a:xfrm>
            <a:off x="43561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Net after existing debt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CF7105-83A8-6545-F27C-8D547DCCBB84}"/>
              </a:ext>
            </a:extLst>
          </p:cNvPr>
          <p:cNvSpPr/>
          <p:nvPr/>
        </p:nvSpPr>
        <p:spPr>
          <a:xfrm>
            <a:off x="6096000" y="1778000"/>
            <a:ext cx="1600200" cy="9144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1AFBAD-9EC5-BA51-4D9E-3C7AE6758073}"/>
              </a:ext>
            </a:extLst>
          </p:cNvPr>
          <p:cNvSpPr txBox="1"/>
          <p:nvPr/>
        </p:nvSpPr>
        <p:spPr>
          <a:xfrm>
            <a:off x="6172200" y="1930400"/>
            <a:ext cx="1447800" cy="3077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275960"/>
                </a:solidFill>
                <a:latin typeface="Aptos" panose="020B0004020202020204" pitchFamily="34" charset="0"/>
              </a:rPr>
              <a:t>Year 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BE6B3D-BAB1-E5AC-0430-5CEC78B55157}"/>
              </a:ext>
            </a:extLst>
          </p:cNvPr>
          <p:cNvSpPr txBox="1"/>
          <p:nvPr/>
        </p:nvSpPr>
        <p:spPr>
          <a:xfrm>
            <a:off x="6197600" y="2349500"/>
            <a:ext cx="1397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505D65"/>
                </a:solidFill>
                <a:latin typeface="Aptos" panose="020B0004020202020204" pitchFamily="34" charset="0"/>
              </a:rPr>
              <a:t>Refi timing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D96E89-74DE-BC7F-C1AB-8B61FF3B6D11}"/>
              </a:ext>
            </a:extLst>
          </p:cNvPr>
          <p:cNvSpPr txBox="1"/>
          <p:nvPr/>
        </p:nvSpPr>
        <p:spPr>
          <a:xfrm>
            <a:off x="762000" y="3276600"/>
            <a:ext cx="7366000" cy="9079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Refinance loan is limited by the current model rule and stabilized value constraints.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Existing debt includes first mortgage and private debt assumptions.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Refi proceeds flow through the waterfall with capital recovery before residual splits.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Current sale/exit timing in the STR workbook: Year 5.</a:t>
            </a:r>
          </a:p>
        </p:txBody>
      </p:sp>
    </p:spTree>
    <p:extLst>
      <p:ext uri="{BB962C8B-B14F-4D97-AF65-F5344CB8AC3E}">
        <p14:creationId xmlns:p14="http://schemas.microsoft.com/office/powerpoint/2010/main" val="363474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D3A31D-85F5-FA84-F2AD-016372689AA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4F70F-D300-74E8-06BC-477AAF7BC485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RETURNS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1A407-FBE1-25EA-2338-F1C665F6481D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Base Case Returns Snapshot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A8249-CA36-AE33-675B-F856DC44713E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Base Co-Living / Medium-Term remains the investor control case.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BA4343-0AE2-EEC5-962E-E81B41485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247351"/>
              </p:ext>
            </p:extLst>
          </p:nvPr>
        </p:nvGraphicFramePr>
        <p:xfrm>
          <a:off x="825500" y="1841500"/>
          <a:ext cx="71755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895352892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7052416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3764078133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4177387037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34700537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Participant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Capital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Total Profit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ROI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IRR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56530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Class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219,799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49840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Class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547,500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234,783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9.0%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43605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136,283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327,148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240.1%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58.5%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30811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000E853-B53C-B2F7-15DE-27033F2F38CD}"/>
              </a:ext>
            </a:extLst>
          </p:cNvPr>
          <p:cNvSpPr txBox="1"/>
          <p:nvPr/>
        </p:nvSpPr>
        <p:spPr>
          <a:xfrm>
            <a:off x="825500" y="3784600"/>
            <a:ext cx="7175500" cy="9079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Sponsor residual share: 50%.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Class A residual share: 18%; Class B residual share: 32%.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Class A and Class B shares are proportional to relative capital investment within the investor residual pool.</a:t>
            </a:r>
          </a:p>
          <a:p>
            <a:pPr>
              <a:spcAft>
                <a:spcPts val="600"/>
              </a:spcAft>
            </a:pPr>
            <a:r>
              <a:rPr lang="en-US" sz="1100">
                <a:solidFill>
                  <a:srgbClr val="1F2933"/>
                </a:solidFill>
                <a:latin typeface="Aptos" panose="020B0004020202020204" pitchFamily="34" charset="0"/>
              </a:rPr>
              <a:t>Returns separate capital investment from sponsor property payment/basis.</a:t>
            </a:r>
          </a:p>
        </p:txBody>
      </p:sp>
    </p:spTree>
    <p:extLst>
      <p:ext uri="{BB962C8B-B14F-4D97-AF65-F5344CB8AC3E}">
        <p14:creationId xmlns:p14="http://schemas.microsoft.com/office/powerpoint/2010/main" val="328324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0C47BA-8580-4889-D206-FAE8DECF6AD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F74B62-3FFF-AB9E-D2DB-3FEDDA5D6A50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B0C1D-EF36-7C0C-EB1C-0B192A225EA6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Key Risks and Mitigants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D4C55-A2F4-A374-A19B-B2D356677B67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STR upside does not remove the core development and operating risks.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27E9E-69F5-1741-07A3-FDCBC8E1D1B9}"/>
              </a:ext>
            </a:extLst>
          </p:cNvPr>
          <p:cNvSpPr/>
          <p:nvPr/>
        </p:nvSpPr>
        <p:spPr>
          <a:xfrm>
            <a:off x="609600" y="1676400"/>
            <a:ext cx="3708400" cy="1143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EF8B4-8DFD-540E-702B-5EAA54E0CA76}"/>
              </a:ext>
            </a:extLst>
          </p:cNvPr>
          <p:cNvSpPr txBox="1"/>
          <p:nvPr/>
        </p:nvSpPr>
        <p:spPr>
          <a:xfrm>
            <a:off x="762000" y="1803400"/>
            <a:ext cx="3403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Wastewater / Septic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075B0-CD59-3250-096D-F3AF4EB2FC86}"/>
              </a:ext>
            </a:extLst>
          </p:cNvPr>
          <p:cNvSpPr txBox="1"/>
          <p:nvPr/>
        </p:nvSpPr>
        <p:spPr>
          <a:xfrm>
            <a:off x="762000" y="2159000"/>
            <a:ext cx="34036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Risk: engineered system cost or density constraint. Mitigation: early soil, septic, wastewater engineering, and Wake County coordination.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9FABAD-321A-9A53-8F9E-F030554475C1}"/>
              </a:ext>
            </a:extLst>
          </p:cNvPr>
          <p:cNvSpPr/>
          <p:nvPr/>
        </p:nvSpPr>
        <p:spPr>
          <a:xfrm>
            <a:off x="4699000" y="1676400"/>
            <a:ext cx="3708400" cy="1143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E8FFBC-B813-F190-6669-236E7D04E875}"/>
              </a:ext>
            </a:extLst>
          </p:cNvPr>
          <p:cNvSpPr txBox="1"/>
          <p:nvPr/>
        </p:nvSpPr>
        <p:spPr>
          <a:xfrm>
            <a:off x="4851400" y="1803400"/>
            <a:ext cx="3403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STR Regulation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EC92E4-3763-636F-2EC0-1813C54713C9}"/>
              </a:ext>
            </a:extLst>
          </p:cNvPr>
          <p:cNvSpPr txBox="1"/>
          <p:nvPr/>
        </p:nvSpPr>
        <p:spPr>
          <a:xfrm>
            <a:off x="4851400" y="2159000"/>
            <a:ext cx="34036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Risk: weekly rental use may face jurisdictional limits or operating constraints. Mitigation: confirm treatment before relying on STR income.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22F1B7-DDB0-A016-D48F-3D7EB6F06960}"/>
              </a:ext>
            </a:extLst>
          </p:cNvPr>
          <p:cNvSpPr/>
          <p:nvPr/>
        </p:nvSpPr>
        <p:spPr>
          <a:xfrm>
            <a:off x="609600" y="3175000"/>
            <a:ext cx="3708400" cy="1143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BE4C31-AB28-7631-EAD7-41FE5FE5C137}"/>
              </a:ext>
            </a:extLst>
          </p:cNvPr>
          <p:cNvSpPr txBox="1"/>
          <p:nvPr/>
        </p:nvSpPr>
        <p:spPr>
          <a:xfrm>
            <a:off x="762000" y="3302000"/>
            <a:ext cx="3403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Construction Cost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0E021E-17F5-1161-6585-852196BD4D99}"/>
              </a:ext>
            </a:extLst>
          </p:cNvPr>
          <p:cNvSpPr txBox="1"/>
          <p:nvPr/>
        </p:nvSpPr>
        <p:spPr>
          <a:xfrm>
            <a:off x="762000" y="3657600"/>
            <a:ext cx="34036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Risk: budget creep above sponsor-controlled range. Mitigation: post-frame system, owner equipment/crew, scope discipline, and contingency.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190632-D08A-6DAF-D492-7D9332A79E0C}"/>
              </a:ext>
            </a:extLst>
          </p:cNvPr>
          <p:cNvSpPr/>
          <p:nvPr/>
        </p:nvSpPr>
        <p:spPr>
          <a:xfrm>
            <a:off x="4699000" y="3175000"/>
            <a:ext cx="3708400" cy="1143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58A883-35C8-950C-49D7-13888F5FC5D4}"/>
              </a:ext>
            </a:extLst>
          </p:cNvPr>
          <p:cNvSpPr txBox="1"/>
          <p:nvPr/>
        </p:nvSpPr>
        <p:spPr>
          <a:xfrm>
            <a:off x="4851400" y="3302000"/>
            <a:ext cx="3403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Lease-Up / Operations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D1CAEA-6A79-080C-1CD8-61E61CE2DC2B}"/>
              </a:ext>
            </a:extLst>
          </p:cNvPr>
          <p:cNvSpPr txBox="1"/>
          <p:nvPr/>
        </p:nvSpPr>
        <p:spPr>
          <a:xfrm>
            <a:off x="4851400" y="3657600"/>
            <a:ext cx="3403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Risk: occupancy and pricing vary by strategy. Mitigation: preserve base co-living use and test STR as operating upside.</a:t>
            </a:r>
          </a:p>
        </p:txBody>
      </p:sp>
    </p:spTree>
    <p:extLst>
      <p:ext uri="{BB962C8B-B14F-4D97-AF65-F5344CB8AC3E}">
        <p14:creationId xmlns:p14="http://schemas.microsoft.com/office/powerpoint/2010/main" val="37415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6A5780-E7DC-A948-DA48-AE0BF677F8B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0EF95-0FE1-9285-C0EA-2C0D17CC9240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TIMELINE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32992-BBA5-A198-BF7A-EBE0C27DFD37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Execution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D8ED5-3249-B521-E2FE-EF06E8556413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Base delivery path remains unchanged; STR validation is layered into operations and marketing.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B1EF38-5163-6136-00E6-70D61E102F43}"/>
              </a:ext>
            </a:extLst>
          </p:cNvPr>
          <p:cNvSpPr txBox="1"/>
          <p:nvPr/>
        </p:nvSpPr>
        <p:spPr>
          <a:xfrm>
            <a:off x="698500" y="1752600"/>
            <a:ext cx="76200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Entitlement + Engineering: confirm zoning, occupancy treatment, parking, soil/septic/wastewater feasibility, and private utility path.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Capital Formation: finalize Class A, Class B, trust/member documents, and sponsor contribution assumptions.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Design + Permit: advance architecture, civil, wastewater, and construction pricing to permit-ready package.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Build + Stabilize: deliver post-frame building, lease suites, test STR demand, refinance, and execute waterfall.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05FD73-4C29-9E31-11B5-76C792D8A815}"/>
              </a:ext>
            </a:extLst>
          </p:cNvPr>
          <p:cNvSpPr txBox="1"/>
          <p:nvPr/>
        </p:nvSpPr>
        <p:spPr>
          <a:xfrm>
            <a:off x="711200" y="4140200"/>
            <a:ext cx="711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Current model: refinance year 3; exit year 5.</a:t>
            </a:r>
          </a:p>
        </p:txBody>
      </p:sp>
    </p:spTree>
    <p:extLst>
      <p:ext uri="{BB962C8B-B14F-4D97-AF65-F5344CB8AC3E}">
        <p14:creationId xmlns:p14="http://schemas.microsoft.com/office/powerpoint/2010/main" val="371624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F59966-C9A5-1CFC-A210-4060C6ED4396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72251-DE1D-C58F-D8CE-5350B5AAEBA5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STR OPTIONS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AC619-FCD5-DBAB-7FE7-024264EDF77C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Rent Option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7ED99-6799-FCC0-FFCB-0007B48741D7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STR scenarios are placed behind the base case as upside comparisons, not as the starting underwriting case.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1F967B3-FA11-CA57-05A8-FD2C00BC2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315859"/>
              </p:ext>
            </p:extLst>
          </p:nvPr>
        </p:nvGraphicFramePr>
        <p:xfrm>
          <a:off x="698500" y="1841500"/>
          <a:ext cx="74930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50">
                  <a:extLst>
                    <a:ext uri="{9D8B030D-6E8A-4147-A177-3AD203B41FA5}">
                      <a16:colId xmlns:a16="http://schemas.microsoft.com/office/drawing/2014/main" val="55631562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467498590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1870056742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307671335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Scenario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Year 1 Gross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Stabilized Gross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1">
                          <a:solidFill>
                            <a:srgbClr val="1A3C48"/>
                          </a:solidFill>
                          <a:latin typeface="Aptos" panose="020B0004020202020204" pitchFamily="34" charset="0"/>
                        </a:rPr>
                        <a:t>Use in Model</a:t>
                      </a:r>
                    </a:p>
                  </a:txBody>
                  <a:tcPr>
                    <a:solidFill>
                      <a:srgbClr val="EC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79642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105,600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Control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25832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One-floor 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95,440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173,400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Upside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5111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Whole-building 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70,798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183,040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Highest upside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27840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22A468A-23DE-9554-0E30-CC02372B4215}"/>
              </a:ext>
            </a:extLst>
          </p:cNvPr>
          <p:cNvSpPr/>
          <p:nvPr/>
        </p:nvSpPr>
        <p:spPr>
          <a:xfrm>
            <a:off x="736600" y="3810000"/>
            <a:ext cx="7429500" cy="1143000"/>
          </a:xfrm>
          <a:prstGeom prst="rect">
            <a:avLst/>
          </a:prstGeom>
          <a:solidFill>
            <a:srgbClr val="ECF3F2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D6532A-F0F1-9D52-27EF-920E77EF3F54}"/>
              </a:ext>
            </a:extLst>
          </p:cNvPr>
          <p:cNvSpPr txBox="1"/>
          <p:nvPr/>
        </p:nvSpPr>
        <p:spPr>
          <a:xfrm>
            <a:off x="889000" y="3937000"/>
            <a:ext cx="712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75960"/>
                </a:solidFill>
                <a:latin typeface="Aptos" panose="020B0004020202020204" pitchFamily="34" charset="0"/>
              </a:rPr>
              <a:t>Interpretation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82FD1F-340E-6853-8139-FC334B314EB1}"/>
              </a:ext>
            </a:extLst>
          </p:cNvPr>
          <p:cNvSpPr txBox="1"/>
          <p:nvPr/>
        </p:nvSpPr>
        <p:spPr>
          <a:xfrm>
            <a:off x="889000" y="4292600"/>
            <a:ext cx="71247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1F2933"/>
                </a:solidFill>
                <a:latin typeface="Aptos" panose="020B0004020202020204" pitchFamily="34" charset="0"/>
              </a:rPr>
              <a:t>Base Co-Living / Medium-Term is the control case. One Floor STR + Co-Living is the preferred operational test. Whole Building STR is the highest-upside case but requires booking validation and stronger operating discipline.</a:t>
            </a:r>
          </a:p>
        </p:txBody>
      </p:sp>
    </p:spTree>
    <p:extLst>
      <p:ext uri="{BB962C8B-B14F-4D97-AF65-F5344CB8AC3E}">
        <p14:creationId xmlns:p14="http://schemas.microsoft.com/office/powerpoint/2010/main" val="2257084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B3A72F-8786-9399-3E3C-29FB24119F0C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6EA6E0-998D-67A0-2CB4-5FB1FF5CC2AB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STR OPTIONS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F3EEE-187E-9596-8565-C928D4A07B18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Participant Return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B4994-810B-4ADA-46B7-8BF18800F324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The STR workbook compares total profit, ROI, and IRR by participant across rent options.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4F8692-849A-8193-EAC1-2F24309F7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645" y="2397531"/>
            <a:ext cx="1845109" cy="15168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3796CA-D92D-03F4-467F-C377635B5722}"/>
              </a:ext>
            </a:extLst>
          </p:cNvPr>
          <p:cNvSpPr txBox="1"/>
          <p:nvPr/>
        </p:nvSpPr>
        <p:spPr>
          <a:xfrm>
            <a:off x="698500" y="4889500"/>
            <a:ext cx="749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505D65"/>
                </a:solidFill>
                <a:latin typeface="Aptos" panose="020B0004020202020204" pitchFamily="34" charset="0"/>
              </a:rPr>
              <a:t>Chart reflects the current STR workbook comparison table. Base case is retained for comparison against one-floor and full-building STR upside.</a:t>
            </a:r>
          </a:p>
        </p:txBody>
      </p:sp>
    </p:spTree>
    <p:extLst>
      <p:ext uri="{BB962C8B-B14F-4D97-AF65-F5344CB8AC3E}">
        <p14:creationId xmlns:p14="http://schemas.microsoft.com/office/powerpoint/2010/main" val="1034383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B5737D-857D-707C-3245-11EC04B748BA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A3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51D037-3AB2-AEE0-303E-7614B119D52F}"/>
              </a:ext>
            </a:extLst>
          </p:cNvPr>
          <p:cNvSpPr txBox="1"/>
          <p:nvPr/>
        </p:nvSpPr>
        <p:spPr>
          <a:xfrm>
            <a:off x="482600" y="330200"/>
            <a:ext cx="381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9D9CD-1064-4394-1539-9620A0D7E850}"/>
              </a:ext>
            </a:extLst>
          </p:cNvPr>
          <p:cNvSpPr txBox="1"/>
          <p:nvPr/>
        </p:nvSpPr>
        <p:spPr>
          <a:xfrm>
            <a:off x="482600" y="596900"/>
            <a:ext cx="8255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A3C48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1182B-C1A2-ABA2-F766-62AEA8B572F0}"/>
              </a:ext>
            </a:extLst>
          </p:cNvPr>
          <p:cNvSpPr txBox="1"/>
          <p:nvPr/>
        </p:nvSpPr>
        <p:spPr>
          <a:xfrm>
            <a:off x="508000" y="12192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05D65"/>
                </a:solidFill>
                <a:latin typeface="Aptos" panose="020B0004020202020204" pitchFamily="34" charset="0"/>
              </a:rPr>
              <a:t>Use STR as a tested option, not an unverified requirement.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8FF91-BF4F-CCD9-CFD6-B77A4DD12B7F}"/>
              </a:ext>
            </a:extLst>
          </p:cNvPr>
          <p:cNvSpPr txBox="1"/>
          <p:nvPr/>
        </p:nvSpPr>
        <p:spPr>
          <a:xfrm>
            <a:off x="698500" y="1727200"/>
            <a:ext cx="7493000" cy="123110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Keep base co-living / medium-term rental as the control underwriting case.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Validate one-floor STR with live comp set and regulatory review before adopting as a primary strategy.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Confirm wastewater engineering path and reserve field requirements.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Refine schematic floor plan with dimensions, code/accessibility review, and stacked plumbing strategy.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Update investor package as workbook assumptions change.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3205AD-CEC7-0564-3420-41EEAC8DB23D}"/>
              </a:ext>
            </a:extLst>
          </p:cNvPr>
          <p:cNvSpPr txBox="1"/>
          <p:nvPr/>
        </p:nvSpPr>
        <p:spPr>
          <a:xfrm>
            <a:off x="711200" y="4508500"/>
            <a:ext cx="749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05D65"/>
                </a:solidFill>
                <a:latin typeface="Aptos" panose="020B0004020202020204" pitchFamily="34" charset="0"/>
              </a:rPr>
              <a:t>Planning model only. Not tax, legal, securities, lending, engineering, or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138659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Microsoft Office PowerPoint</Application>
  <PresentationFormat>Widescreen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3</cp:revision>
  <dcterms:created xsi:type="dcterms:W3CDTF">2026-05-16T02:45:59Z</dcterms:created>
  <dcterms:modified xsi:type="dcterms:W3CDTF">2026-05-18T11:25:17Z</dcterms:modified>
</cp:coreProperties>
</file>