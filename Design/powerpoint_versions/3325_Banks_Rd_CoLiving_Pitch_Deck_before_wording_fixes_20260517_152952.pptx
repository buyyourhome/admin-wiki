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64FE8-4F3D-811E-1713-7877219C7EBE}"/>
              </a:ext>
            </a:extLst>
          </p:cNvPr>
          <p:cNvSpPr txBox="1"/>
          <p:nvPr/>
        </p:nvSpPr>
        <p:spPr>
          <a:xfrm>
            <a:off x="609600" y="990600"/>
            <a:ext cx="520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8D3F-BCFD-63AA-92EC-9DBC6EE74DAA}"/>
              </a:ext>
            </a:extLst>
          </p:cNvPr>
          <p:cNvSpPr txBox="1"/>
          <p:nvPr/>
        </p:nvSpPr>
        <p:spPr>
          <a:xfrm>
            <a:off x="635000" y="1778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E2ECF0"/>
                </a:solidFill>
                <a:latin typeface="Aptos" panose="020B0004020202020204" pitchFamily="34" charset="0"/>
              </a:rPr>
              <a:t>Co-Living Residential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34-1B2B-EAAD-09E2-5D336C24B36A}"/>
              </a:ext>
            </a:extLst>
          </p:cNvPr>
          <p:cNvSpPr txBox="1"/>
          <p:nvPr/>
        </p:nvSpPr>
        <p:spPr>
          <a:xfrm>
            <a:off x="635000" y="2286000"/>
            <a:ext cx="495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C4D1D7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E8B6F-A4A8-F152-0EC3-4F011A4385FF}"/>
              </a:ext>
            </a:extLst>
          </p:cNvPr>
          <p:cNvSpPr txBox="1"/>
          <p:nvPr/>
        </p:nvSpPr>
        <p:spPr>
          <a:xfrm>
            <a:off x="635000" y="3175000"/>
            <a:ext cx="4953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Professionally managed boutique co-living platform with 6,000 SF program, staged capitalization, engineered utility planning, and refinance-oriented capital recovery.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623A-BB57-40F4-2DE6-7FE3DFB8BA58}"/>
              </a:ext>
            </a:extLst>
          </p:cNvPr>
          <p:cNvSpPr txBox="1"/>
          <p:nvPr/>
        </p:nvSpPr>
        <p:spPr>
          <a:xfrm>
            <a:off x="635000" y="5689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4D1D7"/>
                </a:solidFill>
                <a:latin typeface="Aptos" panose="020B0004020202020204" pitchFamily="34" charset="0"/>
              </a:rPr>
              <a:t>Investor pitch deck |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57C9-CA5A-A998-A58C-60BD6450B251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80AF-951D-6B40-97C1-A56BDC0C2E85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8E40E-7788-4F1F-A4C6-50BB0542AE63}"/>
              </a:ext>
            </a:extLst>
          </p:cNvPr>
          <p:cNvSpPr txBox="1"/>
          <p:nvPr/>
        </p:nvSpPr>
        <p:spPr>
          <a:xfrm>
            <a:off x="736600" y="1625600"/>
            <a:ext cx="6604000" cy="2369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Sponsor-led co-living residential development in the Triangle market corridor.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Long-term income-producing asset, not a speculative resale project.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Targets workforce housing, graduate/professional co-living, furnished medium-term rental demand, and optional one-floor short-term rental marketing.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Capital recovery strategy relies on stabilization, refinance, and operating cash 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BC44-F304-2D06-9DE0-7AF3E66FD1F9}"/>
              </a:ext>
            </a:extLst>
          </p:cNvPr>
          <p:cNvSpPr txBox="1"/>
          <p:nvPr/>
        </p:nvSpPr>
        <p:spPr>
          <a:xfrm>
            <a:off x="8102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D692-5365-D231-881C-28D9FB752E09}"/>
              </a:ext>
            </a:extLst>
          </p:cNvPr>
          <p:cNvSpPr txBox="1"/>
          <p:nvPr/>
        </p:nvSpPr>
        <p:spPr>
          <a:xfrm>
            <a:off x="8102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Controlled land position, 6,000 SF post-frame construction strategy, sponsor equipment and crew capacity, and flexible floor-by-floor rental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2A44-4FB2-F597-FAD9-B9529D8C2DCB}"/>
              </a:ext>
            </a:extLst>
          </p:cNvPr>
          <p:cNvSpPr txBox="1"/>
          <p:nvPr/>
        </p:nvSpPr>
        <p:spPr>
          <a:xfrm>
            <a:off x="8102600" y="38862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FB2D-615F-5608-66B9-C729780B1573}"/>
              </a:ext>
            </a:extLst>
          </p:cNvPr>
          <p:cNvSpPr txBox="1"/>
          <p:nvPr/>
        </p:nvSpPr>
        <p:spPr>
          <a:xfrm>
            <a:off x="8102600" y="42672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Planning model with entitlement, wastewater, utility, and capitalization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A4A94-C7E4-FB52-D00A-B2310F02395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51EA-0C81-84B5-BB99-A307F3F52004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1180-532D-4641-A9B6-860BE518F3C6}"/>
              </a:ext>
            </a:extLst>
          </p:cNvPr>
          <p:cNvSpPr txBox="1"/>
          <p:nvPr/>
        </p:nvSpPr>
        <p:spPr>
          <a:xfrm>
            <a:off x="863600" y="1765300"/>
            <a:ext cx="1930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17FA-D0DF-3BD0-7AED-0D174E186EEF}"/>
              </a:ext>
            </a:extLst>
          </p:cNvPr>
          <p:cNvSpPr txBox="1"/>
          <p:nvPr/>
        </p:nvSpPr>
        <p:spPr>
          <a:xfrm>
            <a:off x="863600" y="2209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E1940-1D31-85E7-A649-8CA3BFE4A7D4}"/>
              </a:ext>
            </a:extLst>
          </p:cNvPr>
          <p:cNvSpPr txBox="1"/>
          <p:nvPr/>
        </p:nvSpPr>
        <p:spPr>
          <a:xfrm>
            <a:off x="34036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52983-2DDC-8139-1697-90487BE52896}"/>
              </a:ext>
            </a:extLst>
          </p:cNvPr>
          <p:cNvSpPr txBox="1"/>
          <p:nvPr/>
        </p:nvSpPr>
        <p:spPr>
          <a:xfrm>
            <a:off x="34036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B005-E074-D2C9-A306-A9A3BBF875A7}"/>
              </a:ext>
            </a:extLst>
          </p:cNvPr>
          <p:cNvSpPr txBox="1"/>
          <p:nvPr/>
        </p:nvSpPr>
        <p:spPr>
          <a:xfrm>
            <a:off x="6350000" y="1765300"/>
            <a:ext cx="1676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B327F-22D5-6C8C-0312-DFD0F561050E}"/>
              </a:ext>
            </a:extLst>
          </p:cNvPr>
          <p:cNvSpPr txBox="1"/>
          <p:nvPr/>
        </p:nvSpPr>
        <p:spPr>
          <a:xfrm>
            <a:off x="6350000" y="2209800"/>
            <a:ext cx="1676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Residential Suites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4B99-893C-8913-B7D7-00B78E8E86C5}"/>
              </a:ext>
            </a:extLst>
          </p:cNvPr>
          <p:cNvSpPr txBox="1"/>
          <p:nvPr/>
        </p:nvSpPr>
        <p:spPr>
          <a:xfrm>
            <a:off x="86360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7919-3A2A-931B-C54D-A24B0E726264}"/>
              </a:ext>
            </a:extLst>
          </p:cNvPr>
          <p:cNvSpPr txBox="1"/>
          <p:nvPr/>
        </p:nvSpPr>
        <p:spPr>
          <a:xfrm>
            <a:off x="86360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B7641-3A91-F95A-299D-F1B58EFE946A}"/>
              </a:ext>
            </a:extLst>
          </p:cNvPr>
          <p:cNvSpPr txBox="1"/>
          <p:nvPr/>
        </p:nvSpPr>
        <p:spPr>
          <a:xfrm>
            <a:off x="1117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First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Floor plan exhibits should preserve scale against the 6,000 SF building assumption.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67CD-E9AC-D299-7F23-DB60C531F9CC}"/>
              </a:ext>
            </a:extLst>
          </p:cNvPr>
          <p:cNvSpPr txBox="1"/>
          <p:nvPr/>
        </p:nvSpPr>
        <p:spPr>
          <a:xfrm>
            <a:off x="6578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Second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Matching floor mix supports operating flexibility, including a possible one-floor short-term rental scenario.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BB8FF-14AB-8A45-F8DE-5B0888933032}"/>
              </a:ext>
            </a:extLst>
          </p:cNvPr>
          <p:cNvSpPr txBox="1"/>
          <p:nvPr/>
        </p:nvSpPr>
        <p:spPr>
          <a:xfrm>
            <a:off x="889000" y="5334000"/>
            <a:ext cx="1041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Shared amenities include communal kitchen, dining, lounge,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AB61-0937-501E-8E0F-4A1653B0F3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79D69-FBDA-8D06-C6FD-ACF34A6778EE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22400"/>
            <a:ext cx="6858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47AB0-F7BF-565F-F219-01F5304EF2EF}"/>
              </a:ext>
            </a:extLst>
          </p:cNvPr>
          <p:cNvSpPr txBox="1"/>
          <p:nvPr/>
        </p:nvSpPr>
        <p:spPr>
          <a:xfrm>
            <a:off x="736600" y="61722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Aptos" panose="020B0004020202020204" pitchFamily="34" charset="0"/>
              </a:rPr>
              <a:t>Concept image for discussion only. Floor plan exhibits should preserve scale against the 6,000 SF building assumption.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39B2-3EAF-75A1-D4D2-3320E61F858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FCB-84B4-9F79-945E-0BA5129010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Rent Positioning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3E2D-0D4C-00CF-64AA-4BF895307A35}"/>
              </a:ext>
            </a:extLst>
          </p:cNvPr>
          <p:cNvSpPr txBox="1"/>
          <p:nvPr/>
        </p:nvSpPr>
        <p:spPr>
          <a:xfrm>
            <a:off x="11176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Premium Suites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07C00-7A22-3592-86A4-C87E477AA030}"/>
              </a:ext>
            </a:extLst>
          </p:cNvPr>
          <p:cNvSpPr txBox="1"/>
          <p:nvPr/>
        </p:nvSpPr>
        <p:spPr>
          <a:xfrm>
            <a:off x="11176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1,350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1,600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1,750 / 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D492B-663A-BCAC-34CB-E2C1CD9D54CD}"/>
              </a:ext>
            </a:extLst>
          </p:cNvPr>
          <p:cNvSpPr txBox="1"/>
          <p:nvPr/>
        </p:nvSpPr>
        <p:spPr>
          <a:xfrm>
            <a:off x="47244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Co-Living Suites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230D2-B2C9-B156-01A8-C8E08ED859A0}"/>
              </a:ext>
            </a:extLst>
          </p:cNvPr>
          <p:cNvSpPr txBox="1"/>
          <p:nvPr/>
        </p:nvSpPr>
        <p:spPr>
          <a:xfrm>
            <a:off x="47244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1,100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1,250 / 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B909-707E-6E14-3DE6-90F281245710}"/>
              </a:ext>
            </a:extLst>
          </p:cNvPr>
          <p:cNvSpPr txBox="1"/>
          <p:nvPr/>
        </p:nvSpPr>
        <p:spPr>
          <a:xfrm>
            <a:off x="8331200" y="1828800"/>
            <a:ext cx="2794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Gross Monthly Rent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Low: 8,800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Medium: 10,800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High: 12,000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B9941-F770-6557-8C67-EE13B60C5E7E}"/>
              </a:ext>
            </a:extLst>
          </p:cNvPr>
          <p:cNvSpPr txBox="1"/>
          <p:nvPr/>
        </p:nvSpPr>
        <p:spPr>
          <a:xfrm>
            <a:off x="1143000" y="4191000"/>
            <a:ext cx="939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Current model uses effective-year rent schedule; low begins Year 1, medium Year 2, high Year 3.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Refinance-year rent scenario currently uses 12,000 monthly gross rent.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Rent schedule is displayed by effective year.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C40D9-58CF-9CB5-3819-58C8C9F1E333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9C7F8-FB49-AF31-401E-D96C133D5648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68AE4-2B1D-4B94-CA05-841A26AFECF8}"/>
              </a:ext>
            </a:extLst>
          </p:cNvPr>
          <p:cNvSpPr txBox="1"/>
          <p:nvPr/>
        </p:nvSpPr>
        <p:spPr>
          <a:xfrm>
            <a:off x="1066800" y="18161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E6AAB-C142-5B21-274D-ECCE8D82832A}"/>
              </a:ext>
            </a:extLst>
          </p:cNvPr>
          <p:cNvSpPr txBox="1"/>
          <p:nvPr/>
        </p:nvSpPr>
        <p:spPr>
          <a:xfrm>
            <a:off x="1066800" y="22606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Monthly Gross 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4467D-46BF-3760-A9AC-7E348AA50B49}"/>
              </a:ext>
            </a:extLst>
          </p:cNvPr>
          <p:cNvSpPr txBox="1"/>
          <p:nvPr/>
        </p:nvSpPr>
        <p:spPr>
          <a:xfrm>
            <a:off x="4368800" y="18161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2A775-9331-CF76-E50D-F88CC700AC55}"/>
              </a:ext>
            </a:extLst>
          </p:cNvPr>
          <p:cNvSpPr txBox="1"/>
          <p:nvPr/>
        </p:nvSpPr>
        <p:spPr>
          <a:xfrm>
            <a:off x="4368800" y="22606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C7348-332D-9F7A-EE1E-F939DD36FAB0}"/>
              </a:ext>
            </a:extLst>
          </p:cNvPr>
          <p:cNvSpPr txBox="1"/>
          <p:nvPr/>
        </p:nvSpPr>
        <p:spPr>
          <a:xfrm>
            <a:off x="7162800" y="1816100"/>
            <a:ext cx="243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B373-CCFA-532E-C03A-B18B59747E27}"/>
              </a:ext>
            </a:extLst>
          </p:cNvPr>
          <p:cNvSpPr txBox="1"/>
          <p:nvPr/>
        </p:nvSpPr>
        <p:spPr>
          <a:xfrm>
            <a:off x="7162800" y="2260600"/>
            <a:ext cx="243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OpEx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BC899-C8D8-706E-9261-88009056802D}"/>
              </a:ext>
            </a:extLst>
          </p:cNvPr>
          <p:cNvSpPr txBox="1"/>
          <p:nvPr/>
        </p:nvSpPr>
        <p:spPr>
          <a:xfrm>
            <a:off x="10210800" y="18161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8,035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5E65-D81F-8C01-2D77-F24C472EA41C}"/>
              </a:ext>
            </a:extLst>
          </p:cNvPr>
          <p:cNvSpPr txBox="1"/>
          <p:nvPr/>
        </p:nvSpPr>
        <p:spPr>
          <a:xfrm>
            <a:off x="10210800" y="2260600"/>
            <a:ext cx="116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Management Fee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071F7-9190-2E37-C6A9-E56886BB24A3}"/>
              </a:ext>
            </a:extLst>
          </p:cNvPr>
          <p:cNvSpPr txBox="1"/>
          <p:nvPr/>
        </p:nvSpPr>
        <p:spPr>
          <a:xfrm>
            <a:off x="1244600" y="3479800"/>
            <a:ext cx="431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E37D8-305F-A3A3-1D9C-C537B0A3C024}"/>
              </a:ext>
            </a:extLst>
          </p:cNvPr>
          <p:cNvSpPr txBox="1"/>
          <p:nvPr/>
        </p:nvSpPr>
        <p:spPr>
          <a:xfrm>
            <a:off x="1244600" y="3860800"/>
            <a:ext cx="431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Operating Expense Budget currently uses the calculated budget ratio of 46.9%. Budget includes property taxes, completed property insurance, management/admin, utilities, repairs, wastewater maintenance, reserves, and compliance items.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87381-2BF9-8219-7181-BD8E8FC20D64}"/>
              </a:ext>
            </a:extLst>
          </p:cNvPr>
          <p:cNvSpPr txBox="1"/>
          <p:nvPr/>
        </p:nvSpPr>
        <p:spPr>
          <a:xfrm>
            <a:off x="6705600" y="3479800"/>
            <a:ext cx="419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9D4-EFA9-1303-22A6-CEBFCD45ADBA}"/>
              </a:ext>
            </a:extLst>
          </p:cNvPr>
          <p:cNvSpPr txBox="1"/>
          <p:nvPr/>
        </p:nvSpPr>
        <p:spPr>
          <a:xfrm>
            <a:off x="6705600" y="3860800"/>
            <a:ext cx="4191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Returns Table calculates management income dynamically as 6.00% of each year effective gross income.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4355-164C-F4E0-EE53-27EDE804DBC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40161-BF8A-C4BB-FCD4-69747F042457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3EB1-5BE9-E5A9-233C-A711CD3C08BA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62A44-01F6-2C06-DFB4-57ECEF757AE9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EF4AE-8B81-6411-C608-72A9AB2D8894}"/>
              </a:ext>
            </a:extLst>
          </p:cNvPr>
          <p:cNvSpPr txBox="1"/>
          <p:nvPr/>
        </p:nvSpPr>
        <p:spPr>
          <a:xfrm>
            <a:off x="4114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FDC7F-B804-8F3D-8CA3-9AFD3C985C8A}"/>
              </a:ext>
            </a:extLst>
          </p:cNvPr>
          <p:cNvSpPr txBox="1"/>
          <p:nvPr/>
        </p:nvSpPr>
        <p:spPr>
          <a:xfrm>
            <a:off x="4114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C99D1-A036-1EA1-1F2A-5756C0929AF4}"/>
              </a:ext>
            </a:extLst>
          </p:cNvPr>
          <p:cNvSpPr txBox="1"/>
          <p:nvPr/>
        </p:nvSpPr>
        <p:spPr>
          <a:xfrm>
            <a:off x="6908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FCBAC-22D3-85AF-42C7-1193134BDADC}"/>
              </a:ext>
            </a:extLst>
          </p:cNvPr>
          <p:cNvSpPr txBox="1"/>
          <p:nvPr/>
        </p:nvSpPr>
        <p:spPr>
          <a:xfrm>
            <a:off x="6908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4B0E7-C34D-7D64-D1FB-641EF188BA44}"/>
              </a:ext>
            </a:extLst>
          </p:cNvPr>
          <p:cNvSpPr txBox="1"/>
          <p:nvPr/>
        </p:nvSpPr>
        <p:spPr>
          <a:xfrm>
            <a:off x="9702800" y="1765300"/>
            <a:ext cx="1803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9E1-E12D-EF21-C443-F1443E4ECBBF}"/>
              </a:ext>
            </a:extLst>
          </p:cNvPr>
          <p:cNvSpPr txBox="1"/>
          <p:nvPr/>
        </p:nvSpPr>
        <p:spPr>
          <a:xfrm>
            <a:off x="9702800" y="2209800"/>
            <a:ext cx="1803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05D93-1200-B663-5A0C-01BEB8C12091}"/>
              </a:ext>
            </a:extLst>
          </p:cNvPr>
          <p:cNvSpPr txBox="1"/>
          <p:nvPr/>
        </p:nvSpPr>
        <p:spPr>
          <a:xfrm>
            <a:off x="1270000" y="3378200"/>
            <a:ext cx="444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Sponsor-Controlled Cost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FE5FA-DDF5-7847-C4AA-76D6B8218953}"/>
              </a:ext>
            </a:extLst>
          </p:cNvPr>
          <p:cNvSpPr txBox="1"/>
          <p:nvPr/>
        </p:nvSpPr>
        <p:spPr>
          <a:xfrm>
            <a:off x="1270000" y="3759200"/>
            <a:ext cx="444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sponsor-controlled bridge: 847,500 low / 1,585,000 high. Case assumes post-frame construction, sponsor equipment/crew capacity, disciplined finish scope, and 100,000 payment to sponsor for property.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92B94-F473-5352-2C10-6884BD6604F5}"/>
              </a:ext>
            </a:extLst>
          </p:cNvPr>
          <p:cNvSpPr txBox="1"/>
          <p:nvPr/>
        </p:nvSpPr>
        <p:spPr>
          <a:xfrm>
            <a:off x="6731000" y="3378200"/>
            <a:ext cx="406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9270B-D1AD-9A36-84F4-A47A0686BD4A}"/>
              </a:ext>
            </a:extLst>
          </p:cNvPr>
          <p:cNvSpPr txBox="1"/>
          <p:nvPr/>
        </p:nvSpPr>
        <p:spPr>
          <a:xfrm>
            <a:off x="6731000" y="3759200"/>
            <a:ext cx="406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Class A and Class B member capital fund development/build completion. No construction loan is currently modeled.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4B5CE-72CB-D0AB-2742-C5FD965A8E6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8C76C-67F6-5034-7652-921D566BA2C6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667-B003-9A6C-266A-A623E33BFA4B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8F0B4-2B06-F93E-805D-30F82692D271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B1D5-D3A2-9AD1-3171-85801C00785D}"/>
              </a:ext>
            </a:extLst>
          </p:cNvPr>
          <p:cNvSpPr txBox="1"/>
          <p:nvPr/>
        </p:nvSpPr>
        <p:spPr>
          <a:xfrm>
            <a:off x="4114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B1E5-C553-F084-E965-0B34A35146CB}"/>
              </a:ext>
            </a:extLst>
          </p:cNvPr>
          <p:cNvSpPr txBox="1"/>
          <p:nvPr/>
        </p:nvSpPr>
        <p:spPr>
          <a:xfrm>
            <a:off x="4114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A3E-9360-626A-D2CE-6C1CC472E264}"/>
              </a:ext>
            </a:extLst>
          </p:cNvPr>
          <p:cNvSpPr txBox="1"/>
          <p:nvPr/>
        </p:nvSpPr>
        <p:spPr>
          <a:xfrm>
            <a:off x="7162800" y="17653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AA084-ABB5-2EFE-FEE2-73F5B1D41727}"/>
              </a:ext>
            </a:extLst>
          </p:cNvPr>
          <p:cNvSpPr txBox="1"/>
          <p:nvPr/>
        </p:nvSpPr>
        <p:spPr>
          <a:xfrm>
            <a:off x="7162800" y="22098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8B0F5-7B16-496A-D3C1-08E9C29ED087}"/>
              </a:ext>
            </a:extLst>
          </p:cNvPr>
          <p:cNvSpPr txBox="1"/>
          <p:nvPr/>
        </p:nvSpPr>
        <p:spPr>
          <a:xfrm>
            <a:off x="10464800" y="17653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F71D-49FB-A235-514F-D8BBAF50C30C}"/>
              </a:ext>
            </a:extLst>
          </p:cNvPr>
          <p:cNvSpPr txBox="1"/>
          <p:nvPr/>
        </p:nvSpPr>
        <p:spPr>
          <a:xfrm>
            <a:off x="10464800" y="2209800"/>
            <a:ext cx="1168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Annual Debt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FDCB8-4919-89CB-4C1F-E21454EBD720}"/>
              </a:ext>
            </a:extLst>
          </p:cNvPr>
          <p:cNvSpPr txBox="1"/>
          <p:nvPr/>
        </p:nvSpPr>
        <p:spPr>
          <a:xfrm>
            <a:off x="1117600" y="3429000"/>
            <a:ext cx="9779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Only new loan currently modeled is the stabilization refinance/takeout loan.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 loan is the lesser of 70% of stabilized value or existing debt plus Class A plus Class B capitalization.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Operating cash and refinance proceeds flow through the waterfall according to the selected timing and priority rules.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F836-D160-99BE-0C70-2ED1017EE8A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E657A-D219-1422-F91A-27B25920568A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Waterfall and Returns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9F6E-52BC-3124-CA49-5C5AA96A01BA}"/>
              </a:ext>
            </a:extLst>
          </p:cNvPr>
          <p:cNvSpPr txBox="1"/>
          <p:nvPr/>
        </p:nvSpPr>
        <p:spPr>
          <a:xfrm>
            <a:off x="11430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4318-5395-D935-553C-1A5F79EA07BE}"/>
              </a:ext>
            </a:extLst>
          </p:cNvPr>
          <p:cNvSpPr txBox="1"/>
          <p:nvPr/>
        </p:nvSpPr>
        <p:spPr>
          <a:xfrm>
            <a:off x="11430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300,000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219,799 | IRR: 16.34%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5570-65D1-8A44-73D9-314849EB49F7}"/>
              </a:ext>
            </a:extLst>
          </p:cNvPr>
          <p:cNvSpPr txBox="1"/>
          <p:nvPr/>
        </p:nvSpPr>
        <p:spPr>
          <a:xfrm>
            <a:off x="48006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499-51A2-807C-B6DF-F0818109D8A1}"/>
              </a:ext>
            </a:extLst>
          </p:cNvPr>
          <p:cNvSpPr txBox="1"/>
          <p:nvPr/>
        </p:nvSpPr>
        <p:spPr>
          <a:xfrm>
            <a:off x="48006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547,500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234,783 | IRR: 8.98%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BCE9E-CE77-6055-EB44-A5E9E6E82671}"/>
              </a:ext>
            </a:extLst>
          </p:cNvPr>
          <p:cNvSpPr txBox="1"/>
          <p:nvPr/>
        </p:nvSpPr>
        <p:spPr>
          <a:xfrm>
            <a:off x="84582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41A56-E863-8BF7-CA24-C89A11E64448}"/>
              </a:ext>
            </a:extLst>
          </p:cNvPr>
          <p:cNvSpPr txBox="1"/>
          <p:nvPr/>
        </p:nvSpPr>
        <p:spPr>
          <a:xfrm>
            <a:off x="84582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136,283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Property Payment/Basis: 100,000 | Total Profit: 327,148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29B62-A03B-4E6C-30AA-84224CC274FC}"/>
              </a:ext>
            </a:extLst>
          </p:cNvPr>
          <p:cNvSpPr txBox="1"/>
          <p:nvPr/>
        </p:nvSpPr>
        <p:spPr>
          <a:xfrm>
            <a:off x="1168400" y="4318000"/>
            <a:ext cx="9652000" cy="11592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Sponsor residual share is currently 50%.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The remaining 50% residual pool is split between Class A and Class B based on their relative capital investments; current result is Class A 18% and Class B 32%.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Waterfall priority: reserve funding, Class A capital, Class B capital, accrued Class A preferred return, then residual split.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334CD-1FB0-2AA5-F182-8B2C0F650AA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B61-CAF6-770D-09F6-3DCDF7798F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28FB-02D6-C610-0D97-9B7B1DACBBA7}"/>
              </a:ext>
            </a:extLst>
          </p:cNvPr>
          <p:cNvSpPr txBox="1"/>
          <p:nvPr/>
        </p:nvSpPr>
        <p:spPr>
          <a:xfrm>
            <a:off x="10922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2BAF9-BD54-D2EC-1096-A9EF3742FC82}"/>
              </a:ext>
            </a:extLst>
          </p:cNvPr>
          <p:cNvSpPr txBox="1"/>
          <p:nvPr/>
        </p:nvSpPr>
        <p:spPr>
          <a:xfrm>
            <a:off x="10922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 and Wake County coordination.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03E45-A9C6-C178-9E57-A0A49F54BB71}"/>
              </a:ext>
            </a:extLst>
          </p:cNvPr>
          <p:cNvSpPr txBox="1"/>
          <p:nvPr/>
        </p:nvSpPr>
        <p:spPr>
          <a:xfrm>
            <a:off x="4673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Utilities / Entitlement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CAC00-7414-0416-1427-0B5F83161D5C}"/>
              </a:ext>
            </a:extLst>
          </p:cNvPr>
          <p:cNvSpPr txBox="1"/>
          <p:nvPr/>
        </p:nvSpPr>
        <p:spPr>
          <a:xfrm>
            <a:off x="4673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no planned municipal water/sewer extension. Mitigation: proceed with private utility and onsite wastewater feasibility as base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59F9F-DA44-6796-1FBB-4E2DA996B513}"/>
              </a:ext>
            </a:extLst>
          </p:cNvPr>
          <p:cNvSpPr txBox="1"/>
          <p:nvPr/>
        </p:nvSpPr>
        <p:spPr>
          <a:xfrm>
            <a:off x="82550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F3AF-CF10-4CE7-0F5B-B6810B255559}"/>
              </a:ext>
            </a:extLst>
          </p:cNvPr>
          <p:cNvSpPr txBox="1"/>
          <p:nvPr/>
        </p:nvSpPr>
        <p:spPr>
          <a:xfrm>
            <a:off x="82550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contingency.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AA3A-CEFC-B2C9-D6C1-EF4FA1312139}"/>
              </a:ext>
            </a:extLst>
          </p:cNvPr>
          <p:cNvSpPr txBox="1"/>
          <p:nvPr/>
        </p:nvSpPr>
        <p:spPr>
          <a:xfrm>
            <a:off x="2895600" y="4191000"/>
            <a:ext cx="647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DBFE6-93BF-709A-628D-6DEF5E46B4E2}"/>
              </a:ext>
            </a:extLst>
          </p:cNvPr>
          <p:cNvSpPr txBox="1"/>
          <p:nvPr/>
        </p:nvSpPr>
        <p:spPr>
          <a:xfrm>
            <a:off x="2895600" y="4572000"/>
            <a:ext cx="647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co-living rent acceptance and occupancy pace. Mitigation: flexible furnished medium-term and workforce/professional tenant positioning.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7D4EE-6B67-F2CE-8465-C761C284627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C442-88B8-B4BD-6944-216B191ECEF2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B1CF3-2D69-0227-A170-67CE65EE4084}"/>
              </a:ext>
            </a:extLst>
          </p:cNvPr>
          <p:cNvSpPr txBox="1"/>
          <p:nvPr/>
        </p:nvSpPr>
        <p:spPr>
          <a:xfrm>
            <a:off x="1041400" y="1828800"/>
            <a:ext cx="203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1. Entitlement +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1610-FF84-8562-6361-D2D51FE38B7B}"/>
              </a:ext>
            </a:extLst>
          </p:cNvPr>
          <p:cNvSpPr txBox="1"/>
          <p:nvPr/>
        </p:nvSpPr>
        <p:spPr>
          <a:xfrm>
            <a:off x="1041400" y="2209800"/>
            <a:ext cx="203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Confirm zoning classification, occupancy treatment, parking, soil/septic/wastewater feasibility, and private utility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B86D0-4F4A-C118-52D1-6938A7D05BBC}"/>
              </a:ext>
            </a:extLst>
          </p:cNvPr>
          <p:cNvSpPr txBox="1"/>
          <p:nvPr/>
        </p:nvSpPr>
        <p:spPr>
          <a:xfrm>
            <a:off x="37592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2. Capital 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8F684-687D-017B-47A5-552CC95F11E0}"/>
              </a:ext>
            </a:extLst>
          </p:cNvPr>
          <p:cNvSpPr txBox="1"/>
          <p:nvPr/>
        </p:nvSpPr>
        <p:spPr>
          <a:xfrm>
            <a:off x="3759200" y="2209800"/>
            <a:ext cx="203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Finalize trust/member documents, Class A capital, Class B completion capital, and sponsor contribution assumptions.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3325D-692D-A27A-8092-F42A0360C280}"/>
              </a:ext>
            </a:extLst>
          </p:cNvPr>
          <p:cNvSpPr txBox="1"/>
          <p:nvPr/>
        </p:nvSpPr>
        <p:spPr>
          <a:xfrm>
            <a:off x="64770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3. Design + Permit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C633-8C8E-BC50-CBED-67005C21B602}"/>
              </a:ext>
            </a:extLst>
          </p:cNvPr>
          <p:cNvSpPr txBox="1"/>
          <p:nvPr/>
        </p:nvSpPr>
        <p:spPr>
          <a:xfrm>
            <a:off x="64770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Advance architecture, civil, wastewater, and construction pricing to permit-ready package.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3ECBE-55F3-3112-C4D8-ACC08798314E}"/>
              </a:ext>
            </a:extLst>
          </p:cNvPr>
          <p:cNvSpPr txBox="1"/>
          <p:nvPr/>
        </p:nvSpPr>
        <p:spPr>
          <a:xfrm>
            <a:off x="91948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4. Build + Stabilize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36E28-C787-0AA0-3D69-3565614668E5}"/>
              </a:ext>
            </a:extLst>
          </p:cNvPr>
          <p:cNvSpPr txBox="1"/>
          <p:nvPr/>
        </p:nvSpPr>
        <p:spPr>
          <a:xfrm>
            <a:off x="91948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Deliver post-frame building, lease suites, stabilize occupancy, refinance, and execute waterfall.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17B9A-B377-6A47-A485-BA58F3E2A4DD}"/>
              </a:ext>
            </a:extLst>
          </p:cNvPr>
          <p:cNvSpPr txBox="1"/>
          <p:nvPr/>
        </p:nvSpPr>
        <p:spPr>
          <a:xfrm>
            <a:off x="1092200" y="50038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A2A2A"/>
                </a:solidFill>
                <a:latin typeface="Aptos" panose="020B0004020202020204" pitchFamily="34" charset="0"/>
              </a:rPr>
              <a:t>Current model stabilization/refinance year: Year 3. Current sale/exit year: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F63E6-5F74-8DD7-FBDD-43F4262F24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E4FD5-11B1-8A78-20E8-64C12A3F51C9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C16D5-542F-F185-65D0-1F2FBE7866EE}"/>
              </a:ext>
            </a:extLst>
          </p:cNvPr>
          <p:cNvSpPr txBox="1"/>
          <p:nvPr/>
        </p:nvSpPr>
        <p:spPr>
          <a:xfrm>
            <a:off x="1041400" y="1625600"/>
            <a:ext cx="9652000" cy="18107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Validate final sponsor capital investment and property payment treatment.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Confirm wastewater engineering path and reserve field requirements.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Refine scaled 6,000 SF floor plan with 2 premium suites and 2 co-living suites per floor.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Evaluate one-floor short-term rental scenario after zoning, insurance, tax, and management review.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Update capital documents to align with current capital-first deferred preferred return waterfall.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D40F2-1F11-305B-17C0-CD94AA549D8D}"/>
              </a:ext>
            </a:extLst>
          </p:cNvPr>
          <p:cNvSpPr txBox="1"/>
          <p:nvPr/>
        </p:nvSpPr>
        <p:spPr>
          <a:xfrm>
            <a:off x="1041400" y="57658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1042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6</cp:revision>
  <dcterms:created xsi:type="dcterms:W3CDTF">2026-05-16T02:45:59Z</dcterms:created>
  <dcterms:modified xsi:type="dcterms:W3CDTF">2026-05-17T19:18:23Z</dcterms:modified>
</cp:coreProperties>
</file>