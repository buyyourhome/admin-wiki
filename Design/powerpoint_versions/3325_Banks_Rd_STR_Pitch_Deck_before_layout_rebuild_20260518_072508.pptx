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7" d="100"/>
          <a:sy n="117" d="100"/>
        </p:scale>
        <p:origin x="193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9DA59-028D-9562-850C-A8FC1A656E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28A8AE-27EA-2B80-CA96-2E7EB93BC9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2EDDA6-42E6-8DD0-1727-7E085C680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A848-8539-4C8D-A562-21C79FFCCB89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49EBF9-5C94-5D2C-13D9-CEC5F85D9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DFCEEB-1D8E-54A9-B461-95EC70382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475C8-AED7-4525-97E1-C362D9D18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8910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A806C-DB26-D7F9-B834-22179CEC4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5C8AF3-9AE1-7379-4CD3-0A13FC7BFB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ECC36A-5BB0-A06A-CCF1-4705C169F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A848-8539-4C8D-A562-21C79FFCCB89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5520C8-769A-6D76-6839-A2AE22D43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E64DC2-F3E1-F932-3C9E-59C72FBD4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475C8-AED7-4525-97E1-C362D9D18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094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D0775-C37B-3075-66FB-39969C784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27BBF9-9CF4-1AA6-34B3-70FF2DCB3E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861B9D-3D05-5034-B36A-ED9CE945A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A848-8539-4C8D-A562-21C79FFCCB89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9305E9-F6C8-0C15-7170-AE830EBFD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3880BF-25ED-7253-3721-C6B3DB435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475C8-AED7-4525-97E1-C362D9D18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5496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63696-1632-3430-7786-162C508C5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54D32-0479-BA3A-4CE1-ABD5529C4E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731E01-0320-AEFF-A67A-08F83525EC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A13F34-D521-1EDE-8694-668E97271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A848-8539-4C8D-A562-21C79FFCCB89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F95E6-AD50-229A-4010-4B69E9D14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2E7991-2ED0-0731-FA94-3E037562F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475C8-AED7-4525-97E1-C362D9D18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047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A85FC-E4BD-2CCE-7B6F-8A6ED7B1B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23A2F3-3039-4D49-551B-A8BF8DB248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2EFDD1-1CFB-04C0-A47D-4D1E946A72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D4FBE2-C3E5-4AC4-7645-9A17C78D69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6F7C9C-B102-B37C-1C59-30406C3BAF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9CE357-C65F-9651-A0AC-CCBABFF42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A848-8539-4C8D-A562-21C79FFCCB89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6E0933-A095-F057-872B-20CE4903B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BAD407-AA29-0818-7F2B-E2B3DB91A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475C8-AED7-4525-97E1-C362D9D18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680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3A946-273E-97EB-AADF-DFC270152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DE40C8-DD4E-D796-0B79-9A0CF98F9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A848-8539-4C8D-A562-21C79FFCCB89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8923F8-EF53-2488-1567-314E0F422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6886E5-5C01-C45A-0943-A99B34E96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475C8-AED7-4525-97E1-C362D9D18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601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66D894-CBD7-404D-9375-4A2106A53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A848-8539-4C8D-A562-21C79FFCCB89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E256C2-5F52-BA2C-C591-CFB4DF4AA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66D9E4-5AE5-DA4C-E351-26D75FD7F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475C8-AED7-4525-97E1-C362D9D18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062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75F2F-EACA-19CF-C2B4-B9A2B6D3D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3237C9-ED7E-B71C-4D2C-4DA5102CDC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DFEBD6-F6C6-2B37-8864-46D7654E0E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967F4F-0EBD-D27D-57AB-D04E6EF49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A848-8539-4C8D-A562-21C79FFCCB89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9D91DB-84FB-29C0-494E-175D12152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744F49-7C59-4891-9994-DC86AF73F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475C8-AED7-4525-97E1-C362D9D18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043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BA31D-0575-2DCF-1B0B-172609DCD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7791C9-3B2F-6642-334B-B66BB3001E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E44864-67AA-CEDE-872E-9AA9F3B059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87EB5C-2FD3-343F-8C2E-1F1A49B59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A848-8539-4C8D-A562-21C79FFCCB89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00E2D3-5FC1-AF7F-AEF7-EC4C96576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A4EF6D-E640-C5D0-8062-EC82AC8ED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475C8-AED7-4525-97E1-C362D9D18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081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A3A46-D4AC-E1B7-9889-601DDC1EE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30221A-5871-87EB-A4B9-18F078174B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19C2E-9549-8F11-DB70-E061E9136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A848-8539-4C8D-A562-21C79FFCCB89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FB58FC-8D1C-2956-75A1-3B9D829E9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D6B56A-554F-4260-C674-8BC014A01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475C8-AED7-4525-97E1-C362D9D18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6706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9C0C77-1CFE-8B8D-E619-CC01F33030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4813EC-EDC2-AE48-6BB6-1FF4EDAF9B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F02B6D-818B-504F-5E04-A3185B3E1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A848-8539-4C8D-A562-21C79FFCCB89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B88B6-6BC6-4C53-CE86-2A1C11F0D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42C398-D508-9132-245E-AE8737136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475C8-AED7-4525-97E1-C362D9D18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792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FA352A-B687-189B-6CE2-EB061F518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B064D9-6355-BC0A-C62B-5EEF55518E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3394A8-0408-34C9-7A31-CA49F1E247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ACA848-8539-4C8D-A562-21C79FFCCB89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C93B10-8EC8-3978-FEC5-AF574061E1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E6C8F9-DD15-1543-CAC2-E16434A610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3475C8-AED7-4525-97E1-C362D9D18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481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1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9F3C05-627D-4AB2-205E-66E0622F8C4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1600" y="660400"/>
            <a:ext cx="5080000" cy="3810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037DF7B-05FB-C868-B744-37B631DC3686}"/>
              </a:ext>
            </a:extLst>
          </p:cNvPr>
          <p:cNvSpPr txBox="1"/>
          <p:nvPr/>
        </p:nvSpPr>
        <p:spPr>
          <a:xfrm>
            <a:off x="660400" y="990600"/>
            <a:ext cx="7112000" cy="52322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3400" b="1">
                <a:solidFill>
                  <a:srgbClr val="183B4A"/>
                </a:solidFill>
                <a:latin typeface="Aptos" panose="020B0004020202020204" pitchFamily="34" charset="0"/>
              </a:rPr>
              <a:t>3325 Banks Rd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08B444-55E8-7037-D6CC-7C6C75635948}"/>
              </a:ext>
            </a:extLst>
          </p:cNvPr>
          <p:cNvSpPr txBox="1"/>
          <p:nvPr/>
        </p:nvSpPr>
        <p:spPr>
          <a:xfrm>
            <a:off x="685800" y="1651000"/>
            <a:ext cx="7620000" cy="2923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900" b="1">
                <a:solidFill>
                  <a:srgbClr val="244C5A"/>
                </a:solidFill>
                <a:latin typeface="Aptos" panose="020B0004020202020204" pitchFamily="34" charset="0"/>
              </a:rPr>
              <a:t>Co-Living Development with STR Operating Optionality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4DE8F3-2CEF-0016-5AA4-4A19900E3563}"/>
              </a:ext>
            </a:extLst>
          </p:cNvPr>
          <p:cNvSpPr txBox="1"/>
          <p:nvPr/>
        </p:nvSpPr>
        <p:spPr>
          <a:xfrm>
            <a:off x="698500" y="2235200"/>
            <a:ext cx="5461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>
                <a:solidFill>
                  <a:srgbClr val="52616B"/>
                </a:solidFill>
                <a:latin typeface="Aptos" panose="020B0004020202020204" pitchFamily="34" charset="0"/>
              </a:rPr>
              <a:t>Wake County near Raleigh, North Carolina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8B5B72-C00F-306F-C385-9B5F40BBF13E}"/>
              </a:ext>
            </a:extLst>
          </p:cNvPr>
          <p:cNvSpPr txBox="1"/>
          <p:nvPr/>
        </p:nvSpPr>
        <p:spPr>
          <a:xfrm>
            <a:off x="698500" y="2921000"/>
            <a:ext cx="7747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500">
                <a:solidFill>
                  <a:srgbClr val="1F2933"/>
                </a:solidFill>
                <a:latin typeface="Aptos" panose="020B0004020202020204" pitchFamily="34" charset="0"/>
              </a:rPr>
              <a:t>Base residential underwriting remains the control case; short-term rental options are presented as upside operating scenarios.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094FE7-0225-FE5C-21E2-D37A56BA8044}"/>
              </a:ext>
            </a:extLst>
          </p:cNvPr>
          <p:cNvSpPr txBox="1"/>
          <p:nvPr/>
        </p:nvSpPr>
        <p:spPr>
          <a:xfrm>
            <a:off x="698500" y="4572000"/>
            <a:ext cx="5334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00">
                <a:solidFill>
                  <a:srgbClr val="52616B"/>
                </a:solidFill>
                <a:latin typeface="Aptos" panose="020B0004020202020204" pitchFamily="34" charset="0"/>
              </a:rPr>
              <a:t>Investor pitch deck | STR workbook version</a:t>
            </a:r>
          </a:p>
        </p:txBody>
      </p:sp>
    </p:spTree>
    <p:extLst>
      <p:ext uri="{BB962C8B-B14F-4D97-AF65-F5344CB8AC3E}">
        <p14:creationId xmlns:p14="http://schemas.microsoft.com/office/powerpoint/2010/main" val="1489796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2209781-DBCB-A281-925F-2141C70251E9}"/>
              </a:ext>
            </a:extLst>
          </p:cNvPr>
          <p:cNvSpPr/>
          <p:nvPr/>
        </p:nvSpPr>
        <p:spPr>
          <a:xfrm>
            <a:off x="0" y="0"/>
            <a:ext cx="12192000" cy="533400"/>
          </a:xfrm>
          <a:prstGeom prst="rect">
            <a:avLst/>
          </a:prstGeom>
          <a:solidFill>
            <a:srgbClr val="1421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DFE435-3FBF-2673-55E5-2C75E540A11E}"/>
              </a:ext>
            </a:extLst>
          </p:cNvPr>
          <p:cNvSpPr/>
          <p:nvPr/>
        </p:nvSpPr>
        <p:spPr>
          <a:xfrm>
            <a:off x="7874000" y="1600200"/>
            <a:ext cx="3302000" cy="180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98780AC-EB54-EA0B-2C24-38432AC6254B}"/>
              </a:ext>
            </a:extLst>
          </p:cNvPr>
          <p:cNvSpPr/>
          <p:nvPr/>
        </p:nvSpPr>
        <p:spPr>
          <a:xfrm>
            <a:off x="7874000" y="1600200"/>
            <a:ext cx="76200" cy="1803400"/>
          </a:xfrm>
          <a:prstGeom prst="rect">
            <a:avLst/>
          </a:prstGeom>
          <a:solidFill>
            <a:srgbClr val="3F6B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C3E7C8C-0AE8-F14D-F8F5-936F5827F9A5}"/>
              </a:ext>
            </a:extLst>
          </p:cNvPr>
          <p:cNvSpPr/>
          <p:nvPr/>
        </p:nvSpPr>
        <p:spPr>
          <a:xfrm>
            <a:off x="7874000" y="3708400"/>
            <a:ext cx="33020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883D18E-6595-AA9B-F370-F2F3A050CF7B}"/>
              </a:ext>
            </a:extLst>
          </p:cNvPr>
          <p:cNvSpPr/>
          <p:nvPr/>
        </p:nvSpPr>
        <p:spPr>
          <a:xfrm>
            <a:off x="7874000" y="3708400"/>
            <a:ext cx="76200" cy="1600200"/>
          </a:xfrm>
          <a:prstGeom prst="rect">
            <a:avLst/>
          </a:prstGeom>
          <a:solidFill>
            <a:srgbClr val="C88C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B25E684-1F2E-A819-EF0F-02B409CB8944}"/>
              </a:ext>
            </a:extLst>
          </p:cNvPr>
          <p:cNvSpPr txBox="1"/>
          <p:nvPr/>
        </p:nvSpPr>
        <p:spPr>
          <a:xfrm>
            <a:off x="482600" y="355600"/>
            <a:ext cx="4064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 b="1">
                <a:solidFill>
                  <a:srgbClr val="52616B"/>
                </a:solidFill>
                <a:latin typeface="Aptos" panose="020B0004020202020204" pitchFamily="34" charset="0"/>
              </a:rPr>
              <a:t>OVERVIEW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1E13C7-ABB4-75E7-A0ED-037346780568}"/>
              </a:ext>
            </a:extLst>
          </p:cNvPr>
          <p:cNvSpPr txBox="1"/>
          <p:nvPr/>
        </p:nvSpPr>
        <p:spPr>
          <a:xfrm>
            <a:off x="482600" y="635000"/>
            <a:ext cx="7747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800" b="1">
                <a:solidFill>
                  <a:srgbClr val="183B4A"/>
                </a:solidFill>
                <a:latin typeface="Aptos" panose="020B0004020202020204" pitchFamily="34" charset="0"/>
              </a:rPr>
              <a:t>Investment Thesis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D5F768-16E9-DE2E-A6D1-0C945D76EF93}"/>
              </a:ext>
            </a:extLst>
          </p:cNvPr>
          <p:cNvSpPr txBox="1"/>
          <p:nvPr/>
        </p:nvSpPr>
        <p:spPr>
          <a:xfrm>
            <a:off x="508000" y="1320800"/>
            <a:ext cx="7747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>
                <a:solidFill>
                  <a:srgbClr val="52616B"/>
                </a:solidFill>
                <a:latin typeface="Aptos" panose="020B0004020202020204" pitchFamily="34" charset="0"/>
              </a:rPr>
              <a:t>Flexible residential platform first; STR optionality second.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24596BF-3DE4-77B8-C225-3FBFAF3247F0}"/>
              </a:ext>
            </a:extLst>
          </p:cNvPr>
          <p:cNvSpPr txBox="1"/>
          <p:nvPr/>
        </p:nvSpPr>
        <p:spPr>
          <a:xfrm>
            <a:off x="584200" y="1841500"/>
            <a:ext cx="4953000" cy="118494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n-US" sz="1100">
                <a:solidFill>
                  <a:srgbClr val="1F2933"/>
                </a:solidFill>
                <a:latin typeface="Aptos" panose="020B0004020202020204" pitchFamily="34" charset="0"/>
              </a:rPr>
              <a:t>- Sponsor-led co-living residential development in the Triangle market corridor.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100">
                <a:solidFill>
                  <a:srgbClr val="1F2933"/>
                </a:solidFill>
                <a:latin typeface="Aptos" panose="020B0004020202020204" pitchFamily="34" charset="0"/>
              </a:rPr>
              <a:t>- Base case targets workforce housing, graduate/professional co-living, and furnished medium-term renters.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100">
                <a:solidFill>
                  <a:srgbClr val="1F2933"/>
                </a:solidFill>
                <a:latin typeface="Aptos" panose="020B0004020202020204" pitchFamily="34" charset="0"/>
              </a:rPr>
              <a:t>- STR operating scenarios test whether one floor or the whole building can capture weekly group lodging demand.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100">
                <a:solidFill>
                  <a:srgbClr val="1F2933"/>
                </a:solidFill>
                <a:latin typeface="Aptos" panose="020B0004020202020204" pitchFamily="34" charset="0"/>
              </a:rPr>
              <a:t>- Capital recovery strategy relies on stabilization, refinance, and waterfall distributions.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C122E0-F8DC-5A4B-99B5-5EAD5B4EE8E8}"/>
              </a:ext>
            </a:extLst>
          </p:cNvPr>
          <p:cNvSpPr/>
          <p:nvPr/>
        </p:nvSpPr>
        <p:spPr>
          <a:xfrm>
            <a:off x="5969000" y="1714500"/>
            <a:ext cx="2667000" cy="1397000"/>
          </a:xfrm>
          <a:prstGeom prst="rect">
            <a:avLst/>
          </a:prstGeom>
          <a:solidFill>
            <a:srgbClr val="FBFCFC"/>
          </a:solidFill>
          <a:ln>
            <a:solidFill>
              <a:srgbClr val="D9E1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EA961C0-4CBC-75D5-DAC5-610535FA4961}"/>
              </a:ext>
            </a:extLst>
          </p:cNvPr>
          <p:cNvSpPr txBox="1"/>
          <p:nvPr/>
        </p:nvSpPr>
        <p:spPr>
          <a:xfrm>
            <a:off x="6121400" y="1841500"/>
            <a:ext cx="23622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300" b="1">
                <a:solidFill>
                  <a:srgbClr val="244C5A"/>
                </a:solidFill>
                <a:latin typeface="Aptos" panose="020B0004020202020204" pitchFamily="34" charset="0"/>
              </a:rPr>
              <a:t>Competitive Advantage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74AC566-B804-ECE2-EA44-FBDCB28A66D3}"/>
              </a:ext>
            </a:extLst>
          </p:cNvPr>
          <p:cNvSpPr txBox="1"/>
          <p:nvPr/>
        </p:nvSpPr>
        <p:spPr>
          <a:xfrm>
            <a:off x="6121400" y="2197100"/>
            <a:ext cx="2362200" cy="76944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00">
                <a:solidFill>
                  <a:srgbClr val="1F2933"/>
                </a:solidFill>
                <a:latin typeface="Aptos" panose="020B0004020202020204" pitchFamily="34" charset="0"/>
              </a:rPr>
              <a:t>Controlled land position, post-frame construction strategy, sponsor equipment and crew capacity, private-bath suite design, and the ability to operate by suite, floor, or building.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9EF7014-795F-DE58-1AAD-B79D2DC1D91C}"/>
              </a:ext>
            </a:extLst>
          </p:cNvPr>
          <p:cNvSpPr/>
          <p:nvPr/>
        </p:nvSpPr>
        <p:spPr>
          <a:xfrm>
            <a:off x="5969000" y="3302000"/>
            <a:ext cx="2667000" cy="1397000"/>
          </a:xfrm>
          <a:prstGeom prst="rect">
            <a:avLst/>
          </a:prstGeom>
          <a:solidFill>
            <a:srgbClr val="FBFCFC"/>
          </a:solidFill>
          <a:ln>
            <a:solidFill>
              <a:srgbClr val="D9E1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7D93631-ACC6-ED6E-0D0A-85B26008CA83}"/>
              </a:ext>
            </a:extLst>
          </p:cNvPr>
          <p:cNvSpPr txBox="1"/>
          <p:nvPr/>
        </p:nvSpPr>
        <p:spPr>
          <a:xfrm>
            <a:off x="6121400" y="3429000"/>
            <a:ext cx="23622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300" b="1">
                <a:solidFill>
                  <a:srgbClr val="244C5A"/>
                </a:solidFill>
                <a:latin typeface="Aptos" panose="020B0004020202020204" pitchFamily="34" charset="0"/>
              </a:rPr>
              <a:t>Current Status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7AAC0D6-AA0A-C82A-C4EF-796FF33B250E}"/>
              </a:ext>
            </a:extLst>
          </p:cNvPr>
          <p:cNvSpPr txBox="1"/>
          <p:nvPr/>
        </p:nvSpPr>
        <p:spPr>
          <a:xfrm>
            <a:off x="6121400" y="3784600"/>
            <a:ext cx="2362200" cy="61555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00">
                <a:solidFill>
                  <a:srgbClr val="1F2933"/>
                </a:solidFill>
                <a:latin typeface="Aptos" panose="020B0004020202020204" pitchFamily="34" charset="0"/>
              </a:rPr>
              <a:t>STR workbook model with rent options, participant returns, refinance timing, sale timing, and waterfall distribution assumptions under active refinement.</a:t>
            </a:r>
          </a:p>
        </p:txBody>
      </p:sp>
    </p:spTree>
    <p:extLst>
      <p:ext uri="{BB962C8B-B14F-4D97-AF65-F5344CB8AC3E}">
        <p14:creationId xmlns:p14="http://schemas.microsoft.com/office/powerpoint/2010/main" val="22241591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C13DA9F-0D77-3F48-5DCE-B600A87D8118}"/>
              </a:ext>
            </a:extLst>
          </p:cNvPr>
          <p:cNvSpPr/>
          <p:nvPr/>
        </p:nvSpPr>
        <p:spPr>
          <a:xfrm>
            <a:off x="0" y="0"/>
            <a:ext cx="12192000" cy="533400"/>
          </a:xfrm>
          <a:prstGeom prst="rect">
            <a:avLst/>
          </a:prstGeom>
          <a:solidFill>
            <a:srgbClr val="1421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C3C15A0-B2F0-8EDC-DC16-AC7141A6415B}"/>
              </a:ext>
            </a:extLst>
          </p:cNvPr>
          <p:cNvSpPr/>
          <p:nvPr/>
        </p:nvSpPr>
        <p:spPr>
          <a:xfrm>
            <a:off x="685800" y="1600200"/>
            <a:ext cx="2286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A5FBFC3-EB4F-F46F-F103-3B4EE815F975}"/>
              </a:ext>
            </a:extLst>
          </p:cNvPr>
          <p:cNvSpPr/>
          <p:nvPr/>
        </p:nvSpPr>
        <p:spPr>
          <a:xfrm>
            <a:off x="3225800" y="1600200"/>
            <a:ext cx="2667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820C9CD-5F6E-6B71-8CBA-370210F5A6D5}"/>
              </a:ext>
            </a:extLst>
          </p:cNvPr>
          <p:cNvSpPr/>
          <p:nvPr/>
        </p:nvSpPr>
        <p:spPr>
          <a:xfrm>
            <a:off x="6172200" y="1600200"/>
            <a:ext cx="2032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E13B9F9-38F8-F802-3430-42A47CBA9E72}"/>
              </a:ext>
            </a:extLst>
          </p:cNvPr>
          <p:cNvSpPr/>
          <p:nvPr/>
        </p:nvSpPr>
        <p:spPr>
          <a:xfrm>
            <a:off x="8458200" y="1600200"/>
            <a:ext cx="2413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19E805D-D961-DBCF-7CB9-9CE61AFC1A8A}"/>
              </a:ext>
            </a:extLst>
          </p:cNvPr>
          <p:cNvSpPr/>
          <p:nvPr/>
        </p:nvSpPr>
        <p:spPr>
          <a:xfrm>
            <a:off x="889000" y="3073400"/>
            <a:ext cx="4953000" cy="180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951348C-B437-ADB5-F4F6-A31BFD662EFB}"/>
              </a:ext>
            </a:extLst>
          </p:cNvPr>
          <p:cNvSpPr/>
          <p:nvPr/>
        </p:nvSpPr>
        <p:spPr>
          <a:xfrm>
            <a:off x="889000" y="3073400"/>
            <a:ext cx="76200" cy="1803400"/>
          </a:xfrm>
          <a:prstGeom prst="rect">
            <a:avLst/>
          </a:prstGeom>
          <a:solidFill>
            <a:srgbClr val="3F6B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E272399-9619-34DF-A7EB-50C97CC252C2}"/>
              </a:ext>
            </a:extLst>
          </p:cNvPr>
          <p:cNvSpPr/>
          <p:nvPr/>
        </p:nvSpPr>
        <p:spPr>
          <a:xfrm>
            <a:off x="6350000" y="3073400"/>
            <a:ext cx="4953000" cy="180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5A80249-893B-00D1-1A51-2EF21DB7BA3E}"/>
              </a:ext>
            </a:extLst>
          </p:cNvPr>
          <p:cNvSpPr/>
          <p:nvPr/>
        </p:nvSpPr>
        <p:spPr>
          <a:xfrm>
            <a:off x="6350000" y="3073400"/>
            <a:ext cx="76200" cy="1803400"/>
          </a:xfrm>
          <a:prstGeom prst="rect">
            <a:avLst/>
          </a:prstGeom>
          <a:solidFill>
            <a:srgbClr val="3F6B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EA63925-637A-DEDE-C108-47DCFB2B6F7E}"/>
              </a:ext>
            </a:extLst>
          </p:cNvPr>
          <p:cNvSpPr txBox="1"/>
          <p:nvPr/>
        </p:nvSpPr>
        <p:spPr>
          <a:xfrm>
            <a:off x="482600" y="355600"/>
            <a:ext cx="4064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 b="1">
                <a:solidFill>
                  <a:srgbClr val="52616B"/>
                </a:solidFill>
                <a:latin typeface="Aptos" panose="020B0004020202020204" pitchFamily="34" charset="0"/>
              </a:rPr>
              <a:t>ASSET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081F8F5-4C79-7063-A309-A9FDB47456FF}"/>
              </a:ext>
            </a:extLst>
          </p:cNvPr>
          <p:cNvSpPr txBox="1"/>
          <p:nvPr/>
        </p:nvSpPr>
        <p:spPr>
          <a:xfrm>
            <a:off x="482600" y="635000"/>
            <a:ext cx="7747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800" b="1">
                <a:solidFill>
                  <a:srgbClr val="183B4A"/>
                </a:solidFill>
                <a:latin typeface="Aptos" panose="020B0004020202020204" pitchFamily="34" charset="0"/>
              </a:rPr>
              <a:t>Development Program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9F9983D-181E-F770-93A8-D6DD24B17D6C}"/>
              </a:ext>
            </a:extLst>
          </p:cNvPr>
          <p:cNvSpPr txBox="1"/>
          <p:nvPr/>
        </p:nvSpPr>
        <p:spPr>
          <a:xfrm>
            <a:off x="508000" y="1320800"/>
            <a:ext cx="7747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>
                <a:solidFill>
                  <a:srgbClr val="52616B"/>
                </a:solidFill>
                <a:latin typeface="Aptos" panose="020B0004020202020204" pitchFamily="34" charset="0"/>
              </a:rPr>
              <a:t>Two-floor, 8-suite residential platform designed for multiple rental strategies.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970D40F-063C-F296-5889-BF04F78A765E}"/>
              </a:ext>
            </a:extLst>
          </p:cNvPr>
          <p:cNvSpPr/>
          <p:nvPr/>
        </p:nvSpPr>
        <p:spPr>
          <a:xfrm>
            <a:off x="571500" y="1727200"/>
            <a:ext cx="1600200" cy="914400"/>
          </a:xfrm>
          <a:prstGeom prst="rect">
            <a:avLst/>
          </a:prstGeom>
          <a:solidFill>
            <a:srgbClr val="E7F0EF"/>
          </a:solidFill>
          <a:ln>
            <a:solidFill>
              <a:srgbClr val="CAD6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2AD98A7-6113-4DA5-1E24-CD5FBF9E6B36}"/>
              </a:ext>
            </a:extLst>
          </p:cNvPr>
          <p:cNvSpPr txBox="1"/>
          <p:nvPr/>
        </p:nvSpPr>
        <p:spPr>
          <a:xfrm>
            <a:off x="673100" y="1841500"/>
            <a:ext cx="1397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000" b="1">
                <a:solidFill>
                  <a:srgbClr val="244C5A"/>
                </a:solidFill>
                <a:latin typeface="Aptos" panose="020B0004020202020204" pitchFamily="34" charset="0"/>
              </a:rPr>
              <a:t>1.1 AC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1B2674D-8770-FCC2-5AE3-19F1B31CB93F}"/>
              </a:ext>
            </a:extLst>
          </p:cNvPr>
          <p:cNvSpPr txBox="1"/>
          <p:nvPr/>
        </p:nvSpPr>
        <p:spPr>
          <a:xfrm>
            <a:off x="673100" y="2235200"/>
            <a:ext cx="1397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800" b="1">
                <a:solidFill>
                  <a:srgbClr val="52616B"/>
                </a:solidFill>
                <a:latin typeface="Aptos" panose="020B0004020202020204" pitchFamily="34" charset="0"/>
              </a:rPr>
              <a:t>Site area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08D63F6-9959-6AAA-41A7-51ED9881FAE3}"/>
              </a:ext>
            </a:extLst>
          </p:cNvPr>
          <p:cNvSpPr/>
          <p:nvPr/>
        </p:nvSpPr>
        <p:spPr>
          <a:xfrm>
            <a:off x="2413000" y="1727200"/>
            <a:ext cx="1600200" cy="914400"/>
          </a:xfrm>
          <a:prstGeom prst="rect">
            <a:avLst/>
          </a:prstGeom>
          <a:solidFill>
            <a:srgbClr val="E7F0EF"/>
          </a:solidFill>
          <a:ln>
            <a:solidFill>
              <a:srgbClr val="CAD6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6D2F175-CF3F-FF27-9CE5-1151A60419D7}"/>
              </a:ext>
            </a:extLst>
          </p:cNvPr>
          <p:cNvSpPr txBox="1"/>
          <p:nvPr/>
        </p:nvSpPr>
        <p:spPr>
          <a:xfrm>
            <a:off x="2514600" y="1841500"/>
            <a:ext cx="1397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000" b="1">
                <a:solidFill>
                  <a:srgbClr val="244C5A"/>
                </a:solidFill>
                <a:latin typeface="Aptos" panose="020B0004020202020204" pitchFamily="34" charset="0"/>
              </a:rPr>
              <a:t>6,000 SF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93C86FB-595B-CDA9-1AAA-9483B7E4DCB8}"/>
              </a:ext>
            </a:extLst>
          </p:cNvPr>
          <p:cNvSpPr txBox="1"/>
          <p:nvPr/>
        </p:nvSpPr>
        <p:spPr>
          <a:xfrm>
            <a:off x="2514600" y="2235200"/>
            <a:ext cx="1397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800" b="1">
                <a:solidFill>
                  <a:srgbClr val="52616B"/>
                </a:solidFill>
                <a:latin typeface="Aptos" panose="020B0004020202020204" pitchFamily="34" charset="0"/>
              </a:rPr>
              <a:t>Building area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8AC432E-2F11-20FE-1618-62F0997C4AC6}"/>
              </a:ext>
            </a:extLst>
          </p:cNvPr>
          <p:cNvSpPr/>
          <p:nvPr/>
        </p:nvSpPr>
        <p:spPr>
          <a:xfrm>
            <a:off x="4254500" y="1727200"/>
            <a:ext cx="1600200" cy="914400"/>
          </a:xfrm>
          <a:prstGeom prst="rect">
            <a:avLst/>
          </a:prstGeom>
          <a:solidFill>
            <a:srgbClr val="E7F0EF"/>
          </a:solidFill>
          <a:ln>
            <a:solidFill>
              <a:srgbClr val="CAD6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70EEEDA-5B8D-F226-E0CA-25E40DFA25E5}"/>
              </a:ext>
            </a:extLst>
          </p:cNvPr>
          <p:cNvSpPr txBox="1"/>
          <p:nvPr/>
        </p:nvSpPr>
        <p:spPr>
          <a:xfrm>
            <a:off x="4356100" y="1841500"/>
            <a:ext cx="1397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000" b="1">
                <a:solidFill>
                  <a:srgbClr val="244C5A"/>
                </a:solidFill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9FB22AE-1450-A2C2-4EC2-4ACE49C0FBC1}"/>
              </a:ext>
            </a:extLst>
          </p:cNvPr>
          <p:cNvSpPr txBox="1"/>
          <p:nvPr/>
        </p:nvSpPr>
        <p:spPr>
          <a:xfrm>
            <a:off x="4356100" y="2235200"/>
            <a:ext cx="1397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800" b="1">
                <a:solidFill>
                  <a:srgbClr val="52616B"/>
                </a:solidFill>
                <a:latin typeface="Aptos" panose="020B0004020202020204" pitchFamily="34" charset="0"/>
              </a:rPr>
              <a:t>Private suites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357F7B0-4EB4-F9CA-5A98-0C6A950E7514}"/>
              </a:ext>
            </a:extLst>
          </p:cNvPr>
          <p:cNvSpPr/>
          <p:nvPr/>
        </p:nvSpPr>
        <p:spPr>
          <a:xfrm>
            <a:off x="6096000" y="1727200"/>
            <a:ext cx="1905000" cy="914400"/>
          </a:xfrm>
          <a:prstGeom prst="rect">
            <a:avLst/>
          </a:prstGeom>
          <a:solidFill>
            <a:srgbClr val="E7F0EF"/>
          </a:solidFill>
          <a:ln>
            <a:solidFill>
              <a:srgbClr val="CAD6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61944B6-EA5E-D991-5BE6-3956F85AFF55}"/>
              </a:ext>
            </a:extLst>
          </p:cNvPr>
          <p:cNvSpPr txBox="1"/>
          <p:nvPr/>
        </p:nvSpPr>
        <p:spPr>
          <a:xfrm>
            <a:off x="6197600" y="1841500"/>
            <a:ext cx="17018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000" b="1">
                <a:solidFill>
                  <a:srgbClr val="244C5A"/>
                </a:solidFill>
                <a:latin typeface="Aptos" panose="020B0004020202020204" pitchFamily="34" charset="0"/>
              </a:rPr>
              <a:t>Post-frame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8AF1CF1-F35B-A2C7-1E8E-73B04400169B}"/>
              </a:ext>
            </a:extLst>
          </p:cNvPr>
          <p:cNvSpPr txBox="1"/>
          <p:nvPr/>
        </p:nvSpPr>
        <p:spPr>
          <a:xfrm>
            <a:off x="6197600" y="2235200"/>
            <a:ext cx="17018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800" b="1">
                <a:solidFill>
                  <a:srgbClr val="52616B"/>
                </a:solidFill>
                <a:latin typeface="Aptos" panose="020B0004020202020204" pitchFamily="34" charset="0"/>
              </a:rPr>
              <a:t>Construction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00CE68C-FEE3-FFCD-DC5B-65483ECABADE}"/>
              </a:ext>
            </a:extLst>
          </p:cNvPr>
          <p:cNvSpPr/>
          <p:nvPr/>
        </p:nvSpPr>
        <p:spPr>
          <a:xfrm>
            <a:off x="571500" y="3111500"/>
            <a:ext cx="3683000" cy="1778000"/>
          </a:xfrm>
          <a:prstGeom prst="rect">
            <a:avLst/>
          </a:prstGeom>
          <a:solidFill>
            <a:srgbClr val="FBFCFC"/>
          </a:solidFill>
          <a:ln>
            <a:solidFill>
              <a:srgbClr val="D9E1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E191F7D-42F4-63A0-D9BC-4CB0C74749B0}"/>
              </a:ext>
            </a:extLst>
          </p:cNvPr>
          <p:cNvSpPr txBox="1"/>
          <p:nvPr/>
        </p:nvSpPr>
        <p:spPr>
          <a:xfrm>
            <a:off x="723900" y="3238500"/>
            <a:ext cx="33782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300" b="1">
                <a:solidFill>
                  <a:srgbClr val="244C5A"/>
                </a:solidFill>
                <a:latin typeface="Aptos" panose="020B0004020202020204" pitchFamily="34" charset="0"/>
              </a:rPr>
              <a:t>Floor Configuration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9EABE50-461C-B050-531E-52629536C165}"/>
              </a:ext>
            </a:extLst>
          </p:cNvPr>
          <p:cNvSpPr txBox="1"/>
          <p:nvPr/>
        </p:nvSpPr>
        <p:spPr>
          <a:xfrm>
            <a:off x="723900" y="3594100"/>
            <a:ext cx="3378200" cy="76944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00">
                <a:solidFill>
                  <a:srgbClr val="1F2933"/>
                </a:solidFill>
                <a:latin typeface="Aptos" panose="020B0004020202020204" pitchFamily="34" charset="0"/>
              </a:rPr>
              <a:t>Each floor includes two premium suites and two co-living suites. Premium suites include private bedroom, bathroom, kitchenette, and storage. Co-living suites include private bedroom, bathroom, and storage with shared common amenities.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CB5BE42-19EB-568C-FBC8-6AD71563D173}"/>
              </a:ext>
            </a:extLst>
          </p:cNvPr>
          <p:cNvSpPr/>
          <p:nvPr/>
        </p:nvSpPr>
        <p:spPr>
          <a:xfrm>
            <a:off x="4699000" y="3111500"/>
            <a:ext cx="3429000" cy="1778000"/>
          </a:xfrm>
          <a:prstGeom prst="rect">
            <a:avLst/>
          </a:prstGeom>
          <a:solidFill>
            <a:srgbClr val="FBFCFC"/>
          </a:solidFill>
          <a:ln>
            <a:solidFill>
              <a:srgbClr val="D9E1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0BBF396-EB7D-1F3D-7A3C-D7DC3E6E10E5}"/>
              </a:ext>
            </a:extLst>
          </p:cNvPr>
          <p:cNvSpPr txBox="1"/>
          <p:nvPr/>
        </p:nvSpPr>
        <p:spPr>
          <a:xfrm>
            <a:off x="4851400" y="3238500"/>
            <a:ext cx="31242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300" b="1">
                <a:solidFill>
                  <a:srgbClr val="244C5A"/>
                </a:solidFill>
                <a:latin typeface="Aptos" panose="020B0004020202020204" pitchFamily="34" charset="0"/>
              </a:rPr>
              <a:t>Shared Amenities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04FAC74-AB70-D259-80F6-3CD9EC95066A}"/>
              </a:ext>
            </a:extLst>
          </p:cNvPr>
          <p:cNvSpPr txBox="1"/>
          <p:nvPr/>
        </p:nvSpPr>
        <p:spPr>
          <a:xfrm>
            <a:off x="4851400" y="3594100"/>
            <a:ext cx="31242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00">
                <a:solidFill>
                  <a:srgbClr val="1F2933"/>
                </a:solidFill>
                <a:latin typeface="Aptos" panose="020B0004020202020204" pitchFamily="34" charset="0"/>
              </a:rPr>
              <a:t>Communal kitchen, dining, lounge/living space, laundry, storage/mechanical areas, and covered outdoor gathering areas.</a:t>
            </a:r>
          </a:p>
        </p:txBody>
      </p:sp>
    </p:spTree>
    <p:extLst>
      <p:ext uri="{BB962C8B-B14F-4D97-AF65-F5344CB8AC3E}">
        <p14:creationId xmlns:p14="http://schemas.microsoft.com/office/powerpoint/2010/main" val="2022883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3C09133-92A3-A897-0905-1D2438642DC5}"/>
              </a:ext>
            </a:extLst>
          </p:cNvPr>
          <p:cNvSpPr/>
          <p:nvPr/>
        </p:nvSpPr>
        <p:spPr>
          <a:xfrm>
            <a:off x="0" y="0"/>
            <a:ext cx="12192000" cy="533400"/>
          </a:xfrm>
          <a:prstGeom prst="rect">
            <a:avLst/>
          </a:prstGeom>
          <a:solidFill>
            <a:srgbClr val="1421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970969-71A3-80E8-946C-1B170C7F57B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422400"/>
            <a:ext cx="10820400" cy="4572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69E4B11-DBB3-9AA7-7AAA-463302FBDA28}"/>
              </a:ext>
            </a:extLst>
          </p:cNvPr>
          <p:cNvSpPr txBox="1"/>
          <p:nvPr/>
        </p:nvSpPr>
        <p:spPr>
          <a:xfrm>
            <a:off x="482600" y="355600"/>
            <a:ext cx="4064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 b="1">
                <a:solidFill>
                  <a:srgbClr val="52616B"/>
                </a:solidFill>
                <a:latin typeface="Aptos" panose="020B0004020202020204" pitchFamily="34" charset="0"/>
              </a:rPr>
              <a:t>DESIGN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AE3887-5803-5280-A5F7-D9BCEEDEF9B8}"/>
              </a:ext>
            </a:extLst>
          </p:cNvPr>
          <p:cNvSpPr txBox="1"/>
          <p:nvPr/>
        </p:nvSpPr>
        <p:spPr>
          <a:xfrm>
            <a:off x="482600" y="635000"/>
            <a:ext cx="7747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800" b="1">
                <a:solidFill>
                  <a:srgbClr val="183B4A"/>
                </a:solidFill>
                <a:latin typeface="Aptos" panose="020B0004020202020204" pitchFamily="34" charset="0"/>
              </a:rPr>
              <a:t>Concept Design Direction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9A73C2-2957-9B95-30B1-670C537A5C94}"/>
              </a:ext>
            </a:extLst>
          </p:cNvPr>
          <p:cNvSpPr txBox="1"/>
          <p:nvPr/>
        </p:nvSpPr>
        <p:spPr>
          <a:xfrm>
            <a:off x="508000" y="1320800"/>
            <a:ext cx="7747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>
                <a:solidFill>
                  <a:srgbClr val="52616B"/>
                </a:solidFill>
                <a:latin typeface="Aptos" panose="020B0004020202020204" pitchFamily="34" charset="0"/>
              </a:rPr>
              <a:t>Concept image for discussion only. Final dimensions, code compliance, accessibility, fire/life-safety, wastewater, and engineering requirements remain subject to professional design and permitting.</a:t>
            </a:r>
          </a:p>
        </p:txBody>
      </p:sp>
    </p:spTree>
    <p:extLst>
      <p:ext uri="{BB962C8B-B14F-4D97-AF65-F5344CB8AC3E}">
        <p14:creationId xmlns:p14="http://schemas.microsoft.com/office/powerpoint/2010/main" val="34825641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5DF3969-1B07-E97D-CAE4-A73CAF820F6D}"/>
              </a:ext>
            </a:extLst>
          </p:cNvPr>
          <p:cNvSpPr/>
          <p:nvPr/>
        </p:nvSpPr>
        <p:spPr>
          <a:xfrm>
            <a:off x="0" y="0"/>
            <a:ext cx="12192000" cy="533400"/>
          </a:xfrm>
          <a:prstGeom prst="rect">
            <a:avLst/>
          </a:prstGeom>
          <a:solidFill>
            <a:srgbClr val="1421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72063D-6E03-6B2D-D194-D3F644EBCD2E}"/>
              </a:ext>
            </a:extLst>
          </p:cNvPr>
          <p:cNvSpPr/>
          <p:nvPr/>
        </p:nvSpPr>
        <p:spPr>
          <a:xfrm>
            <a:off x="889000" y="1651000"/>
            <a:ext cx="3175000" cy="180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DEA2F2-78EE-91AD-12FF-3BB0051EF315}"/>
              </a:ext>
            </a:extLst>
          </p:cNvPr>
          <p:cNvSpPr/>
          <p:nvPr/>
        </p:nvSpPr>
        <p:spPr>
          <a:xfrm>
            <a:off x="889000" y="1651000"/>
            <a:ext cx="76200" cy="1803400"/>
          </a:xfrm>
          <a:prstGeom prst="rect">
            <a:avLst/>
          </a:prstGeom>
          <a:solidFill>
            <a:srgbClr val="3F6B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9C2AFC-8A38-AB41-6FC5-D650BD86DBA5}"/>
              </a:ext>
            </a:extLst>
          </p:cNvPr>
          <p:cNvSpPr/>
          <p:nvPr/>
        </p:nvSpPr>
        <p:spPr>
          <a:xfrm>
            <a:off x="4495800" y="1651000"/>
            <a:ext cx="3175000" cy="180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6B2EEEC-1C53-2EF0-7681-88685222B9FB}"/>
              </a:ext>
            </a:extLst>
          </p:cNvPr>
          <p:cNvSpPr/>
          <p:nvPr/>
        </p:nvSpPr>
        <p:spPr>
          <a:xfrm>
            <a:off x="4495800" y="1651000"/>
            <a:ext cx="76200" cy="1803400"/>
          </a:xfrm>
          <a:prstGeom prst="rect">
            <a:avLst/>
          </a:prstGeom>
          <a:solidFill>
            <a:srgbClr val="3F6B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9CBD661-AC13-FDE5-6467-87048607362D}"/>
              </a:ext>
            </a:extLst>
          </p:cNvPr>
          <p:cNvSpPr/>
          <p:nvPr/>
        </p:nvSpPr>
        <p:spPr>
          <a:xfrm>
            <a:off x="8102600" y="1651000"/>
            <a:ext cx="3175000" cy="215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B11441-D859-5A4C-A6A6-7AC8CA0347E8}"/>
              </a:ext>
            </a:extLst>
          </p:cNvPr>
          <p:cNvSpPr/>
          <p:nvPr/>
        </p:nvSpPr>
        <p:spPr>
          <a:xfrm>
            <a:off x="8102600" y="1651000"/>
            <a:ext cx="76200" cy="2159000"/>
          </a:xfrm>
          <a:prstGeom prst="rect">
            <a:avLst/>
          </a:prstGeom>
          <a:solidFill>
            <a:srgbClr val="C88C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C438939-1557-E469-765E-2A2AD52EF199}"/>
              </a:ext>
            </a:extLst>
          </p:cNvPr>
          <p:cNvSpPr txBox="1"/>
          <p:nvPr/>
        </p:nvSpPr>
        <p:spPr>
          <a:xfrm>
            <a:off x="482600" y="355600"/>
            <a:ext cx="4064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 b="1">
                <a:solidFill>
                  <a:srgbClr val="52616B"/>
                </a:solidFill>
                <a:latin typeface="Aptos" panose="020B0004020202020204" pitchFamily="34" charset="0"/>
              </a:rPr>
              <a:t>MARKET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B7BE6AF-EF7C-B684-CE62-10413ED8483F}"/>
              </a:ext>
            </a:extLst>
          </p:cNvPr>
          <p:cNvSpPr txBox="1"/>
          <p:nvPr/>
        </p:nvSpPr>
        <p:spPr>
          <a:xfrm>
            <a:off x="482600" y="635000"/>
            <a:ext cx="7747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800" b="1">
                <a:solidFill>
                  <a:srgbClr val="183B4A"/>
                </a:solidFill>
                <a:latin typeface="Aptos" panose="020B0004020202020204" pitchFamily="34" charset="0"/>
              </a:rPr>
              <a:t>Base Rent Positioning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F875FD8-EA67-9FF8-5145-B15D3AD00242}"/>
              </a:ext>
            </a:extLst>
          </p:cNvPr>
          <p:cNvSpPr txBox="1"/>
          <p:nvPr/>
        </p:nvSpPr>
        <p:spPr>
          <a:xfrm>
            <a:off x="508000" y="1320800"/>
            <a:ext cx="7747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>
                <a:solidFill>
                  <a:srgbClr val="52616B"/>
                </a:solidFill>
                <a:latin typeface="Aptos" panose="020B0004020202020204" pitchFamily="34" charset="0"/>
              </a:rPr>
              <a:t>Base case uses the co-living / medium-term rent schedule as the control underwriting case.</a:t>
            </a: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BCAB77DC-E3F5-5234-1BAD-B12E81828A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0019735"/>
              </p:ext>
            </p:extLst>
          </p:nvPr>
        </p:nvGraphicFramePr>
        <p:xfrm>
          <a:off x="571500" y="1841500"/>
          <a:ext cx="7747000" cy="162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9400">
                  <a:extLst>
                    <a:ext uri="{9D8B030D-6E8A-4147-A177-3AD203B41FA5}">
                      <a16:colId xmlns:a16="http://schemas.microsoft.com/office/drawing/2014/main" val="2817841913"/>
                    </a:ext>
                  </a:extLst>
                </a:gridCol>
                <a:gridCol w="1549400">
                  <a:extLst>
                    <a:ext uri="{9D8B030D-6E8A-4147-A177-3AD203B41FA5}">
                      <a16:colId xmlns:a16="http://schemas.microsoft.com/office/drawing/2014/main" val="1596185536"/>
                    </a:ext>
                  </a:extLst>
                </a:gridCol>
                <a:gridCol w="1549400">
                  <a:extLst>
                    <a:ext uri="{9D8B030D-6E8A-4147-A177-3AD203B41FA5}">
                      <a16:colId xmlns:a16="http://schemas.microsoft.com/office/drawing/2014/main" val="4136240341"/>
                    </a:ext>
                  </a:extLst>
                </a:gridCol>
                <a:gridCol w="1549400">
                  <a:extLst>
                    <a:ext uri="{9D8B030D-6E8A-4147-A177-3AD203B41FA5}">
                      <a16:colId xmlns:a16="http://schemas.microsoft.com/office/drawing/2014/main" val="3843042998"/>
                    </a:ext>
                  </a:extLst>
                </a:gridCol>
                <a:gridCol w="1549400">
                  <a:extLst>
                    <a:ext uri="{9D8B030D-6E8A-4147-A177-3AD203B41FA5}">
                      <a16:colId xmlns:a16="http://schemas.microsoft.com/office/drawing/2014/main" val="1556041941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r>
                        <a:rPr lang="en-US" sz="900" b="1">
                          <a:solidFill>
                            <a:srgbClr val="183B4A"/>
                          </a:solidFill>
                          <a:latin typeface="Aptos" panose="020B0004020202020204" pitchFamily="34" charset="0"/>
                        </a:rPr>
                        <a:t>Rent Case</a:t>
                      </a:r>
                    </a:p>
                  </a:txBody>
                  <a:tcPr>
                    <a:solidFill>
                      <a:srgbClr val="E7F0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>
                          <a:solidFill>
                            <a:srgbClr val="183B4A"/>
                          </a:solidFill>
                          <a:latin typeface="Aptos" panose="020B0004020202020204" pitchFamily="34" charset="0"/>
                        </a:rPr>
                        <a:t>Premium Suites</a:t>
                      </a:r>
                    </a:p>
                  </a:txBody>
                  <a:tcPr>
                    <a:solidFill>
                      <a:srgbClr val="E7F0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>
                          <a:solidFill>
                            <a:srgbClr val="183B4A"/>
                          </a:solidFill>
                          <a:latin typeface="Aptos" panose="020B0004020202020204" pitchFamily="34" charset="0"/>
                        </a:rPr>
                        <a:t>Co-Living Suites</a:t>
                      </a:r>
                    </a:p>
                  </a:txBody>
                  <a:tcPr>
                    <a:solidFill>
                      <a:srgbClr val="E7F0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>
                          <a:solidFill>
                            <a:srgbClr val="183B4A"/>
                          </a:solidFill>
                          <a:latin typeface="Aptos" panose="020B0004020202020204" pitchFamily="34" charset="0"/>
                        </a:rPr>
                        <a:t>Monthly Gross</a:t>
                      </a:r>
                    </a:p>
                  </a:txBody>
                  <a:tcPr>
                    <a:solidFill>
                      <a:srgbClr val="E7F0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>
                          <a:solidFill>
                            <a:srgbClr val="183B4A"/>
                          </a:solidFill>
                          <a:latin typeface="Aptos" panose="020B0004020202020204" pitchFamily="34" charset="0"/>
                        </a:rPr>
                        <a:t>Annual Gross</a:t>
                      </a:r>
                    </a:p>
                  </a:txBody>
                  <a:tcPr>
                    <a:solidFill>
                      <a:srgbClr val="E7F0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820949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lang="en-US" sz="800">
                          <a:solidFill>
                            <a:srgbClr val="1F2933"/>
                          </a:solidFill>
                          <a:latin typeface="Aptos" panose="020B0004020202020204" pitchFamily="34" charset="0"/>
                        </a:rPr>
                        <a:t>Low / Year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solidFill>
                            <a:srgbClr val="1F2933"/>
                          </a:solidFill>
                          <a:latin typeface="Aptos" panose="020B0004020202020204" pitchFamily="34" charset="0"/>
                        </a:rPr>
                        <a:t>1,350 x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solidFill>
                            <a:srgbClr val="1F2933"/>
                          </a:solidFill>
                          <a:latin typeface="Aptos" panose="020B0004020202020204" pitchFamily="34" charset="0"/>
                        </a:rPr>
                        <a:t>850 x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solidFill>
                            <a:srgbClr val="1F2933"/>
                          </a:solidFill>
                          <a:latin typeface="Aptos" panose="020B0004020202020204" pitchFamily="34" charset="0"/>
                        </a:rPr>
                        <a:t>8,800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solidFill>
                            <a:srgbClr val="1F2933"/>
                          </a:solidFill>
                          <a:latin typeface="Aptos" panose="020B0004020202020204" pitchFamily="34" charset="0"/>
                        </a:rPr>
                        <a:t>105,600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626878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lang="en-US" sz="800">
                          <a:solidFill>
                            <a:srgbClr val="1F2933"/>
                          </a:solidFill>
                          <a:latin typeface="Aptos" panose="020B0004020202020204" pitchFamily="34" charset="0"/>
                        </a:rPr>
                        <a:t>Medium / Year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solidFill>
                            <a:srgbClr val="1F2933"/>
                          </a:solidFill>
                          <a:latin typeface="Aptos" panose="020B0004020202020204" pitchFamily="34" charset="0"/>
                        </a:rPr>
                        <a:t>1,600 x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solidFill>
                            <a:srgbClr val="1F2933"/>
                          </a:solidFill>
                          <a:latin typeface="Aptos" panose="020B0004020202020204" pitchFamily="34" charset="0"/>
                        </a:rPr>
                        <a:t>1,100 x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solidFill>
                            <a:srgbClr val="1F2933"/>
                          </a:solidFill>
                          <a:latin typeface="Aptos" panose="020B0004020202020204" pitchFamily="34" charset="0"/>
                        </a:rPr>
                        <a:t>10,800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solidFill>
                            <a:srgbClr val="1F2933"/>
                          </a:solidFill>
                          <a:latin typeface="Aptos" panose="020B0004020202020204" pitchFamily="34" charset="0"/>
                        </a:rPr>
                        <a:t>129,600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607346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lang="en-US" sz="800">
                          <a:solidFill>
                            <a:srgbClr val="1F2933"/>
                          </a:solidFill>
                          <a:latin typeface="Aptos" panose="020B0004020202020204" pitchFamily="34" charset="0"/>
                        </a:rPr>
                        <a:t>High / Year 3+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solidFill>
                            <a:srgbClr val="1F2933"/>
                          </a:solidFill>
                          <a:latin typeface="Aptos" panose="020B0004020202020204" pitchFamily="34" charset="0"/>
                        </a:rPr>
                        <a:t>1,750 x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solidFill>
                            <a:srgbClr val="1F2933"/>
                          </a:solidFill>
                          <a:latin typeface="Aptos" panose="020B0004020202020204" pitchFamily="34" charset="0"/>
                        </a:rPr>
                        <a:t>1,250 x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solidFill>
                            <a:srgbClr val="1F2933"/>
                          </a:solidFill>
                          <a:latin typeface="Aptos" panose="020B0004020202020204" pitchFamily="34" charset="0"/>
                        </a:rPr>
                        <a:t>12,000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solidFill>
                            <a:srgbClr val="1F2933"/>
                          </a:solidFill>
                          <a:latin typeface="Aptos" panose="020B0004020202020204" pitchFamily="34" charset="0"/>
                        </a:rPr>
                        <a:t>144,000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2134937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07B04405-E92E-6FE0-32D4-8CB0A250EE17}"/>
              </a:ext>
            </a:extLst>
          </p:cNvPr>
          <p:cNvSpPr txBox="1"/>
          <p:nvPr/>
        </p:nvSpPr>
        <p:spPr>
          <a:xfrm>
            <a:off x="698500" y="3619500"/>
            <a:ext cx="7112000" cy="67710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n-US" sz="1100">
                <a:solidFill>
                  <a:srgbClr val="1F2933"/>
                </a:solidFill>
                <a:latin typeface="Aptos" panose="020B0004020202020204" pitchFamily="34" charset="0"/>
              </a:rPr>
              <a:t>- Premium suites are positioned near compact furnished studio / one-bedroom alternatives.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100">
                <a:solidFill>
                  <a:srgbClr val="1F2933"/>
                </a:solidFill>
                <a:latin typeface="Aptos" panose="020B0004020202020204" pitchFamily="34" charset="0"/>
              </a:rPr>
              <a:t>- Co-living suites remain below standalone apartment replacement cost.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100">
                <a:solidFill>
                  <a:srgbClr val="1F2933"/>
                </a:solidFill>
                <a:latin typeface="Aptos" panose="020B0004020202020204" pitchFamily="34" charset="0"/>
              </a:rPr>
              <a:t>- Stabilized occupancy assumption: 93.0%.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100">
                <a:solidFill>
                  <a:srgbClr val="1F2933"/>
                </a:solidFill>
                <a:latin typeface="Aptos" panose="020B0004020202020204" pitchFamily="34" charset="0"/>
              </a:rPr>
              <a:t>- Base case remains viable without short-term rental execution.</a:t>
            </a:r>
          </a:p>
        </p:txBody>
      </p:sp>
    </p:spTree>
    <p:extLst>
      <p:ext uri="{BB962C8B-B14F-4D97-AF65-F5344CB8AC3E}">
        <p14:creationId xmlns:p14="http://schemas.microsoft.com/office/powerpoint/2010/main" val="13851355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1A9FA7C-B54D-1EA5-814D-060FD3AB35BD}"/>
              </a:ext>
            </a:extLst>
          </p:cNvPr>
          <p:cNvSpPr/>
          <p:nvPr/>
        </p:nvSpPr>
        <p:spPr>
          <a:xfrm>
            <a:off x="0" y="0"/>
            <a:ext cx="12192000" cy="533400"/>
          </a:xfrm>
          <a:prstGeom prst="rect">
            <a:avLst/>
          </a:prstGeom>
          <a:solidFill>
            <a:srgbClr val="1421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CEF0C6-94BC-BF49-D976-13AC5128A3B2}"/>
              </a:ext>
            </a:extLst>
          </p:cNvPr>
          <p:cNvSpPr/>
          <p:nvPr/>
        </p:nvSpPr>
        <p:spPr>
          <a:xfrm>
            <a:off x="889000" y="1651000"/>
            <a:ext cx="2921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49045A-3ED4-3904-0E5A-DC2A418623EE}"/>
              </a:ext>
            </a:extLst>
          </p:cNvPr>
          <p:cNvSpPr/>
          <p:nvPr/>
        </p:nvSpPr>
        <p:spPr>
          <a:xfrm>
            <a:off x="4191000" y="1651000"/>
            <a:ext cx="2413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42FEB3B-CAE2-CA6C-17A5-D905617344E1}"/>
              </a:ext>
            </a:extLst>
          </p:cNvPr>
          <p:cNvSpPr/>
          <p:nvPr/>
        </p:nvSpPr>
        <p:spPr>
          <a:xfrm>
            <a:off x="6985000" y="1651000"/>
            <a:ext cx="2794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74B2E74-77A6-3276-2E80-34407C5AA806}"/>
              </a:ext>
            </a:extLst>
          </p:cNvPr>
          <p:cNvSpPr/>
          <p:nvPr/>
        </p:nvSpPr>
        <p:spPr>
          <a:xfrm>
            <a:off x="10033000" y="1651000"/>
            <a:ext cx="1524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FD94257-3ACB-7803-22E3-71ED287C1187}"/>
              </a:ext>
            </a:extLst>
          </p:cNvPr>
          <p:cNvSpPr/>
          <p:nvPr/>
        </p:nvSpPr>
        <p:spPr>
          <a:xfrm>
            <a:off x="1016000" y="3302000"/>
            <a:ext cx="4699000" cy="190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B79845D-FBED-E7DC-58D3-DD5761F55B65}"/>
              </a:ext>
            </a:extLst>
          </p:cNvPr>
          <p:cNvSpPr/>
          <p:nvPr/>
        </p:nvSpPr>
        <p:spPr>
          <a:xfrm>
            <a:off x="1016000" y="3302000"/>
            <a:ext cx="76200" cy="1905000"/>
          </a:xfrm>
          <a:prstGeom prst="rect">
            <a:avLst/>
          </a:prstGeom>
          <a:solidFill>
            <a:srgbClr val="3F6B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8C2F375-CBCC-4C3B-2E74-EB4F47F172BC}"/>
              </a:ext>
            </a:extLst>
          </p:cNvPr>
          <p:cNvSpPr/>
          <p:nvPr/>
        </p:nvSpPr>
        <p:spPr>
          <a:xfrm>
            <a:off x="6477000" y="3302000"/>
            <a:ext cx="4572000" cy="190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3B8A967-A76D-3AD6-8941-2839039DBDDB}"/>
              </a:ext>
            </a:extLst>
          </p:cNvPr>
          <p:cNvSpPr/>
          <p:nvPr/>
        </p:nvSpPr>
        <p:spPr>
          <a:xfrm>
            <a:off x="6477000" y="3302000"/>
            <a:ext cx="76200" cy="1905000"/>
          </a:xfrm>
          <a:prstGeom prst="rect">
            <a:avLst/>
          </a:prstGeom>
          <a:solidFill>
            <a:srgbClr val="C88C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A5E4B04-7F64-9D30-A6E8-2F865DA4D8ED}"/>
              </a:ext>
            </a:extLst>
          </p:cNvPr>
          <p:cNvSpPr txBox="1"/>
          <p:nvPr/>
        </p:nvSpPr>
        <p:spPr>
          <a:xfrm>
            <a:off x="482600" y="355600"/>
            <a:ext cx="4064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 b="1">
                <a:solidFill>
                  <a:srgbClr val="52616B"/>
                </a:solidFill>
                <a:latin typeface="Aptos" panose="020B0004020202020204" pitchFamily="34" charset="0"/>
              </a:rPr>
              <a:t>OPERATIONS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B8D835D-5BF3-51E2-D494-CBB585CDF261}"/>
              </a:ext>
            </a:extLst>
          </p:cNvPr>
          <p:cNvSpPr txBox="1"/>
          <p:nvPr/>
        </p:nvSpPr>
        <p:spPr>
          <a:xfrm>
            <a:off x="482600" y="635000"/>
            <a:ext cx="7747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800" b="1">
                <a:solidFill>
                  <a:srgbClr val="183B4A"/>
                </a:solidFill>
                <a:latin typeface="Aptos" panose="020B0004020202020204" pitchFamily="34" charset="0"/>
              </a:rPr>
              <a:t>Operating Model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D5C444E-B716-4E3E-CDE1-490C663EF334}"/>
              </a:ext>
            </a:extLst>
          </p:cNvPr>
          <p:cNvSpPr txBox="1"/>
          <p:nvPr/>
        </p:nvSpPr>
        <p:spPr>
          <a:xfrm>
            <a:off x="508000" y="1320800"/>
            <a:ext cx="7747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>
                <a:solidFill>
                  <a:srgbClr val="52616B"/>
                </a:solidFill>
                <a:latin typeface="Aptos" panose="020B0004020202020204" pitchFamily="34" charset="0"/>
              </a:rPr>
              <a:t>The STR workbook keeps residential underwriting visible while testing weekly-rental alternatives.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F04E49A-FB16-24FB-5A50-8C4E8BAC53FB}"/>
              </a:ext>
            </a:extLst>
          </p:cNvPr>
          <p:cNvSpPr/>
          <p:nvPr/>
        </p:nvSpPr>
        <p:spPr>
          <a:xfrm>
            <a:off x="571500" y="1778000"/>
            <a:ext cx="1968500" cy="952500"/>
          </a:xfrm>
          <a:prstGeom prst="rect">
            <a:avLst/>
          </a:prstGeom>
          <a:solidFill>
            <a:srgbClr val="E7F0EF"/>
          </a:solidFill>
          <a:ln>
            <a:solidFill>
              <a:srgbClr val="CAD6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5CD0C2E-F7DF-20B3-6CC8-4B080AEF71E6}"/>
              </a:ext>
            </a:extLst>
          </p:cNvPr>
          <p:cNvSpPr txBox="1"/>
          <p:nvPr/>
        </p:nvSpPr>
        <p:spPr>
          <a:xfrm>
            <a:off x="673100" y="1892300"/>
            <a:ext cx="17653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000" b="1">
                <a:solidFill>
                  <a:srgbClr val="244C5A"/>
                </a:solidFill>
                <a:latin typeface="Aptos" panose="020B0004020202020204" pitchFamily="34" charset="0"/>
              </a:rPr>
              <a:t>12,000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1509F12-BFCE-CCD4-07A4-98C9098EFE78}"/>
              </a:ext>
            </a:extLst>
          </p:cNvPr>
          <p:cNvSpPr txBox="1"/>
          <p:nvPr/>
        </p:nvSpPr>
        <p:spPr>
          <a:xfrm>
            <a:off x="673100" y="2286000"/>
            <a:ext cx="17653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800" b="1">
                <a:solidFill>
                  <a:srgbClr val="52616B"/>
                </a:solidFill>
                <a:latin typeface="Aptos" panose="020B0004020202020204" pitchFamily="34" charset="0"/>
              </a:rPr>
              <a:t>Base stabilized monthly gross rent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22EC1FC-0F06-9710-49BA-6EB42CFE7804}"/>
              </a:ext>
            </a:extLst>
          </p:cNvPr>
          <p:cNvSpPr/>
          <p:nvPr/>
        </p:nvSpPr>
        <p:spPr>
          <a:xfrm>
            <a:off x="2794000" y="1778000"/>
            <a:ext cx="1841500" cy="952500"/>
          </a:xfrm>
          <a:prstGeom prst="rect">
            <a:avLst/>
          </a:prstGeom>
          <a:solidFill>
            <a:srgbClr val="E7F0EF"/>
          </a:solidFill>
          <a:ln>
            <a:solidFill>
              <a:srgbClr val="CAD6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74209E8-E87B-67E5-5CCD-95334CECB72C}"/>
              </a:ext>
            </a:extLst>
          </p:cNvPr>
          <p:cNvSpPr txBox="1"/>
          <p:nvPr/>
        </p:nvSpPr>
        <p:spPr>
          <a:xfrm>
            <a:off x="2895600" y="1892300"/>
            <a:ext cx="16383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000" b="1">
                <a:solidFill>
                  <a:srgbClr val="244C5A"/>
                </a:solidFill>
                <a:latin typeface="Aptos" panose="020B0004020202020204" pitchFamily="34" charset="0"/>
              </a:rPr>
              <a:t>93.0%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E81DA98-BF02-C96A-7D60-F181DC5F426D}"/>
              </a:ext>
            </a:extLst>
          </p:cNvPr>
          <p:cNvSpPr txBox="1"/>
          <p:nvPr/>
        </p:nvSpPr>
        <p:spPr>
          <a:xfrm>
            <a:off x="2895600" y="2286000"/>
            <a:ext cx="16383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800" b="1">
                <a:solidFill>
                  <a:srgbClr val="52616B"/>
                </a:solidFill>
                <a:latin typeface="Aptos" panose="020B0004020202020204" pitchFamily="34" charset="0"/>
              </a:rPr>
              <a:t>Stabilized occupancy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7E0EF09-A66A-9A00-4B78-9CD493682DF4}"/>
              </a:ext>
            </a:extLst>
          </p:cNvPr>
          <p:cNvSpPr/>
          <p:nvPr/>
        </p:nvSpPr>
        <p:spPr>
          <a:xfrm>
            <a:off x="4889500" y="1778000"/>
            <a:ext cx="1968500" cy="952500"/>
          </a:xfrm>
          <a:prstGeom prst="rect">
            <a:avLst/>
          </a:prstGeom>
          <a:solidFill>
            <a:srgbClr val="E7F0EF"/>
          </a:solidFill>
          <a:ln>
            <a:solidFill>
              <a:srgbClr val="CAD6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DFD126B-7F03-2435-8160-DC287FBDC064}"/>
              </a:ext>
            </a:extLst>
          </p:cNvPr>
          <p:cNvSpPr txBox="1"/>
          <p:nvPr/>
        </p:nvSpPr>
        <p:spPr>
          <a:xfrm>
            <a:off x="4991100" y="1892300"/>
            <a:ext cx="17653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000" b="1">
                <a:solidFill>
                  <a:srgbClr val="244C5A"/>
                </a:solidFill>
                <a:latin typeface="Aptos" panose="020B0004020202020204" pitchFamily="34" charset="0"/>
              </a:rPr>
              <a:t>46.9%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F322A7D-0C5C-8AA3-4CEF-6112D938C7DC}"/>
              </a:ext>
            </a:extLst>
          </p:cNvPr>
          <p:cNvSpPr txBox="1"/>
          <p:nvPr/>
        </p:nvSpPr>
        <p:spPr>
          <a:xfrm>
            <a:off x="4991100" y="2286000"/>
            <a:ext cx="17653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800" b="1">
                <a:solidFill>
                  <a:srgbClr val="52616B"/>
                </a:solidFill>
                <a:latin typeface="Aptos" panose="020B0004020202020204" pitchFamily="34" charset="0"/>
              </a:rPr>
              <a:t>Selected operating expense ratio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6CF06FB-DDF4-9249-AC10-4B0A1C758BFF}"/>
              </a:ext>
            </a:extLst>
          </p:cNvPr>
          <p:cNvSpPr/>
          <p:nvPr/>
        </p:nvSpPr>
        <p:spPr>
          <a:xfrm>
            <a:off x="7112000" y="1778000"/>
            <a:ext cx="1333500" cy="952500"/>
          </a:xfrm>
          <a:prstGeom prst="rect">
            <a:avLst/>
          </a:prstGeom>
          <a:solidFill>
            <a:srgbClr val="E7F0EF"/>
          </a:solidFill>
          <a:ln>
            <a:solidFill>
              <a:srgbClr val="CAD6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E83800F-9B20-7519-4BD9-0B606E1D3297}"/>
              </a:ext>
            </a:extLst>
          </p:cNvPr>
          <p:cNvSpPr txBox="1"/>
          <p:nvPr/>
        </p:nvSpPr>
        <p:spPr>
          <a:xfrm>
            <a:off x="7213600" y="1892300"/>
            <a:ext cx="11303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000" b="1">
                <a:solidFill>
                  <a:srgbClr val="244C5A"/>
                </a:solidFill>
                <a:latin typeface="Aptos" panose="020B0004020202020204" pitchFamily="34" charset="0"/>
              </a:rPr>
              <a:t>6.0%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7E68CB3-5530-329F-FE94-9F821F097AE5}"/>
              </a:ext>
            </a:extLst>
          </p:cNvPr>
          <p:cNvSpPr txBox="1"/>
          <p:nvPr/>
        </p:nvSpPr>
        <p:spPr>
          <a:xfrm>
            <a:off x="7213600" y="2286000"/>
            <a:ext cx="11303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800" b="1">
                <a:solidFill>
                  <a:srgbClr val="52616B"/>
                </a:solidFill>
                <a:latin typeface="Aptos" panose="020B0004020202020204" pitchFamily="34" charset="0"/>
              </a:rPr>
              <a:t>Management fee rate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9FDD75D-872E-BF8F-253E-B7B435A373DD}"/>
              </a:ext>
            </a:extLst>
          </p:cNvPr>
          <p:cNvSpPr/>
          <p:nvPr/>
        </p:nvSpPr>
        <p:spPr>
          <a:xfrm>
            <a:off x="571500" y="3175000"/>
            <a:ext cx="3619500" cy="1587500"/>
          </a:xfrm>
          <a:prstGeom prst="rect">
            <a:avLst/>
          </a:prstGeom>
          <a:solidFill>
            <a:srgbClr val="FBFCFC"/>
          </a:solidFill>
          <a:ln>
            <a:solidFill>
              <a:srgbClr val="D9E1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C8CB13D-E725-10A2-93EC-6754A18D18C5}"/>
              </a:ext>
            </a:extLst>
          </p:cNvPr>
          <p:cNvSpPr txBox="1"/>
          <p:nvPr/>
        </p:nvSpPr>
        <p:spPr>
          <a:xfrm>
            <a:off x="723900" y="3302000"/>
            <a:ext cx="33147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300" b="1">
                <a:solidFill>
                  <a:srgbClr val="244C5A"/>
                </a:solidFill>
                <a:latin typeface="Aptos" panose="020B0004020202020204" pitchFamily="34" charset="0"/>
              </a:rPr>
              <a:t>Expense Budget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680801D-7BA7-8304-BB60-5D09D9CC9D83}"/>
              </a:ext>
            </a:extLst>
          </p:cNvPr>
          <p:cNvSpPr txBox="1"/>
          <p:nvPr/>
        </p:nvSpPr>
        <p:spPr>
          <a:xfrm>
            <a:off x="723900" y="3657600"/>
            <a:ext cx="3314700" cy="61555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00">
                <a:solidFill>
                  <a:srgbClr val="1F2933"/>
                </a:solidFill>
                <a:latin typeface="Aptos" panose="020B0004020202020204" pitchFamily="34" charset="0"/>
              </a:rPr>
              <a:t>Operating Expense Budget includes taxes, completed property insurance, management/admin, utilities, repairs, wastewater maintenance, reserve funding, and compliance items.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82E6CA3-C8F5-C84B-1513-A6D972732CB5}"/>
              </a:ext>
            </a:extLst>
          </p:cNvPr>
          <p:cNvSpPr/>
          <p:nvPr/>
        </p:nvSpPr>
        <p:spPr>
          <a:xfrm>
            <a:off x="4635500" y="3175000"/>
            <a:ext cx="3619500" cy="1587500"/>
          </a:xfrm>
          <a:prstGeom prst="rect">
            <a:avLst/>
          </a:prstGeom>
          <a:solidFill>
            <a:srgbClr val="FBFCFC"/>
          </a:solidFill>
          <a:ln>
            <a:solidFill>
              <a:srgbClr val="D9E1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AA52C69-2BD8-AB28-4A55-61D2E54D2E93}"/>
              </a:ext>
            </a:extLst>
          </p:cNvPr>
          <p:cNvSpPr txBox="1"/>
          <p:nvPr/>
        </p:nvSpPr>
        <p:spPr>
          <a:xfrm>
            <a:off x="4787900" y="3302000"/>
            <a:ext cx="33147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300" b="1">
                <a:solidFill>
                  <a:srgbClr val="244C5A"/>
                </a:solidFill>
                <a:latin typeface="Aptos" panose="020B0004020202020204" pitchFamily="34" charset="0"/>
              </a:rPr>
              <a:t>Management Income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20DDF84-7770-95A5-D600-2418BA8359B2}"/>
              </a:ext>
            </a:extLst>
          </p:cNvPr>
          <p:cNvSpPr txBox="1"/>
          <p:nvPr/>
        </p:nvSpPr>
        <p:spPr>
          <a:xfrm>
            <a:off x="4787900" y="3657600"/>
            <a:ext cx="33147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00">
                <a:solidFill>
                  <a:srgbClr val="1F2933"/>
                </a:solidFill>
                <a:latin typeface="Aptos" panose="020B0004020202020204" pitchFamily="34" charset="0"/>
              </a:rPr>
              <a:t>Management income is dynamic and based on 6.0% of effective gross income, so it changes as operating scenarios change.</a:t>
            </a:r>
          </a:p>
        </p:txBody>
      </p:sp>
    </p:spTree>
    <p:extLst>
      <p:ext uri="{BB962C8B-B14F-4D97-AF65-F5344CB8AC3E}">
        <p14:creationId xmlns:p14="http://schemas.microsoft.com/office/powerpoint/2010/main" val="3205496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126F354-ECD8-6ED3-E231-65ABFB327062}"/>
              </a:ext>
            </a:extLst>
          </p:cNvPr>
          <p:cNvSpPr/>
          <p:nvPr/>
        </p:nvSpPr>
        <p:spPr>
          <a:xfrm>
            <a:off x="0" y="0"/>
            <a:ext cx="12192000" cy="533400"/>
          </a:xfrm>
          <a:prstGeom prst="rect">
            <a:avLst/>
          </a:prstGeom>
          <a:solidFill>
            <a:srgbClr val="1421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8C2589-921D-9033-4E7E-B9FF3AE6F9F0}"/>
              </a:ext>
            </a:extLst>
          </p:cNvPr>
          <p:cNvSpPr/>
          <p:nvPr/>
        </p:nvSpPr>
        <p:spPr>
          <a:xfrm>
            <a:off x="889000" y="1600200"/>
            <a:ext cx="2667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CF6593-25C0-3901-6644-93E15F2C535F}"/>
              </a:ext>
            </a:extLst>
          </p:cNvPr>
          <p:cNvSpPr/>
          <p:nvPr/>
        </p:nvSpPr>
        <p:spPr>
          <a:xfrm>
            <a:off x="3937000" y="1600200"/>
            <a:ext cx="2413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E850C57-8D88-B9C7-902E-14639F86F4CD}"/>
              </a:ext>
            </a:extLst>
          </p:cNvPr>
          <p:cNvSpPr/>
          <p:nvPr/>
        </p:nvSpPr>
        <p:spPr>
          <a:xfrm>
            <a:off x="6731000" y="1600200"/>
            <a:ext cx="2413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BFF7B67-0BD6-1573-BDF7-5085FB9C5758}"/>
              </a:ext>
            </a:extLst>
          </p:cNvPr>
          <p:cNvSpPr/>
          <p:nvPr/>
        </p:nvSpPr>
        <p:spPr>
          <a:xfrm>
            <a:off x="9525000" y="1600200"/>
            <a:ext cx="2159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6BC2F57-7870-7E07-6DCC-E804A668B625}"/>
              </a:ext>
            </a:extLst>
          </p:cNvPr>
          <p:cNvSpPr/>
          <p:nvPr/>
        </p:nvSpPr>
        <p:spPr>
          <a:xfrm>
            <a:off x="1041400" y="3200400"/>
            <a:ext cx="4826000" cy="215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80453A1-67BC-CE67-EAAA-8A314FB62607}"/>
              </a:ext>
            </a:extLst>
          </p:cNvPr>
          <p:cNvSpPr/>
          <p:nvPr/>
        </p:nvSpPr>
        <p:spPr>
          <a:xfrm>
            <a:off x="1041400" y="3200400"/>
            <a:ext cx="76200" cy="2159000"/>
          </a:xfrm>
          <a:prstGeom prst="rect">
            <a:avLst/>
          </a:prstGeom>
          <a:solidFill>
            <a:srgbClr val="3F6B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70FF5D7-96D1-1AE5-018F-726E6FF9A05C}"/>
              </a:ext>
            </a:extLst>
          </p:cNvPr>
          <p:cNvSpPr/>
          <p:nvPr/>
        </p:nvSpPr>
        <p:spPr>
          <a:xfrm>
            <a:off x="6502400" y="3200400"/>
            <a:ext cx="4445000" cy="215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D76EF24-C984-BCDD-D80F-D6E9B80FDE15}"/>
              </a:ext>
            </a:extLst>
          </p:cNvPr>
          <p:cNvSpPr/>
          <p:nvPr/>
        </p:nvSpPr>
        <p:spPr>
          <a:xfrm>
            <a:off x="6502400" y="3200400"/>
            <a:ext cx="76200" cy="2159000"/>
          </a:xfrm>
          <a:prstGeom prst="rect">
            <a:avLst/>
          </a:prstGeom>
          <a:solidFill>
            <a:srgbClr val="C88C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67B29DF-F25C-1185-C0AB-5D7B1695255D}"/>
              </a:ext>
            </a:extLst>
          </p:cNvPr>
          <p:cNvSpPr txBox="1"/>
          <p:nvPr/>
        </p:nvSpPr>
        <p:spPr>
          <a:xfrm>
            <a:off x="482600" y="355600"/>
            <a:ext cx="4064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 b="1">
                <a:solidFill>
                  <a:srgbClr val="52616B"/>
                </a:solidFill>
                <a:latin typeface="Aptos" panose="020B0004020202020204" pitchFamily="34" charset="0"/>
              </a:rPr>
              <a:t>CAPITAL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D409688-19FF-FCE2-0FD9-48B3B269C015}"/>
              </a:ext>
            </a:extLst>
          </p:cNvPr>
          <p:cNvSpPr txBox="1"/>
          <p:nvPr/>
        </p:nvSpPr>
        <p:spPr>
          <a:xfrm>
            <a:off x="482600" y="635000"/>
            <a:ext cx="7747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800" b="1">
                <a:solidFill>
                  <a:srgbClr val="183B4A"/>
                </a:solidFill>
                <a:latin typeface="Aptos" panose="020B0004020202020204" pitchFamily="34" charset="0"/>
              </a:rPr>
              <a:t>Capitalization and Cost Case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1E15985-AD5E-C47A-75CA-23B6948E61AA}"/>
              </a:ext>
            </a:extLst>
          </p:cNvPr>
          <p:cNvSpPr txBox="1"/>
          <p:nvPr/>
        </p:nvSpPr>
        <p:spPr>
          <a:xfrm>
            <a:off x="508000" y="1320800"/>
            <a:ext cx="7747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>
                <a:solidFill>
                  <a:srgbClr val="52616B"/>
                </a:solidFill>
                <a:latin typeface="Aptos" panose="020B0004020202020204" pitchFamily="34" charset="0"/>
              </a:rPr>
              <a:t>Class A and Class B member capital fund development/build completion.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AEDD9AF-94D2-76E2-0E01-1B4B0EDCD80E}"/>
              </a:ext>
            </a:extLst>
          </p:cNvPr>
          <p:cNvSpPr/>
          <p:nvPr/>
        </p:nvSpPr>
        <p:spPr>
          <a:xfrm>
            <a:off x="571500" y="1714500"/>
            <a:ext cx="1600200" cy="914400"/>
          </a:xfrm>
          <a:prstGeom prst="rect">
            <a:avLst/>
          </a:prstGeom>
          <a:solidFill>
            <a:srgbClr val="E7F0EF"/>
          </a:solidFill>
          <a:ln>
            <a:solidFill>
              <a:srgbClr val="CAD6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FFE4F3F-76D5-3A84-8948-A68093856F5D}"/>
              </a:ext>
            </a:extLst>
          </p:cNvPr>
          <p:cNvSpPr txBox="1"/>
          <p:nvPr/>
        </p:nvSpPr>
        <p:spPr>
          <a:xfrm>
            <a:off x="673100" y="1828800"/>
            <a:ext cx="1397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000" b="1">
                <a:solidFill>
                  <a:srgbClr val="244C5A"/>
                </a:solidFill>
                <a:latin typeface="Aptos" panose="020B0004020202020204" pitchFamily="34" charset="0"/>
              </a:rPr>
              <a:t>847,500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CFFCCC1-DFFD-5FB8-7AB0-BAE1EABE8BCF}"/>
              </a:ext>
            </a:extLst>
          </p:cNvPr>
          <p:cNvSpPr txBox="1"/>
          <p:nvPr/>
        </p:nvSpPr>
        <p:spPr>
          <a:xfrm>
            <a:off x="673100" y="2222500"/>
            <a:ext cx="1397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800" b="1">
                <a:solidFill>
                  <a:srgbClr val="52616B"/>
                </a:solidFill>
                <a:latin typeface="Aptos" panose="020B0004020202020204" pitchFamily="34" charset="0"/>
              </a:rPr>
              <a:t>Selected project cost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346298F-93E7-2EBF-F388-173426BC207C}"/>
              </a:ext>
            </a:extLst>
          </p:cNvPr>
          <p:cNvSpPr/>
          <p:nvPr/>
        </p:nvSpPr>
        <p:spPr>
          <a:xfrm>
            <a:off x="2413000" y="1714500"/>
            <a:ext cx="1600200" cy="914400"/>
          </a:xfrm>
          <a:prstGeom prst="rect">
            <a:avLst/>
          </a:prstGeom>
          <a:solidFill>
            <a:srgbClr val="E7F0EF"/>
          </a:solidFill>
          <a:ln>
            <a:solidFill>
              <a:srgbClr val="CAD6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3C5F231-7C7E-6FC2-7D8E-BB7E70EFA37A}"/>
              </a:ext>
            </a:extLst>
          </p:cNvPr>
          <p:cNvSpPr txBox="1"/>
          <p:nvPr/>
        </p:nvSpPr>
        <p:spPr>
          <a:xfrm>
            <a:off x="2514600" y="1828800"/>
            <a:ext cx="1397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000" b="1">
                <a:solidFill>
                  <a:srgbClr val="244C5A"/>
                </a:solidFill>
                <a:latin typeface="Aptos" panose="020B0004020202020204" pitchFamily="34" charset="0"/>
              </a:rPr>
              <a:t>300,000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B988F9A-EF87-0775-AF12-8B32F84D0416}"/>
              </a:ext>
            </a:extLst>
          </p:cNvPr>
          <p:cNvSpPr txBox="1"/>
          <p:nvPr/>
        </p:nvSpPr>
        <p:spPr>
          <a:xfrm>
            <a:off x="2514600" y="2222500"/>
            <a:ext cx="1397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800" b="1">
                <a:solidFill>
                  <a:srgbClr val="52616B"/>
                </a:solidFill>
                <a:latin typeface="Aptos" panose="020B0004020202020204" pitchFamily="34" charset="0"/>
              </a:rPr>
              <a:t>Class A capital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1D9EB98-0FE6-B8FC-FB5C-63A5AED3DD15}"/>
              </a:ext>
            </a:extLst>
          </p:cNvPr>
          <p:cNvSpPr/>
          <p:nvPr/>
        </p:nvSpPr>
        <p:spPr>
          <a:xfrm>
            <a:off x="4254500" y="1714500"/>
            <a:ext cx="1600200" cy="914400"/>
          </a:xfrm>
          <a:prstGeom prst="rect">
            <a:avLst/>
          </a:prstGeom>
          <a:solidFill>
            <a:srgbClr val="E7F0EF"/>
          </a:solidFill>
          <a:ln>
            <a:solidFill>
              <a:srgbClr val="CAD6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55DF024-58BF-8CB5-9B25-01C06AE746B5}"/>
              </a:ext>
            </a:extLst>
          </p:cNvPr>
          <p:cNvSpPr txBox="1"/>
          <p:nvPr/>
        </p:nvSpPr>
        <p:spPr>
          <a:xfrm>
            <a:off x="4356100" y="1828800"/>
            <a:ext cx="1397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000" b="1">
                <a:solidFill>
                  <a:srgbClr val="244C5A"/>
                </a:solidFill>
                <a:latin typeface="Aptos" panose="020B0004020202020204" pitchFamily="34" charset="0"/>
              </a:rPr>
              <a:t>547,500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D6BA055-3B41-FA4E-B653-37787615735E}"/>
              </a:ext>
            </a:extLst>
          </p:cNvPr>
          <p:cNvSpPr txBox="1"/>
          <p:nvPr/>
        </p:nvSpPr>
        <p:spPr>
          <a:xfrm>
            <a:off x="4356100" y="2222500"/>
            <a:ext cx="1397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800" b="1">
                <a:solidFill>
                  <a:srgbClr val="52616B"/>
                </a:solidFill>
                <a:latin typeface="Aptos" panose="020B0004020202020204" pitchFamily="34" charset="0"/>
              </a:rPr>
              <a:t>Class B capital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282B22B-2171-8E14-D53C-BA48A8C53D8B}"/>
              </a:ext>
            </a:extLst>
          </p:cNvPr>
          <p:cNvSpPr/>
          <p:nvPr/>
        </p:nvSpPr>
        <p:spPr>
          <a:xfrm>
            <a:off x="6096000" y="1714500"/>
            <a:ext cx="1968500" cy="914400"/>
          </a:xfrm>
          <a:prstGeom prst="rect">
            <a:avLst/>
          </a:prstGeom>
          <a:solidFill>
            <a:srgbClr val="E7F0EF"/>
          </a:solidFill>
          <a:ln>
            <a:solidFill>
              <a:srgbClr val="CAD6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7E80CEE-8A9F-5907-9E06-0F0EF347E92F}"/>
              </a:ext>
            </a:extLst>
          </p:cNvPr>
          <p:cNvSpPr txBox="1"/>
          <p:nvPr/>
        </p:nvSpPr>
        <p:spPr>
          <a:xfrm>
            <a:off x="6197600" y="1828800"/>
            <a:ext cx="17653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000" b="1">
                <a:solidFill>
                  <a:srgbClr val="244C5A"/>
                </a:solidFill>
                <a:latin typeface="Aptos" panose="020B0004020202020204" pitchFamily="34" charset="0"/>
              </a:rPr>
              <a:t>100,000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2EDA5BA-ACC9-00E9-0499-E00BD412B321}"/>
              </a:ext>
            </a:extLst>
          </p:cNvPr>
          <p:cNvSpPr txBox="1"/>
          <p:nvPr/>
        </p:nvSpPr>
        <p:spPr>
          <a:xfrm>
            <a:off x="6197600" y="2222500"/>
            <a:ext cx="17653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800" b="1">
                <a:solidFill>
                  <a:srgbClr val="52616B"/>
                </a:solidFill>
                <a:latin typeface="Aptos" panose="020B0004020202020204" pitchFamily="34" charset="0"/>
              </a:rPr>
              <a:t>Sponsor property payment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0C601BF-D147-0BF1-7F9A-A401E02AD6D8}"/>
              </a:ext>
            </a:extLst>
          </p:cNvPr>
          <p:cNvSpPr/>
          <p:nvPr/>
        </p:nvSpPr>
        <p:spPr>
          <a:xfrm>
            <a:off x="571500" y="3111500"/>
            <a:ext cx="3683000" cy="1714500"/>
          </a:xfrm>
          <a:prstGeom prst="rect">
            <a:avLst/>
          </a:prstGeom>
          <a:solidFill>
            <a:srgbClr val="FBFCFC"/>
          </a:solidFill>
          <a:ln>
            <a:solidFill>
              <a:srgbClr val="D9E1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70B28E2-1F4E-C8EA-7078-0442014219BA}"/>
              </a:ext>
            </a:extLst>
          </p:cNvPr>
          <p:cNvSpPr txBox="1"/>
          <p:nvPr/>
        </p:nvSpPr>
        <p:spPr>
          <a:xfrm>
            <a:off x="723900" y="3238500"/>
            <a:ext cx="33782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300" b="1">
                <a:solidFill>
                  <a:srgbClr val="244C5A"/>
                </a:solidFill>
                <a:latin typeface="Aptos" panose="020B0004020202020204" pitchFamily="34" charset="0"/>
              </a:rPr>
              <a:t>Capital Source Rule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B41F84F-9F2B-C509-8B40-7C96A580A759}"/>
              </a:ext>
            </a:extLst>
          </p:cNvPr>
          <p:cNvSpPr txBox="1"/>
          <p:nvPr/>
        </p:nvSpPr>
        <p:spPr>
          <a:xfrm>
            <a:off x="723900" y="3594100"/>
            <a:ext cx="33782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00">
                <a:solidFill>
                  <a:srgbClr val="1F2933"/>
                </a:solidFill>
                <a:latin typeface="Aptos" panose="020B0004020202020204" pitchFamily="34" charset="0"/>
              </a:rPr>
              <a:t>No construction loan is currently modeled. Member capital funds the development path; the only new debt modeled is the stabilization refinance/takeout loan.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C2569DA-DB1F-54E7-B049-DE98956470F3}"/>
              </a:ext>
            </a:extLst>
          </p:cNvPr>
          <p:cNvSpPr/>
          <p:nvPr/>
        </p:nvSpPr>
        <p:spPr>
          <a:xfrm>
            <a:off x="4699000" y="3111500"/>
            <a:ext cx="3429000" cy="1714500"/>
          </a:xfrm>
          <a:prstGeom prst="rect">
            <a:avLst/>
          </a:prstGeom>
          <a:solidFill>
            <a:srgbClr val="FBFCFC"/>
          </a:solidFill>
          <a:ln>
            <a:solidFill>
              <a:srgbClr val="D9E1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DD115D4-A4CB-BB93-A036-D16BC80E2E1E}"/>
              </a:ext>
            </a:extLst>
          </p:cNvPr>
          <p:cNvSpPr txBox="1"/>
          <p:nvPr/>
        </p:nvSpPr>
        <p:spPr>
          <a:xfrm>
            <a:off x="4851400" y="3238500"/>
            <a:ext cx="31242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300" b="1">
                <a:solidFill>
                  <a:srgbClr val="244C5A"/>
                </a:solidFill>
                <a:latin typeface="Aptos" panose="020B0004020202020204" pitchFamily="34" charset="0"/>
              </a:rPr>
              <a:t>Sponsor Execution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5D431CD-9BB8-5FB4-81CA-D6CF0F1F764B}"/>
              </a:ext>
            </a:extLst>
          </p:cNvPr>
          <p:cNvSpPr txBox="1"/>
          <p:nvPr/>
        </p:nvSpPr>
        <p:spPr>
          <a:xfrm>
            <a:off x="4851400" y="3594100"/>
            <a:ext cx="31242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00">
                <a:solidFill>
                  <a:srgbClr val="1F2933"/>
                </a:solidFill>
                <a:latin typeface="Aptos" panose="020B0004020202020204" pitchFamily="34" charset="0"/>
              </a:rPr>
              <a:t>Post-frame construction, sponsor equipment/crew capacity, and scope discipline are central to cost feasibility.</a:t>
            </a:r>
          </a:p>
        </p:txBody>
      </p:sp>
    </p:spTree>
    <p:extLst>
      <p:ext uri="{BB962C8B-B14F-4D97-AF65-F5344CB8AC3E}">
        <p14:creationId xmlns:p14="http://schemas.microsoft.com/office/powerpoint/2010/main" val="377527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08219FE-4C26-F6D6-B48B-38E8F4199CC0}"/>
              </a:ext>
            </a:extLst>
          </p:cNvPr>
          <p:cNvSpPr/>
          <p:nvPr/>
        </p:nvSpPr>
        <p:spPr>
          <a:xfrm>
            <a:off x="0" y="0"/>
            <a:ext cx="12192000" cy="533400"/>
          </a:xfrm>
          <a:prstGeom prst="rect">
            <a:avLst/>
          </a:prstGeom>
          <a:solidFill>
            <a:srgbClr val="1421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BF8D85-D0EB-0F97-747A-8487F252653D}"/>
              </a:ext>
            </a:extLst>
          </p:cNvPr>
          <p:cNvSpPr/>
          <p:nvPr/>
        </p:nvSpPr>
        <p:spPr>
          <a:xfrm>
            <a:off x="889000" y="1600200"/>
            <a:ext cx="2667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0112779-5534-85A2-3CB1-0A9018B3CE9B}"/>
              </a:ext>
            </a:extLst>
          </p:cNvPr>
          <p:cNvSpPr/>
          <p:nvPr/>
        </p:nvSpPr>
        <p:spPr>
          <a:xfrm>
            <a:off x="3937000" y="1600200"/>
            <a:ext cx="2667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9AA54DF-E2CE-0FE5-7CBF-8372C5270865}"/>
              </a:ext>
            </a:extLst>
          </p:cNvPr>
          <p:cNvSpPr/>
          <p:nvPr/>
        </p:nvSpPr>
        <p:spPr>
          <a:xfrm>
            <a:off x="6985000" y="1600200"/>
            <a:ext cx="2921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C45E82E-A262-181A-EF04-F9D9A3134242}"/>
              </a:ext>
            </a:extLst>
          </p:cNvPr>
          <p:cNvSpPr/>
          <p:nvPr/>
        </p:nvSpPr>
        <p:spPr>
          <a:xfrm>
            <a:off x="10287000" y="1600200"/>
            <a:ext cx="1524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FD5A9E0-2FC0-9A30-50E0-A91B19285D27}"/>
              </a:ext>
            </a:extLst>
          </p:cNvPr>
          <p:cNvSpPr txBox="1"/>
          <p:nvPr/>
        </p:nvSpPr>
        <p:spPr>
          <a:xfrm>
            <a:off x="482600" y="355600"/>
            <a:ext cx="4064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 b="1">
                <a:solidFill>
                  <a:srgbClr val="52616B"/>
                </a:solidFill>
                <a:latin typeface="Aptos" panose="020B0004020202020204" pitchFamily="34" charset="0"/>
              </a:rPr>
              <a:t>REFINANCE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938CFD8-57D0-E451-82E3-1BB2A64749FF}"/>
              </a:ext>
            </a:extLst>
          </p:cNvPr>
          <p:cNvSpPr txBox="1"/>
          <p:nvPr/>
        </p:nvSpPr>
        <p:spPr>
          <a:xfrm>
            <a:off x="482600" y="635000"/>
            <a:ext cx="7747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800" b="1">
                <a:solidFill>
                  <a:srgbClr val="183B4A"/>
                </a:solidFill>
                <a:latin typeface="Aptos" panose="020B0004020202020204" pitchFamily="34" charset="0"/>
              </a:rPr>
              <a:t>Refinance Takeout Structure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8A85E15-389D-C32C-4C4A-DBAE3183296E}"/>
              </a:ext>
            </a:extLst>
          </p:cNvPr>
          <p:cNvSpPr txBox="1"/>
          <p:nvPr/>
        </p:nvSpPr>
        <p:spPr>
          <a:xfrm>
            <a:off x="508000" y="1320800"/>
            <a:ext cx="7747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>
                <a:solidFill>
                  <a:srgbClr val="52616B"/>
                </a:solidFill>
                <a:latin typeface="Aptos" panose="020B0004020202020204" pitchFamily="34" charset="0"/>
              </a:rPr>
              <a:t>Refinance is modeled as a stabilization/takeout event, not construction debt.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845858A-5513-A0D8-2F13-D86995F20F8B}"/>
              </a:ext>
            </a:extLst>
          </p:cNvPr>
          <p:cNvSpPr/>
          <p:nvPr/>
        </p:nvSpPr>
        <p:spPr>
          <a:xfrm>
            <a:off x="571500" y="1778000"/>
            <a:ext cx="1600200" cy="914400"/>
          </a:xfrm>
          <a:prstGeom prst="rect">
            <a:avLst/>
          </a:prstGeom>
          <a:solidFill>
            <a:srgbClr val="E7F0EF"/>
          </a:solidFill>
          <a:ln>
            <a:solidFill>
              <a:srgbClr val="CAD6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636EF14-9B97-8680-1E01-4E82902FC30C}"/>
              </a:ext>
            </a:extLst>
          </p:cNvPr>
          <p:cNvSpPr txBox="1"/>
          <p:nvPr/>
        </p:nvSpPr>
        <p:spPr>
          <a:xfrm>
            <a:off x="673100" y="1892300"/>
            <a:ext cx="1397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000" b="1">
                <a:solidFill>
                  <a:srgbClr val="244C5A"/>
                </a:solidFill>
                <a:latin typeface="Aptos" panose="020B0004020202020204" pitchFamily="34" charset="0"/>
              </a:rPr>
              <a:t>194,000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4F06420-C4B7-4E9D-7D11-7C3039F17D2C}"/>
              </a:ext>
            </a:extLst>
          </p:cNvPr>
          <p:cNvSpPr txBox="1"/>
          <p:nvPr/>
        </p:nvSpPr>
        <p:spPr>
          <a:xfrm>
            <a:off x="673100" y="2286000"/>
            <a:ext cx="1397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800" b="1">
                <a:solidFill>
                  <a:srgbClr val="52616B"/>
                </a:solidFill>
                <a:latin typeface="Aptos" panose="020B0004020202020204" pitchFamily="34" charset="0"/>
              </a:rPr>
              <a:t>Existing debt payoff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1912B64-0425-BC62-9007-017D047755FC}"/>
              </a:ext>
            </a:extLst>
          </p:cNvPr>
          <p:cNvSpPr/>
          <p:nvPr/>
        </p:nvSpPr>
        <p:spPr>
          <a:xfrm>
            <a:off x="2413000" y="1778000"/>
            <a:ext cx="1600200" cy="914400"/>
          </a:xfrm>
          <a:prstGeom prst="rect">
            <a:avLst/>
          </a:prstGeom>
          <a:solidFill>
            <a:srgbClr val="E7F0EF"/>
          </a:solidFill>
          <a:ln>
            <a:solidFill>
              <a:srgbClr val="CAD6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7E45850-087A-D87F-3555-446F84951B9E}"/>
              </a:ext>
            </a:extLst>
          </p:cNvPr>
          <p:cNvSpPr txBox="1"/>
          <p:nvPr/>
        </p:nvSpPr>
        <p:spPr>
          <a:xfrm>
            <a:off x="2514600" y="1892300"/>
            <a:ext cx="1397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000" b="1">
                <a:solidFill>
                  <a:srgbClr val="244C5A"/>
                </a:solidFill>
                <a:latin typeface="Aptos" panose="020B0004020202020204" pitchFamily="34" charset="0"/>
              </a:rPr>
              <a:t>732,276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96F4E45-8F2F-3055-4A0E-4E5D2B1BA8EE}"/>
              </a:ext>
            </a:extLst>
          </p:cNvPr>
          <p:cNvSpPr txBox="1"/>
          <p:nvPr/>
        </p:nvSpPr>
        <p:spPr>
          <a:xfrm>
            <a:off x="2514600" y="2286000"/>
            <a:ext cx="1397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800" b="1">
                <a:solidFill>
                  <a:srgbClr val="52616B"/>
                </a:solidFill>
                <a:latin typeface="Aptos" panose="020B0004020202020204" pitchFamily="34" charset="0"/>
              </a:rPr>
              <a:t>Refi loan amount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A7A7E1B-50FD-6904-11C1-9A8300BB7DAA}"/>
              </a:ext>
            </a:extLst>
          </p:cNvPr>
          <p:cNvSpPr/>
          <p:nvPr/>
        </p:nvSpPr>
        <p:spPr>
          <a:xfrm>
            <a:off x="4254500" y="1778000"/>
            <a:ext cx="1600200" cy="914400"/>
          </a:xfrm>
          <a:prstGeom prst="rect">
            <a:avLst/>
          </a:prstGeom>
          <a:solidFill>
            <a:srgbClr val="E7F0EF"/>
          </a:solidFill>
          <a:ln>
            <a:solidFill>
              <a:srgbClr val="CAD6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98602FD-9156-B006-1940-58BD32FD64E7}"/>
              </a:ext>
            </a:extLst>
          </p:cNvPr>
          <p:cNvSpPr txBox="1"/>
          <p:nvPr/>
        </p:nvSpPr>
        <p:spPr>
          <a:xfrm>
            <a:off x="4356100" y="1892300"/>
            <a:ext cx="1397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000" b="1">
                <a:solidFill>
                  <a:srgbClr val="244C5A"/>
                </a:solidFill>
                <a:latin typeface="Aptos" panose="020B0004020202020204" pitchFamily="34" charset="0"/>
              </a:rPr>
              <a:t>538,276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E4231D6-6D2F-85EB-FB58-D74B843BEA33}"/>
              </a:ext>
            </a:extLst>
          </p:cNvPr>
          <p:cNvSpPr txBox="1"/>
          <p:nvPr/>
        </p:nvSpPr>
        <p:spPr>
          <a:xfrm>
            <a:off x="4356100" y="2286000"/>
            <a:ext cx="1397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800" b="1">
                <a:solidFill>
                  <a:srgbClr val="52616B"/>
                </a:solidFill>
                <a:latin typeface="Aptos" panose="020B0004020202020204" pitchFamily="34" charset="0"/>
              </a:rPr>
              <a:t>Net after existing debt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6D101B7-F1E0-9F3E-4986-3EFB33BD80B6}"/>
              </a:ext>
            </a:extLst>
          </p:cNvPr>
          <p:cNvSpPr/>
          <p:nvPr/>
        </p:nvSpPr>
        <p:spPr>
          <a:xfrm>
            <a:off x="6096000" y="1778000"/>
            <a:ext cx="1600200" cy="914400"/>
          </a:xfrm>
          <a:prstGeom prst="rect">
            <a:avLst/>
          </a:prstGeom>
          <a:solidFill>
            <a:srgbClr val="E7F0EF"/>
          </a:solidFill>
          <a:ln>
            <a:solidFill>
              <a:srgbClr val="CAD6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A02D4C4-B466-20FD-CC72-C9ADBC8773D6}"/>
              </a:ext>
            </a:extLst>
          </p:cNvPr>
          <p:cNvSpPr txBox="1"/>
          <p:nvPr/>
        </p:nvSpPr>
        <p:spPr>
          <a:xfrm>
            <a:off x="6197600" y="1892300"/>
            <a:ext cx="1397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000" b="1">
                <a:solidFill>
                  <a:srgbClr val="244C5A"/>
                </a:solidFill>
                <a:latin typeface="Aptos" panose="020B0004020202020204" pitchFamily="34" charset="0"/>
              </a:rPr>
              <a:t>Year 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3B43C89-3ACF-E13C-77BE-82E19D32F8EC}"/>
              </a:ext>
            </a:extLst>
          </p:cNvPr>
          <p:cNvSpPr txBox="1"/>
          <p:nvPr/>
        </p:nvSpPr>
        <p:spPr>
          <a:xfrm>
            <a:off x="6197600" y="2286000"/>
            <a:ext cx="1397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800" b="1">
                <a:solidFill>
                  <a:srgbClr val="52616B"/>
                </a:solidFill>
                <a:latin typeface="Aptos" panose="020B0004020202020204" pitchFamily="34" charset="0"/>
              </a:rPr>
              <a:t>Refi timing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436C556-74C6-DF38-C1EC-EDCDC5817F84}"/>
              </a:ext>
            </a:extLst>
          </p:cNvPr>
          <p:cNvSpPr txBox="1"/>
          <p:nvPr/>
        </p:nvSpPr>
        <p:spPr>
          <a:xfrm>
            <a:off x="762000" y="3238500"/>
            <a:ext cx="7239000" cy="67710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n-US" sz="1100">
                <a:solidFill>
                  <a:srgbClr val="1F2933"/>
                </a:solidFill>
                <a:latin typeface="Aptos" panose="020B0004020202020204" pitchFamily="34" charset="0"/>
              </a:rPr>
              <a:t>- Refinance loan is limited by the current model rule and stabilized value constraints.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100">
                <a:solidFill>
                  <a:srgbClr val="1F2933"/>
                </a:solidFill>
                <a:latin typeface="Aptos" panose="020B0004020202020204" pitchFamily="34" charset="0"/>
              </a:rPr>
              <a:t>- Existing debt includes first mortgage and private debt assumptions.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100">
                <a:solidFill>
                  <a:srgbClr val="1F2933"/>
                </a:solidFill>
                <a:latin typeface="Aptos" panose="020B0004020202020204" pitchFamily="34" charset="0"/>
              </a:rPr>
              <a:t>- Refi proceeds flow through the waterfall with Class A and Class B capital recovery before residual splits.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100">
                <a:solidFill>
                  <a:srgbClr val="1F2933"/>
                </a:solidFill>
                <a:latin typeface="Aptos" panose="020B0004020202020204" pitchFamily="34" charset="0"/>
              </a:rPr>
              <a:t>- Current sale/exit timing in the STR workbook: Year 5.</a:t>
            </a:r>
          </a:p>
        </p:txBody>
      </p:sp>
    </p:spTree>
    <p:extLst>
      <p:ext uri="{BB962C8B-B14F-4D97-AF65-F5344CB8AC3E}">
        <p14:creationId xmlns:p14="http://schemas.microsoft.com/office/powerpoint/2010/main" val="36347425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F7EFB11-4160-481A-B27F-1A644B8E0194}"/>
              </a:ext>
            </a:extLst>
          </p:cNvPr>
          <p:cNvSpPr/>
          <p:nvPr/>
        </p:nvSpPr>
        <p:spPr>
          <a:xfrm>
            <a:off x="0" y="0"/>
            <a:ext cx="12192000" cy="533400"/>
          </a:xfrm>
          <a:prstGeom prst="rect">
            <a:avLst/>
          </a:prstGeom>
          <a:solidFill>
            <a:srgbClr val="1421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0FFEC5-A5DC-6153-3DAE-97D8A85529CE}"/>
              </a:ext>
            </a:extLst>
          </p:cNvPr>
          <p:cNvSpPr/>
          <p:nvPr/>
        </p:nvSpPr>
        <p:spPr>
          <a:xfrm>
            <a:off x="914400" y="1676400"/>
            <a:ext cx="3048000" cy="190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8DAB4D-7C72-6517-878A-C62D63AF5C24}"/>
              </a:ext>
            </a:extLst>
          </p:cNvPr>
          <p:cNvSpPr/>
          <p:nvPr/>
        </p:nvSpPr>
        <p:spPr>
          <a:xfrm>
            <a:off x="914400" y="1676400"/>
            <a:ext cx="76200" cy="1905000"/>
          </a:xfrm>
          <a:prstGeom prst="rect">
            <a:avLst/>
          </a:prstGeom>
          <a:solidFill>
            <a:srgbClr val="3F6B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6A5C7AE-867E-1029-3E23-5B1E7F4C8C95}"/>
              </a:ext>
            </a:extLst>
          </p:cNvPr>
          <p:cNvSpPr/>
          <p:nvPr/>
        </p:nvSpPr>
        <p:spPr>
          <a:xfrm>
            <a:off x="4572000" y="1676400"/>
            <a:ext cx="3048000" cy="190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A15DA6D-71DE-95E9-0706-AC29FA854ABB}"/>
              </a:ext>
            </a:extLst>
          </p:cNvPr>
          <p:cNvSpPr/>
          <p:nvPr/>
        </p:nvSpPr>
        <p:spPr>
          <a:xfrm>
            <a:off x="4572000" y="1676400"/>
            <a:ext cx="76200" cy="1905000"/>
          </a:xfrm>
          <a:prstGeom prst="rect">
            <a:avLst/>
          </a:prstGeom>
          <a:solidFill>
            <a:srgbClr val="3F6B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7052D0C-F7D4-1E81-BD7D-4001D0703BAE}"/>
              </a:ext>
            </a:extLst>
          </p:cNvPr>
          <p:cNvSpPr/>
          <p:nvPr/>
        </p:nvSpPr>
        <p:spPr>
          <a:xfrm>
            <a:off x="8229600" y="1676400"/>
            <a:ext cx="3048000" cy="215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F93FB7-FDD7-01E5-EAA2-C4CB5F47C99F}"/>
              </a:ext>
            </a:extLst>
          </p:cNvPr>
          <p:cNvSpPr/>
          <p:nvPr/>
        </p:nvSpPr>
        <p:spPr>
          <a:xfrm>
            <a:off x="8229600" y="1676400"/>
            <a:ext cx="76200" cy="2159000"/>
          </a:xfrm>
          <a:prstGeom prst="rect">
            <a:avLst/>
          </a:prstGeom>
          <a:solidFill>
            <a:srgbClr val="C88C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83D8FDE-0F2F-2DF1-CD08-F4F42527FEE8}"/>
              </a:ext>
            </a:extLst>
          </p:cNvPr>
          <p:cNvSpPr txBox="1"/>
          <p:nvPr/>
        </p:nvSpPr>
        <p:spPr>
          <a:xfrm>
            <a:off x="482600" y="355600"/>
            <a:ext cx="4064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 b="1">
                <a:solidFill>
                  <a:srgbClr val="52616B"/>
                </a:solidFill>
                <a:latin typeface="Aptos" panose="020B0004020202020204" pitchFamily="34" charset="0"/>
              </a:rPr>
              <a:t>RETURNS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4D1B326-B78F-466B-036D-A60CF0D233DA}"/>
              </a:ext>
            </a:extLst>
          </p:cNvPr>
          <p:cNvSpPr txBox="1"/>
          <p:nvPr/>
        </p:nvSpPr>
        <p:spPr>
          <a:xfrm>
            <a:off x="482600" y="635000"/>
            <a:ext cx="7747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800" b="1">
                <a:solidFill>
                  <a:srgbClr val="183B4A"/>
                </a:solidFill>
                <a:latin typeface="Aptos" panose="020B0004020202020204" pitchFamily="34" charset="0"/>
              </a:rPr>
              <a:t>Base Case Returns Snapshot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8DAA9D8-4FC2-AB4C-DF04-4FB4C0188675}"/>
              </a:ext>
            </a:extLst>
          </p:cNvPr>
          <p:cNvSpPr txBox="1"/>
          <p:nvPr/>
        </p:nvSpPr>
        <p:spPr>
          <a:xfrm>
            <a:off x="508000" y="1320800"/>
            <a:ext cx="7747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>
                <a:solidFill>
                  <a:srgbClr val="52616B"/>
                </a:solidFill>
                <a:latin typeface="Aptos" panose="020B0004020202020204" pitchFamily="34" charset="0"/>
              </a:rPr>
              <a:t>Base Co-Living / Medium-Term remains the investor control case.</a:t>
            </a: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731B4429-2B3E-A318-9674-75BC70804A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6751937"/>
              </p:ext>
            </p:extLst>
          </p:nvPr>
        </p:nvGraphicFramePr>
        <p:xfrm>
          <a:off x="698500" y="1841500"/>
          <a:ext cx="7493000" cy="17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600">
                  <a:extLst>
                    <a:ext uri="{9D8B030D-6E8A-4147-A177-3AD203B41FA5}">
                      <a16:colId xmlns:a16="http://schemas.microsoft.com/office/drawing/2014/main" val="1688566568"/>
                    </a:ext>
                  </a:extLst>
                </a:gridCol>
                <a:gridCol w="1498600">
                  <a:extLst>
                    <a:ext uri="{9D8B030D-6E8A-4147-A177-3AD203B41FA5}">
                      <a16:colId xmlns:a16="http://schemas.microsoft.com/office/drawing/2014/main" val="1333757137"/>
                    </a:ext>
                  </a:extLst>
                </a:gridCol>
                <a:gridCol w="1498600">
                  <a:extLst>
                    <a:ext uri="{9D8B030D-6E8A-4147-A177-3AD203B41FA5}">
                      <a16:colId xmlns:a16="http://schemas.microsoft.com/office/drawing/2014/main" val="3853975912"/>
                    </a:ext>
                  </a:extLst>
                </a:gridCol>
                <a:gridCol w="1498600">
                  <a:extLst>
                    <a:ext uri="{9D8B030D-6E8A-4147-A177-3AD203B41FA5}">
                      <a16:colId xmlns:a16="http://schemas.microsoft.com/office/drawing/2014/main" val="2164793600"/>
                    </a:ext>
                  </a:extLst>
                </a:gridCol>
                <a:gridCol w="1498600">
                  <a:extLst>
                    <a:ext uri="{9D8B030D-6E8A-4147-A177-3AD203B41FA5}">
                      <a16:colId xmlns:a16="http://schemas.microsoft.com/office/drawing/2014/main" val="4245934094"/>
                    </a:ext>
                  </a:extLst>
                </a:gridCol>
              </a:tblGrid>
              <a:tr h="444500">
                <a:tc>
                  <a:txBody>
                    <a:bodyPr/>
                    <a:lstStyle/>
                    <a:p>
                      <a:r>
                        <a:rPr lang="en-US" sz="900" b="1">
                          <a:solidFill>
                            <a:srgbClr val="183B4A"/>
                          </a:solidFill>
                          <a:latin typeface="Aptos" panose="020B0004020202020204" pitchFamily="34" charset="0"/>
                        </a:rPr>
                        <a:t>Participant</a:t>
                      </a:r>
                    </a:p>
                  </a:txBody>
                  <a:tcPr>
                    <a:solidFill>
                      <a:srgbClr val="E7F0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>
                          <a:solidFill>
                            <a:srgbClr val="183B4A"/>
                          </a:solidFill>
                          <a:latin typeface="Aptos" panose="020B0004020202020204" pitchFamily="34" charset="0"/>
                        </a:rPr>
                        <a:t>Capital</a:t>
                      </a:r>
                    </a:p>
                  </a:txBody>
                  <a:tcPr>
                    <a:solidFill>
                      <a:srgbClr val="E7F0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>
                          <a:solidFill>
                            <a:srgbClr val="183B4A"/>
                          </a:solidFill>
                          <a:latin typeface="Aptos" panose="020B0004020202020204" pitchFamily="34" charset="0"/>
                        </a:rPr>
                        <a:t>Total Profit</a:t>
                      </a:r>
                    </a:p>
                  </a:txBody>
                  <a:tcPr>
                    <a:solidFill>
                      <a:srgbClr val="E7F0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>
                          <a:solidFill>
                            <a:srgbClr val="183B4A"/>
                          </a:solidFill>
                          <a:latin typeface="Aptos" panose="020B0004020202020204" pitchFamily="34" charset="0"/>
                        </a:rPr>
                        <a:t>ROI</a:t>
                      </a:r>
                    </a:p>
                  </a:txBody>
                  <a:tcPr>
                    <a:solidFill>
                      <a:srgbClr val="E7F0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>
                          <a:solidFill>
                            <a:srgbClr val="183B4A"/>
                          </a:solidFill>
                          <a:latin typeface="Aptos" panose="020B0004020202020204" pitchFamily="34" charset="0"/>
                        </a:rPr>
                        <a:t>IRR</a:t>
                      </a:r>
                    </a:p>
                  </a:txBody>
                  <a:tcPr>
                    <a:solidFill>
                      <a:srgbClr val="E7F0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2830358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lang="en-US" sz="800">
                          <a:solidFill>
                            <a:srgbClr val="1F2933"/>
                          </a:solidFill>
                          <a:latin typeface="Aptos" panose="020B0004020202020204" pitchFamily="34" charset="0"/>
                        </a:rPr>
                        <a:t>Class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solidFill>
                            <a:srgbClr val="1F2933"/>
                          </a:solidFill>
                          <a:latin typeface="Aptos" panose="020B0004020202020204" pitchFamily="34" charset="0"/>
                        </a:rPr>
                        <a:t>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solidFill>
                            <a:srgbClr val="1F2933"/>
                          </a:solidFill>
                          <a:latin typeface="Aptos" panose="020B0004020202020204" pitchFamily="34" charset="0"/>
                        </a:rPr>
                        <a:t>219,799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solidFill>
                            <a:srgbClr val="1F2933"/>
                          </a:solidFill>
                          <a:latin typeface="Aptos" panose="020B0004020202020204" pitchFamily="34" charset="0"/>
                        </a:rPr>
                        <a:t>73.3%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solidFill>
                            <a:srgbClr val="1F2933"/>
                          </a:solidFill>
                          <a:latin typeface="Aptos" panose="020B0004020202020204" pitchFamily="34" charset="0"/>
                        </a:rPr>
                        <a:t>16.3%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6225194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lang="en-US" sz="800">
                          <a:solidFill>
                            <a:srgbClr val="1F2933"/>
                          </a:solidFill>
                          <a:latin typeface="Aptos" panose="020B0004020202020204" pitchFamily="34" charset="0"/>
                        </a:rPr>
                        <a:t>Class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solidFill>
                            <a:srgbClr val="1F2933"/>
                          </a:solidFill>
                          <a:latin typeface="Aptos" panose="020B0004020202020204" pitchFamily="34" charset="0"/>
                        </a:rPr>
                        <a:t>547,500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solidFill>
                            <a:srgbClr val="1F2933"/>
                          </a:solidFill>
                          <a:latin typeface="Aptos" panose="020B0004020202020204" pitchFamily="34" charset="0"/>
                        </a:rPr>
                        <a:t>234,783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solidFill>
                            <a:srgbClr val="1F2933"/>
                          </a:solidFill>
                          <a:latin typeface="Aptos" panose="020B0004020202020204" pitchFamily="34" charset="0"/>
                        </a:rPr>
                        <a:t>42.9%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solidFill>
                            <a:srgbClr val="1F2933"/>
                          </a:solidFill>
                          <a:latin typeface="Aptos" panose="020B0004020202020204" pitchFamily="34" charset="0"/>
                        </a:rPr>
                        <a:t>9.0%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9631753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lang="en-US" sz="800">
                          <a:solidFill>
                            <a:srgbClr val="1F2933"/>
                          </a:solidFill>
                          <a:latin typeface="Aptos" panose="020B0004020202020204" pitchFamily="34" charset="0"/>
                        </a:rPr>
                        <a:t>Sponsor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solidFill>
                            <a:srgbClr val="1F2933"/>
                          </a:solidFill>
                          <a:latin typeface="Aptos" panose="020B0004020202020204" pitchFamily="34" charset="0"/>
                        </a:rPr>
                        <a:t>136,283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solidFill>
                            <a:srgbClr val="1F2933"/>
                          </a:solidFill>
                          <a:latin typeface="Aptos" panose="020B0004020202020204" pitchFamily="34" charset="0"/>
                        </a:rPr>
                        <a:t>327,148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solidFill>
                            <a:srgbClr val="1F2933"/>
                          </a:solidFill>
                          <a:latin typeface="Aptos" panose="020B0004020202020204" pitchFamily="34" charset="0"/>
                        </a:rPr>
                        <a:t>240.1%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solidFill>
                            <a:srgbClr val="1F2933"/>
                          </a:solidFill>
                          <a:latin typeface="Aptos" panose="020B0004020202020204" pitchFamily="34" charset="0"/>
                        </a:rPr>
                        <a:t>58.5%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7164933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E4C140C2-0D7E-94DE-0E2D-F9E29F6E2E4D}"/>
              </a:ext>
            </a:extLst>
          </p:cNvPr>
          <p:cNvSpPr txBox="1"/>
          <p:nvPr/>
        </p:nvSpPr>
        <p:spPr>
          <a:xfrm>
            <a:off x="762000" y="3810000"/>
            <a:ext cx="7239000" cy="67710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n-US" sz="1100">
                <a:solidFill>
                  <a:srgbClr val="1F2933"/>
                </a:solidFill>
                <a:latin typeface="Aptos" panose="020B0004020202020204" pitchFamily="34" charset="0"/>
              </a:rPr>
              <a:t>- Sponsor residual share: 50%.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100">
                <a:solidFill>
                  <a:srgbClr val="1F2933"/>
                </a:solidFill>
                <a:latin typeface="Aptos" panose="020B0004020202020204" pitchFamily="34" charset="0"/>
              </a:rPr>
              <a:t>- Class A residual share: 18%; Class B residual share: 32%.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100">
                <a:solidFill>
                  <a:srgbClr val="1F2933"/>
                </a:solidFill>
                <a:latin typeface="Aptos" panose="020B0004020202020204" pitchFamily="34" charset="0"/>
              </a:rPr>
              <a:t>- Class A and Class B shares are proportional to their relative capital investment within the investor residual pool.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100">
                <a:solidFill>
                  <a:srgbClr val="1F2933"/>
                </a:solidFill>
                <a:latin typeface="Aptos" panose="020B0004020202020204" pitchFamily="34" charset="0"/>
              </a:rPr>
              <a:t>- Returns separate capital investment from sponsor property payment/basis.</a:t>
            </a:r>
          </a:p>
        </p:txBody>
      </p:sp>
    </p:spTree>
    <p:extLst>
      <p:ext uri="{BB962C8B-B14F-4D97-AF65-F5344CB8AC3E}">
        <p14:creationId xmlns:p14="http://schemas.microsoft.com/office/powerpoint/2010/main" val="32832408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907A010-8E87-9A91-7088-AA5CE7F238C4}"/>
              </a:ext>
            </a:extLst>
          </p:cNvPr>
          <p:cNvSpPr/>
          <p:nvPr/>
        </p:nvSpPr>
        <p:spPr>
          <a:xfrm>
            <a:off x="0" y="0"/>
            <a:ext cx="12192000" cy="533400"/>
          </a:xfrm>
          <a:prstGeom prst="rect">
            <a:avLst/>
          </a:prstGeom>
          <a:solidFill>
            <a:srgbClr val="1421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FC9BFE-1683-E509-40C3-1C7407D0FF03}"/>
              </a:ext>
            </a:extLst>
          </p:cNvPr>
          <p:cNvSpPr/>
          <p:nvPr/>
        </p:nvSpPr>
        <p:spPr>
          <a:xfrm>
            <a:off x="863600" y="1600200"/>
            <a:ext cx="3302000" cy="19685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7A40CA-0149-28AD-BC06-24ED4D6C19B9}"/>
              </a:ext>
            </a:extLst>
          </p:cNvPr>
          <p:cNvSpPr/>
          <p:nvPr/>
        </p:nvSpPr>
        <p:spPr>
          <a:xfrm>
            <a:off x="863600" y="1600200"/>
            <a:ext cx="76200" cy="1968500"/>
          </a:xfrm>
          <a:prstGeom prst="rect">
            <a:avLst/>
          </a:prstGeom>
          <a:solidFill>
            <a:srgbClr val="3F6B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B004EF-1EF1-9C71-8418-7D8004495675}"/>
              </a:ext>
            </a:extLst>
          </p:cNvPr>
          <p:cNvSpPr/>
          <p:nvPr/>
        </p:nvSpPr>
        <p:spPr>
          <a:xfrm>
            <a:off x="4445000" y="1600200"/>
            <a:ext cx="3302000" cy="19685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686A8C5-1671-58DC-8D39-0480B0A1A69D}"/>
              </a:ext>
            </a:extLst>
          </p:cNvPr>
          <p:cNvSpPr/>
          <p:nvPr/>
        </p:nvSpPr>
        <p:spPr>
          <a:xfrm>
            <a:off x="4445000" y="1600200"/>
            <a:ext cx="76200" cy="1968500"/>
          </a:xfrm>
          <a:prstGeom prst="rect">
            <a:avLst/>
          </a:prstGeom>
          <a:solidFill>
            <a:srgbClr val="3F6B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996A101-5C76-EE0C-8A2A-FF93E1E59682}"/>
              </a:ext>
            </a:extLst>
          </p:cNvPr>
          <p:cNvSpPr/>
          <p:nvPr/>
        </p:nvSpPr>
        <p:spPr>
          <a:xfrm>
            <a:off x="8026400" y="1600200"/>
            <a:ext cx="3302000" cy="19685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F4FF2BA-FBA4-BA37-F815-E379B0555652}"/>
              </a:ext>
            </a:extLst>
          </p:cNvPr>
          <p:cNvSpPr/>
          <p:nvPr/>
        </p:nvSpPr>
        <p:spPr>
          <a:xfrm>
            <a:off x="8026400" y="1600200"/>
            <a:ext cx="76200" cy="1968500"/>
          </a:xfrm>
          <a:prstGeom prst="rect">
            <a:avLst/>
          </a:prstGeom>
          <a:solidFill>
            <a:srgbClr val="3F6B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22643FE-EBFA-C7BD-A428-817322B32E98}"/>
              </a:ext>
            </a:extLst>
          </p:cNvPr>
          <p:cNvSpPr/>
          <p:nvPr/>
        </p:nvSpPr>
        <p:spPr>
          <a:xfrm>
            <a:off x="2667000" y="4013200"/>
            <a:ext cx="685800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1741BF1-F5A1-3689-3192-0348B0018C49}"/>
              </a:ext>
            </a:extLst>
          </p:cNvPr>
          <p:cNvSpPr/>
          <p:nvPr/>
        </p:nvSpPr>
        <p:spPr>
          <a:xfrm>
            <a:off x="2667000" y="4013200"/>
            <a:ext cx="76200" cy="1524000"/>
          </a:xfrm>
          <a:prstGeom prst="rect">
            <a:avLst/>
          </a:prstGeom>
          <a:solidFill>
            <a:srgbClr val="C88C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E2B8B5E-99D8-DDE4-C92B-0C36A33D7750}"/>
              </a:ext>
            </a:extLst>
          </p:cNvPr>
          <p:cNvSpPr txBox="1"/>
          <p:nvPr/>
        </p:nvSpPr>
        <p:spPr>
          <a:xfrm>
            <a:off x="482600" y="355600"/>
            <a:ext cx="4064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 b="1">
                <a:solidFill>
                  <a:srgbClr val="52616B"/>
                </a:solidFill>
                <a:latin typeface="Aptos" panose="020B0004020202020204" pitchFamily="34" charset="0"/>
              </a:rPr>
              <a:t>RISK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44FCC08-174F-BB75-400A-5CA8B1AD7F1E}"/>
              </a:ext>
            </a:extLst>
          </p:cNvPr>
          <p:cNvSpPr txBox="1"/>
          <p:nvPr/>
        </p:nvSpPr>
        <p:spPr>
          <a:xfrm>
            <a:off x="482600" y="635000"/>
            <a:ext cx="7747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800" b="1">
                <a:solidFill>
                  <a:srgbClr val="183B4A"/>
                </a:solidFill>
                <a:latin typeface="Aptos" panose="020B0004020202020204" pitchFamily="34" charset="0"/>
              </a:rPr>
              <a:t>Key Risks and Mitigants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EC5742B-6044-8A70-3AB8-05934F463FF2}"/>
              </a:ext>
            </a:extLst>
          </p:cNvPr>
          <p:cNvSpPr txBox="1"/>
          <p:nvPr/>
        </p:nvSpPr>
        <p:spPr>
          <a:xfrm>
            <a:off x="508000" y="1320800"/>
            <a:ext cx="7747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>
                <a:solidFill>
                  <a:srgbClr val="52616B"/>
                </a:solidFill>
                <a:latin typeface="Aptos" panose="020B0004020202020204" pitchFamily="34" charset="0"/>
              </a:rPr>
              <a:t>STR upside does not remove the core development and operating risks.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EB766CD-F458-75BB-37AE-8709320E52A3}"/>
              </a:ext>
            </a:extLst>
          </p:cNvPr>
          <p:cNvSpPr/>
          <p:nvPr/>
        </p:nvSpPr>
        <p:spPr>
          <a:xfrm>
            <a:off x="571500" y="1625600"/>
            <a:ext cx="3619500" cy="1168400"/>
          </a:xfrm>
          <a:prstGeom prst="rect">
            <a:avLst/>
          </a:prstGeom>
          <a:solidFill>
            <a:srgbClr val="FBFCFC"/>
          </a:solidFill>
          <a:ln>
            <a:solidFill>
              <a:srgbClr val="D9E1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FAF2CDA-A7CA-2951-EEE9-F5ACA51924D0}"/>
              </a:ext>
            </a:extLst>
          </p:cNvPr>
          <p:cNvSpPr txBox="1"/>
          <p:nvPr/>
        </p:nvSpPr>
        <p:spPr>
          <a:xfrm>
            <a:off x="723900" y="1752600"/>
            <a:ext cx="33147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300" b="1">
                <a:solidFill>
                  <a:srgbClr val="244C5A"/>
                </a:solidFill>
                <a:latin typeface="Aptos" panose="020B0004020202020204" pitchFamily="34" charset="0"/>
              </a:rPr>
              <a:t>Wastewater / Septic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471C320-58E1-62C0-949B-D214326F1C1E}"/>
              </a:ext>
            </a:extLst>
          </p:cNvPr>
          <p:cNvSpPr txBox="1"/>
          <p:nvPr/>
        </p:nvSpPr>
        <p:spPr>
          <a:xfrm>
            <a:off x="723900" y="2108200"/>
            <a:ext cx="33147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00">
                <a:solidFill>
                  <a:srgbClr val="1F2933"/>
                </a:solidFill>
                <a:latin typeface="Aptos" panose="020B0004020202020204" pitchFamily="34" charset="0"/>
              </a:rPr>
              <a:t>Risk: engineered system cost or density constraint. Mitigation: early soil, septic, wastewater engineering, and Wake County coordination.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C223BCA-E541-D086-0D5D-B38607AF1AB4}"/>
              </a:ext>
            </a:extLst>
          </p:cNvPr>
          <p:cNvSpPr/>
          <p:nvPr/>
        </p:nvSpPr>
        <p:spPr>
          <a:xfrm>
            <a:off x="4635500" y="1625600"/>
            <a:ext cx="3619500" cy="1168400"/>
          </a:xfrm>
          <a:prstGeom prst="rect">
            <a:avLst/>
          </a:prstGeom>
          <a:solidFill>
            <a:srgbClr val="FBFCFC"/>
          </a:solidFill>
          <a:ln>
            <a:solidFill>
              <a:srgbClr val="D9E1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EC5433C-A8F4-4A4A-4729-F0B348AAFA09}"/>
              </a:ext>
            </a:extLst>
          </p:cNvPr>
          <p:cNvSpPr txBox="1"/>
          <p:nvPr/>
        </p:nvSpPr>
        <p:spPr>
          <a:xfrm>
            <a:off x="4787900" y="1752600"/>
            <a:ext cx="33147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300" b="1">
                <a:solidFill>
                  <a:srgbClr val="244C5A"/>
                </a:solidFill>
                <a:latin typeface="Aptos" panose="020B0004020202020204" pitchFamily="34" charset="0"/>
              </a:rPr>
              <a:t>STR Regulation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043DBAA-7D10-2439-AE6A-FA1D50691DB4}"/>
              </a:ext>
            </a:extLst>
          </p:cNvPr>
          <p:cNvSpPr txBox="1"/>
          <p:nvPr/>
        </p:nvSpPr>
        <p:spPr>
          <a:xfrm>
            <a:off x="4787900" y="2108200"/>
            <a:ext cx="33147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00">
                <a:solidFill>
                  <a:srgbClr val="1F2933"/>
                </a:solidFill>
                <a:latin typeface="Aptos" panose="020B0004020202020204" pitchFamily="34" charset="0"/>
              </a:rPr>
              <a:t>Risk: weekly rental use may face jurisdictional limits or operating constraints. Mitigation: confirm treatment before relying on STR income.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AABC6EE-3D8F-2A66-9925-A9FFD510F178}"/>
              </a:ext>
            </a:extLst>
          </p:cNvPr>
          <p:cNvSpPr/>
          <p:nvPr/>
        </p:nvSpPr>
        <p:spPr>
          <a:xfrm>
            <a:off x="571500" y="3111500"/>
            <a:ext cx="3619500" cy="1168400"/>
          </a:xfrm>
          <a:prstGeom prst="rect">
            <a:avLst/>
          </a:prstGeom>
          <a:solidFill>
            <a:srgbClr val="FBFCFC"/>
          </a:solidFill>
          <a:ln>
            <a:solidFill>
              <a:srgbClr val="D9E1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331CF69-17B1-C8A0-4F1E-E1EF26EF6148}"/>
              </a:ext>
            </a:extLst>
          </p:cNvPr>
          <p:cNvSpPr txBox="1"/>
          <p:nvPr/>
        </p:nvSpPr>
        <p:spPr>
          <a:xfrm>
            <a:off x="723900" y="3238500"/>
            <a:ext cx="33147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300" b="1">
                <a:solidFill>
                  <a:srgbClr val="244C5A"/>
                </a:solidFill>
                <a:latin typeface="Aptos" panose="020B0004020202020204" pitchFamily="34" charset="0"/>
              </a:rPr>
              <a:t>Construction Cost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C92656D-D042-72A5-FDE8-656D4CECC4E4}"/>
              </a:ext>
            </a:extLst>
          </p:cNvPr>
          <p:cNvSpPr txBox="1"/>
          <p:nvPr/>
        </p:nvSpPr>
        <p:spPr>
          <a:xfrm>
            <a:off x="723900" y="3594100"/>
            <a:ext cx="33147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00">
                <a:solidFill>
                  <a:srgbClr val="1F2933"/>
                </a:solidFill>
                <a:latin typeface="Aptos" panose="020B0004020202020204" pitchFamily="34" charset="0"/>
              </a:rPr>
              <a:t>Risk: budget creep above sponsor-controlled range. Mitigation: post-frame system, owner equipment/crew, scope discipline, and contingency.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804AB20-7A4F-54CF-412A-D204797FD0FC}"/>
              </a:ext>
            </a:extLst>
          </p:cNvPr>
          <p:cNvSpPr/>
          <p:nvPr/>
        </p:nvSpPr>
        <p:spPr>
          <a:xfrm>
            <a:off x="4635500" y="3111500"/>
            <a:ext cx="3619500" cy="1168400"/>
          </a:xfrm>
          <a:prstGeom prst="rect">
            <a:avLst/>
          </a:prstGeom>
          <a:solidFill>
            <a:srgbClr val="FBFCFC"/>
          </a:solidFill>
          <a:ln>
            <a:solidFill>
              <a:srgbClr val="D9E1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F03DFD3-B9C1-8DC3-37C1-F5FB6C55DC53}"/>
              </a:ext>
            </a:extLst>
          </p:cNvPr>
          <p:cNvSpPr txBox="1"/>
          <p:nvPr/>
        </p:nvSpPr>
        <p:spPr>
          <a:xfrm>
            <a:off x="4787900" y="3238500"/>
            <a:ext cx="33147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300" b="1">
                <a:solidFill>
                  <a:srgbClr val="244C5A"/>
                </a:solidFill>
                <a:latin typeface="Aptos" panose="020B0004020202020204" pitchFamily="34" charset="0"/>
              </a:rPr>
              <a:t>Lease-Up / Operations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E098070-6359-1B8D-C5C5-AE478DDB9F19}"/>
              </a:ext>
            </a:extLst>
          </p:cNvPr>
          <p:cNvSpPr txBox="1"/>
          <p:nvPr/>
        </p:nvSpPr>
        <p:spPr>
          <a:xfrm>
            <a:off x="4787900" y="3594100"/>
            <a:ext cx="33147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00">
                <a:solidFill>
                  <a:srgbClr val="1F2933"/>
                </a:solidFill>
                <a:latin typeface="Aptos" panose="020B0004020202020204" pitchFamily="34" charset="0"/>
              </a:rPr>
              <a:t>Risk: occupancy and pricing vary by strategy. Mitigation: preserve base co-living use and test STR as operating upside.</a:t>
            </a:r>
          </a:p>
        </p:txBody>
      </p:sp>
    </p:spTree>
    <p:extLst>
      <p:ext uri="{BB962C8B-B14F-4D97-AF65-F5344CB8AC3E}">
        <p14:creationId xmlns:p14="http://schemas.microsoft.com/office/powerpoint/2010/main" val="3741506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F6B8CC1-F767-165C-DAB9-DA9555AC59AF}"/>
              </a:ext>
            </a:extLst>
          </p:cNvPr>
          <p:cNvSpPr/>
          <p:nvPr/>
        </p:nvSpPr>
        <p:spPr>
          <a:xfrm>
            <a:off x="0" y="0"/>
            <a:ext cx="12192000" cy="533400"/>
          </a:xfrm>
          <a:prstGeom prst="rect">
            <a:avLst/>
          </a:prstGeom>
          <a:solidFill>
            <a:srgbClr val="1421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8A47B4A-1C0F-735C-BC31-C23D3FF3F392}"/>
              </a:ext>
            </a:extLst>
          </p:cNvPr>
          <p:cNvSpPr/>
          <p:nvPr/>
        </p:nvSpPr>
        <p:spPr>
          <a:xfrm>
            <a:off x="812800" y="1651000"/>
            <a:ext cx="24130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9B7ACB-8654-148B-DE77-C2FA1613B26D}"/>
              </a:ext>
            </a:extLst>
          </p:cNvPr>
          <p:cNvSpPr/>
          <p:nvPr/>
        </p:nvSpPr>
        <p:spPr>
          <a:xfrm>
            <a:off x="812800" y="1651000"/>
            <a:ext cx="76200" cy="2667000"/>
          </a:xfrm>
          <a:prstGeom prst="rect">
            <a:avLst/>
          </a:prstGeom>
          <a:solidFill>
            <a:srgbClr val="3F6B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A8B382D-153B-075B-23BE-7C4791238BA2}"/>
              </a:ext>
            </a:extLst>
          </p:cNvPr>
          <p:cNvSpPr/>
          <p:nvPr/>
        </p:nvSpPr>
        <p:spPr>
          <a:xfrm>
            <a:off x="3530600" y="1651000"/>
            <a:ext cx="24130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2ABF3D1-9E21-1F0E-E8B6-EB94F3FD98F4}"/>
              </a:ext>
            </a:extLst>
          </p:cNvPr>
          <p:cNvSpPr/>
          <p:nvPr/>
        </p:nvSpPr>
        <p:spPr>
          <a:xfrm>
            <a:off x="3530600" y="1651000"/>
            <a:ext cx="76200" cy="2667000"/>
          </a:xfrm>
          <a:prstGeom prst="rect">
            <a:avLst/>
          </a:prstGeom>
          <a:solidFill>
            <a:srgbClr val="3F6B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8BF06C4-4689-DCD8-2423-2370A973660D}"/>
              </a:ext>
            </a:extLst>
          </p:cNvPr>
          <p:cNvSpPr/>
          <p:nvPr/>
        </p:nvSpPr>
        <p:spPr>
          <a:xfrm>
            <a:off x="6248400" y="1651000"/>
            <a:ext cx="24130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DBE6E62-ECFE-5D6E-7ECF-FF048CE94FF1}"/>
              </a:ext>
            </a:extLst>
          </p:cNvPr>
          <p:cNvSpPr/>
          <p:nvPr/>
        </p:nvSpPr>
        <p:spPr>
          <a:xfrm>
            <a:off x="6248400" y="1651000"/>
            <a:ext cx="76200" cy="2667000"/>
          </a:xfrm>
          <a:prstGeom prst="rect">
            <a:avLst/>
          </a:prstGeom>
          <a:solidFill>
            <a:srgbClr val="3F6B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342D96E-B4DF-18F6-016E-4FDAAAEA4FC3}"/>
              </a:ext>
            </a:extLst>
          </p:cNvPr>
          <p:cNvSpPr/>
          <p:nvPr/>
        </p:nvSpPr>
        <p:spPr>
          <a:xfrm>
            <a:off x="8966200" y="1651000"/>
            <a:ext cx="24130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D66DCF6-FFBA-38D3-C93F-9472BF4B55A9}"/>
              </a:ext>
            </a:extLst>
          </p:cNvPr>
          <p:cNvSpPr/>
          <p:nvPr/>
        </p:nvSpPr>
        <p:spPr>
          <a:xfrm>
            <a:off x="8966200" y="1651000"/>
            <a:ext cx="76200" cy="2667000"/>
          </a:xfrm>
          <a:prstGeom prst="rect">
            <a:avLst/>
          </a:prstGeom>
          <a:solidFill>
            <a:srgbClr val="3F6B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C9113A0-074A-4FA0-FA39-170B35E2F910}"/>
              </a:ext>
            </a:extLst>
          </p:cNvPr>
          <p:cNvSpPr txBox="1"/>
          <p:nvPr/>
        </p:nvSpPr>
        <p:spPr>
          <a:xfrm>
            <a:off x="482600" y="355600"/>
            <a:ext cx="4064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 b="1">
                <a:solidFill>
                  <a:srgbClr val="52616B"/>
                </a:solidFill>
                <a:latin typeface="Aptos" panose="020B0004020202020204" pitchFamily="34" charset="0"/>
              </a:rPr>
              <a:t>TIMELINE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1D0FBFE-C3EB-26D2-823A-80D9FBCC50D9}"/>
              </a:ext>
            </a:extLst>
          </p:cNvPr>
          <p:cNvSpPr txBox="1"/>
          <p:nvPr/>
        </p:nvSpPr>
        <p:spPr>
          <a:xfrm>
            <a:off x="482600" y="635000"/>
            <a:ext cx="7747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800" b="1">
                <a:solidFill>
                  <a:srgbClr val="183B4A"/>
                </a:solidFill>
                <a:latin typeface="Aptos" panose="020B0004020202020204" pitchFamily="34" charset="0"/>
              </a:rPr>
              <a:t>Execution Path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39D8823-A0D6-304B-912D-F907034FD27E}"/>
              </a:ext>
            </a:extLst>
          </p:cNvPr>
          <p:cNvSpPr txBox="1"/>
          <p:nvPr/>
        </p:nvSpPr>
        <p:spPr>
          <a:xfrm>
            <a:off x="508000" y="1320800"/>
            <a:ext cx="7747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>
                <a:solidFill>
                  <a:srgbClr val="52616B"/>
                </a:solidFill>
                <a:latin typeface="Aptos" panose="020B0004020202020204" pitchFamily="34" charset="0"/>
              </a:rPr>
              <a:t>Base delivery path remains unchanged; STR validation is layered into operations and marketing.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79BA650-AEBF-57A7-A741-7C5AB63815C6}"/>
              </a:ext>
            </a:extLst>
          </p:cNvPr>
          <p:cNvSpPr txBox="1"/>
          <p:nvPr/>
        </p:nvSpPr>
        <p:spPr>
          <a:xfrm>
            <a:off x="698500" y="1714500"/>
            <a:ext cx="7556500" cy="110799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n-US" sz="1200">
                <a:solidFill>
                  <a:srgbClr val="1F2933"/>
                </a:solidFill>
                <a:latin typeface="Aptos" panose="020B0004020202020204" pitchFamily="34" charset="0"/>
              </a:rPr>
              <a:t>- Entitlement + Engineering: confirm zoning, occupancy treatment, parking, soil/septic/wastewater feasibility, and private utility path.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>
                <a:solidFill>
                  <a:srgbClr val="1F2933"/>
                </a:solidFill>
                <a:latin typeface="Aptos" panose="020B0004020202020204" pitchFamily="34" charset="0"/>
              </a:rPr>
              <a:t>- Capital Formation: finalize Class A, Class B, trust/member documents, and sponsor contribution assumptions.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>
                <a:solidFill>
                  <a:srgbClr val="1F2933"/>
                </a:solidFill>
                <a:latin typeface="Aptos" panose="020B0004020202020204" pitchFamily="34" charset="0"/>
              </a:rPr>
              <a:t>- Design + Permit: advance architecture, civil, wastewater, and construction pricing to permit-ready package.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>
                <a:solidFill>
                  <a:srgbClr val="1F2933"/>
                </a:solidFill>
                <a:latin typeface="Aptos" panose="020B0004020202020204" pitchFamily="34" charset="0"/>
              </a:rPr>
              <a:t>- Build + Stabilize: deliver post-frame building, lease suites, test STR demand, refinance, and execute waterfall.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810FE30-4675-FCEF-24C2-90042555B568}"/>
              </a:ext>
            </a:extLst>
          </p:cNvPr>
          <p:cNvSpPr txBox="1"/>
          <p:nvPr/>
        </p:nvSpPr>
        <p:spPr>
          <a:xfrm>
            <a:off x="711200" y="4127500"/>
            <a:ext cx="7112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300" b="1">
                <a:solidFill>
                  <a:srgbClr val="244C5A"/>
                </a:solidFill>
                <a:latin typeface="Aptos" panose="020B0004020202020204" pitchFamily="34" charset="0"/>
              </a:rPr>
              <a:t>Current model: refinance year 3; exit year 5.</a:t>
            </a:r>
          </a:p>
        </p:txBody>
      </p:sp>
    </p:spTree>
    <p:extLst>
      <p:ext uri="{BB962C8B-B14F-4D97-AF65-F5344CB8AC3E}">
        <p14:creationId xmlns:p14="http://schemas.microsoft.com/office/powerpoint/2010/main" val="37162451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9B15984-7933-4019-2FFC-7F87A74276E0}"/>
              </a:ext>
            </a:extLst>
          </p:cNvPr>
          <p:cNvSpPr/>
          <p:nvPr/>
        </p:nvSpPr>
        <p:spPr>
          <a:xfrm>
            <a:off x="0" y="0"/>
            <a:ext cx="12192000" cy="533400"/>
          </a:xfrm>
          <a:prstGeom prst="rect">
            <a:avLst/>
          </a:prstGeom>
          <a:solidFill>
            <a:srgbClr val="1421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539C34-C87C-D29C-1E8D-0237D456D3AD}"/>
              </a:ext>
            </a:extLst>
          </p:cNvPr>
          <p:cNvSpPr txBox="1"/>
          <p:nvPr/>
        </p:nvSpPr>
        <p:spPr>
          <a:xfrm>
            <a:off x="482600" y="355600"/>
            <a:ext cx="4064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 b="1">
                <a:solidFill>
                  <a:srgbClr val="52616B"/>
                </a:solidFill>
                <a:latin typeface="Aptos" panose="020B0004020202020204" pitchFamily="34" charset="0"/>
              </a:rPr>
              <a:t>STR OPTIONS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0AF695-98C9-DCC4-6E4B-54B9EF541DDB}"/>
              </a:ext>
            </a:extLst>
          </p:cNvPr>
          <p:cNvSpPr txBox="1"/>
          <p:nvPr/>
        </p:nvSpPr>
        <p:spPr>
          <a:xfrm>
            <a:off x="482600" y="635000"/>
            <a:ext cx="7747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800" b="1">
                <a:solidFill>
                  <a:srgbClr val="183B4A"/>
                </a:solidFill>
                <a:latin typeface="Aptos" panose="020B0004020202020204" pitchFamily="34" charset="0"/>
              </a:rPr>
              <a:t>Rent Option Comparison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562FFC-80F6-2C1F-E5E6-D2A6A89BF47F}"/>
              </a:ext>
            </a:extLst>
          </p:cNvPr>
          <p:cNvSpPr txBox="1"/>
          <p:nvPr/>
        </p:nvSpPr>
        <p:spPr>
          <a:xfrm>
            <a:off x="508000" y="1320800"/>
            <a:ext cx="7747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>
                <a:solidFill>
                  <a:srgbClr val="52616B"/>
                </a:solidFill>
                <a:latin typeface="Aptos" panose="020B0004020202020204" pitchFamily="34" charset="0"/>
              </a:rPr>
              <a:t>STR scenarios are positioned behind the base case as upside comparisons, not the starting underwriting case.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B9142E9-68EB-3E4E-E166-BE69F6401B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7364551"/>
              </p:ext>
            </p:extLst>
          </p:nvPr>
        </p:nvGraphicFramePr>
        <p:xfrm>
          <a:off x="698500" y="1803400"/>
          <a:ext cx="7493000" cy="172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3250">
                  <a:extLst>
                    <a:ext uri="{9D8B030D-6E8A-4147-A177-3AD203B41FA5}">
                      <a16:colId xmlns:a16="http://schemas.microsoft.com/office/drawing/2014/main" val="2604358088"/>
                    </a:ext>
                  </a:extLst>
                </a:gridCol>
                <a:gridCol w="1873250">
                  <a:extLst>
                    <a:ext uri="{9D8B030D-6E8A-4147-A177-3AD203B41FA5}">
                      <a16:colId xmlns:a16="http://schemas.microsoft.com/office/drawing/2014/main" val="3257210096"/>
                    </a:ext>
                  </a:extLst>
                </a:gridCol>
                <a:gridCol w="1873250">
                  <a:extLst>
                    <a:ext uri="{9D8B030D-6E8A-4147-A177-3AD203B41FA5}">
                      <a16:colId xmlns:a16="http://schemas.microsoft.com/office/drawing/2014/main" val="3588569217"/>
                    </a:ext>
                  </a:extLst>
                </a:gridCol>
                <a:gridCol w="1873250">
                  <a:extLst>
                    <a:ext uri="{9D8B030D-6E8A-4147-A177-3AD203B41FA5}">
                      <a16:colId xmlns:a16="http://schemas.microsoft.com/office/drawing/2014/main" val="3316232867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r>
                        <a:rPr lang="en-US" sz="900" b="1">
                          <a:solidFill>
                            <a:srgbClr val="183B4A"/>
                          </a:solidFill>
                          <a:latin typeface="Aptos" panose="020B0004020202020204" pitchFamily="34" charset="0"/>
                        </a:rPr>
                        <a:t>Scenario</a:t>
                      </a:r>
                    </a:p>
                  </a:txBody>
                  <a:tcPr>
                    <a:solidFill>
                      <a:srgbClr val="E7F0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>
                          <a:solidFill>
                            <a:srgbClr val="183B4A"/>
                          </a:solidFill>
                          <a:latin typeface="Aptos" panose="020B0004020202020204" pitchFamily="34" charset="0"/>
                        </a:rPr>
                        <a:t>Year 1 Gross</a:t>
                      </a:r>
                    </a:p>
                  </a:txBody>
                  <a:tcPr>
                    <a:solidFill>
                      <a:srgbClr val="E7F0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>
                          <a:solidFill>
                            <a:srgbClr val="183B4A"/>
                          </a:solidFill>
                          <a:latin typeface="Aptos" panose="020B0004020202020204" pitchFamily="34" charset="0"/>
                        </a:rPr>
                        <a:t>Stabilized Gross</a:t>
                      </a:r>
                    </a:p>
                  </a:txBody>
                  <a:tcPr>
                    <a:solidFill>
                      <a:srgbClr val="E7F0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>
                          <a:solidFill>
                            <a:srgbClr val="183B4A"/>
                          </a:solidFill>
                          <a:latin typeface="Aptos" panose="020B0004020202020204" pitchFamily="34" charset="0"/>
                        </a:rPr>
                        <a:t>Use in Model</a:t>
                      </a:r>
                    </a:p>
                  </a:txBody>
                  <a:tcPr>
                    <a:solidFill>
                      <a:srgbClr val="E7F0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6180501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r>
                        <a:rPr lang="en-US" sz="800">
                          <a:solidFill>
                            <a:srgbClr val="1F2933"/>
                          </a:solidFill>
                          <a:latin typeface="Aptos" panose="020B0004020202020204" pitchFamily="34" charset="0"/>
                        </a:rPr>
                        <a:t>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solidFill>
                            <a:srgbClr val="1F2933"/>
                          </a:solidFill>
                          <a:latin typeface="Aptos" panose="020B0004020202020204" pitchFamily="34" charset="0"/>
                        </a:rPr>
                        <a:t>105,600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solidFill>
                            <a:srgbClr val="1F2933"/>
                          </a:solidFill>
                          <a:latin typeface="Aptos" panose="020B0004020202020204" pitchFamily="34" charset="0"/>
                        </a:rPr>
                        <a:t>144,000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solidFill>
                            <a:srgbClr val="1F2933"/>
                          </a:solidFill>
                          <a:latin typeface="Aptos" panose="020B0004020202020204" pitchFamily="34" charset="0"/>
                        </a:rPr>
                        <a:t>Control case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6767127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r>
                        <a:rPr lang="en-US" sz="800">
                          <a:solidFill>
                            <a:srgbClr val="1F2933"/>
                          </a:solidFill>
                          <a:latin typeface="Aptos" panose="020B0004020202020204" pitchFamily="34" charset="0"/>
                        </a:rPr>
                        <a:t>One-floor STR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solidFill>
                            <a:srgbClr val="1F2933"/>
                          </a:solidFill>
                          <a:latin typeface="Aptos" panose="020B0004020202020204" pitchFamily="34" charset="0"/>
                        </a:rPr>
                        <a:t>95,440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solidFill>
                            <a:srgbClr val="1F2933"/>
                          </a:solidFill>
                          <a:latin typeface="Aptos" panose="020B0004020202020204" pitchFamily="34" charset="0"/>
                        </a:rPr>
                        <a:t>173,400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solidFill>
                            <a:srgbClr val="1F2933"/>
                          </a:solidFill>
                          <a:latin typeface="Aptos" panose="020B0004020202020204" pitchFamily="34" charset="0"/>
                        </a:rPr>
                        <a:t>Upside test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979825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r>
                        <a:rPr lang="en-US" sz="800">
                          <a:solidFill>
                            <a:srgbClr val="1F2933"/>
                          </a:solidFill>
                          <a:latin typeface="Aptos" panose="020B0004020202020204" pitchFamily="34" charset="0"/>
                        </a:rPr>
                        <a:t>Whole-building STR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solidFill>
                            <a:srgbClr val="1F2933"/>
                          </a:solidFill>
                          <a:latin typeface="Aptos" panose="020B0004020202020204" pitchFamily="34" charset="0"/>
                        </a:rPr>
                        <a:t>70,798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solidFill>
                            <a:srgbClr val="1F2933"/>
                          </a:solidFill>
                          <a:latin typeface="Aptos" panose="020B0004020202020204" pitchFamily="34" charset="0"/>
                        </a:rPr>
                        <a:t>183,040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solidFill>
                            <a:srgbClr val="1F2933"/>
                          </a:solidFill>
                          <a:latin typeface="Aptos" panose="020B0004020202020204" pitchFamily="34" charset="0"/>
                        </a:rPr>
                        <a:t>Highest upside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1043621"/>
                  </a:ext>
                </a:extLst>
              </a:tr>
            </a:tbl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8CAFDECB-5F1F-5183-4B09-F804C40E8236}"/>
              </a:ext>
            </a:extLst>
          </p:cNvPr>
          <p:cNvSpPr/>
          <p:nvPr/>
        </p:nvSpPr>
        <p:spPr>
          <a:xfrm>
            <a:off x="736600" y="3810000"/>
            <a:ext cx="7429500" cy="1168400"/>
          </a:xfrm>
          <a:prstGeom prst="rect">
            <a:avLst/>
          </a:prstGeom>
          <a:solidFill>
            <a:srgbClr val="FBFCFC"/>
          </a:solidFill>
          <a:ln>
            <a:solidFill>
              <a:srgbClr val="D9E1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6438FF-50A4-230C-54D5-8E9CF3A46FF9}"/>
              </a:ext>
            </a:extLst>
          </p:cNvPr>
          <p:cNvSpPr txBox="1"/>
          <p:nvPr/>
        </p:nvSpPr>
        <p:spPr>
          <a:xfrm>
            <a:off x="889000" y="3937000"/>
            <a:ext cx="71247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300" b="1">
                <a:solidFill>
                  <a:srgbClr val="244C5A"/>
                </a:solidFill>
                <a:latin typeface="Aptos" panose="020B0004020202020204" pitchFamily="34" charset="0"/>
              </a:rPr>
              <a:t>Interpretation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8B04D8C-0346-7C7F-351D-DF073CA85728}"/>
              </a:ext>
            </a:extLst>
          </p:cNvPr>
          <p:cNvSpPr txBox="1"/>
          <p:nvPr/>
        </p:nvSpPr>
        <p:spPr>
          <a:xfrm>
            <a:off x="889000" y="4292600"/>
            <a:ext cx="71247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00">
                <a:solidFill>
                  <a:srgbClr val="1F2933"/>
                </a:solidFill>
                <a:latin typeface="Aptos" panose="020B0004020202020204" pitchFamily="34" charset="0"/>
              </a:rPr>
              <a:t>Base Co-Living / Medium-Term is the control case. One Floor STR + Co-Living is the preferred operational test. Whole Building STR is the highest-upside case but requires booking validation and stronger operating discipline.</a:t>
            </a:r>
          </a:p>
        </p:txBody>
      </p:sp>
    </p:spTree>
    <p:extLst>
      <p:ext uri="{BB962C8B-B14F-4D97-AF65-F5344CB8AC3E}">
        <p14:creationId xmlns:p14="http://schemas.microsoft.com/office/powerpoint/2010/main" val="22570845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9B15984-7933-4019-2FFC-7F87A74276E0}"/>
              </a:ext>
            </a:extLst>
          </p:cNvPr>
          <p:cNvSpPr/>
          <p:nvPr/>
        </p:nvSpPr>
        <p:spPr>
          <a:xfrm>
            <a:off x="0" y="0"/>
            <a:ext cx="12192000" cy="533400"/>
          </a:xfrm>
          <a:prstGeom prst="rect">
            <a:avLst/>
          </a:prstGeom>
          <a:solidFill>
            <a:srgbClr val="1421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41D77C-FBE0-F8F7-980C-416C36806098}"/>
              </a:ext>
            </a:extLst>
          </p:cNvPr>
          <p:cNvSpPr txBox="1"/>
          <p:nvPr/>
        </p:nvSpPr>
        <p:spPr>
          <a:xfrm>
            <a:off x="482600" y="355600"/>
            <a:ext cx="4064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 b="1">
                <a:solidFill>
                  <a:srgbClr val="52616B"/>
                </a:solidFill>
                <a:latin typeface="Aptos" panose="020B0004020202020204" pitchFamily="34" charset="0"/>
              </a:rPr>
              <a:t>STR OPTIONS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86EA92-E339-4C68-9EE6-6227D79BAB76}"/>
              </a:ext>
            </a:extLst>
          </p:cNvPr>
          <p:cNvSpPr txBox="1"/>
          <p:nvPr/>
        </p:nvSpPr>
        <p:spPr>
          <a:xfrm>
            <a:off x="482600" y="635000"/>
            <a:ext cx="7747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800" b="1">
                <a:solidFill>
                  <a:srgbClr val="183B4A"/>
                </a:solidFill>
                <a:latin typeface="Aptos" panose="020B0004020202020204" pitchFamily="34" charset="0"/>
              </a:rPr>
              <a:t>Participant Return Comparison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441156-240D-C49F-515D-3BB7B1B3F8EC}"/>
              </a:ext>
            </a:extLst>
          </p:cNvPr>
          <p:cNvSpPr txBox="1"/>
          <p:nvPr/>
        </p:nvSpPr>
        <p:spPr>
          <a:xfrm>
            <a:off x="508000" y="1320800"/>
            <a:ext cx="7747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>
                <a:solidFill>
                  <a:srgbClr val="52616B"/>
                </a:solidFill>
                <a:latin typeface="Aptos" panose="020B0004020202020204" pitchFamily="34" charset="0"/>
              </a:rPr>
              <a:t>The STR workbook compares total profit, ROI, and IRR by participant across the rent options.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3E18FBA-19D1-1CBC-19B0-FB84345C46B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498600"/>
            <a:ext cx="7620000" cy="3302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154D4AC-2118-2223-AA2F-76213631A4D1}"/>
              </a:ext>
            </a:extLst>
          </p:cNvPr>
          <p:cNvSpPr txBox="1"/>
          <p:nvPr/>
        </p:nvSpPr>
        <p:spPr>
          <a:xfrm>
            <a:off x="698500" y="4927600"/>
            <a:ext cx="74295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>
                <a:solidFill>
                  <a:srgbClr val="52616B"/>
                </a:solidFill>
                <a:latin typeface="Aptos" panose="020B0004020202020204" pitchFamily="34" charset="0"/>
              </a:rPr>
              <a:t>Chart reflects the current STR workbook comparison table. Base case is retained for comparison against one-floor and full-building STR upside.</a:t>
            </a:r>
          </a:p>
        </p:txBody>
      </p:sp>
    </p:spTree>
    <p:extLst>
      <p:ext uri="{BB962C8B-B14F-4D97-AF65-F5344CB8AC3E}">
        <p14:creationId xmlns:p14="http://schemas.microsoft.com/office/powerpoint/2010/main" val="10343831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9B15984-7933-4019-2FFC-7F87A74276E0}"/>
              </a:ext>
            </a:extLst>
          </p:cNvPr>
          <p:cNvSpPr/>
          <p:nvPr/>
        </p:nvSpPr>
        <p:spPr>
          <a:xfrm>
            <a:off x="0" y="0"/>
            <a:ext cx="12192000" cy="533400"/>
          </a:xfrm>
          <a:prstGeom prst="rect">
            <a:avLst/>
          </a:prstGeom>
          <a:solidFill>
            <a:srgbClr val="1421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C5FDA8-E4E2-9784-37FB-C337A81E6C1D}"/>
              </a:ext>
            </a:extLst>
          </p:cNvPr>
          <p:cNvSpPr txBox="1"/>
          <p:nvPr/>
        </p:nvSpPr>
        <p:spPr>
          <a:xfrm>
            <a:off x="482600" y="355600"/>
            <a:ext cx="4064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 b="1">
                <a:solidFill>
                  <a:srgbClr val="52616B"/>
                </a:solidFill>
                <a:latin typeface="Aptos" panose="020B0004020202020204" pitchFamily="34" charset="0"/>
              </a:rPr>
              <a:t>DISCUSSION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2F00B2-785D-E81C-7676-2ECE3D7AACB2}"/>
              </a:ext>
            </a:extLst>
          </p:cNvPr>
          <p:cNvSpPr txBox="1"/>
          <p:nvPr/>
        </p:nvSpPr>
        <p:spPr>
          <a:xfrm>
            <a:off x="482600" y="635000"/>
            <a:ext cx="7747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800" b="1">
                <a:solidFill>
                  <a:srgbClr val="183B4A"/>
                </a:solidFill>
                <a:latin typeface="Aptos" panose="020B0004020202020204" pitchFamily="34" charset="0"/>
              </a:rPr>
              <a:t>Next Steps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29FF30-E5C4-8520-3857-5C9CA6696FCE}"/>
              </a:ext>
            </a:extLst>
          </p:cNvPr>
          <p:cNvSpPr txBox="1"/>
          <p:nvPr/>
        </p:nvSpPr>
        <p:spPr>
          <a:xfrm>
            <a:off x="508000" y="1320800"/>
            <a:ext cx="7747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>
                <a:solidFill>
                  <a:srgbClr val="52616B"/>
                </a:solidFill>
                <a:latin typeface="Aptos" panose="020B0004020202020204" pitchFamily="34" charset="0"/>
              </a:rPr>
              <a:t>Use STR as a tested option, not an unverified requirement.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2B5858-01AB-E91C-ED58-86B61B040525}"/>
              </a:ext>
            </a:extLst>
          </p:cNvPr>
          <p:cNvSpPr txBox="1"/>
          <p:nvPr/>
        </p:nvSpPr>
        <p:spPr>
          <a:xfrm>
            <a:off x="698500" y="1714500"/>
            <a:ext cx="7429500" cy="92333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n-US" sz="1200">
                <a:solidFill>
                  <a:srgbClr val="1F2933"/>
                </a:solidFill>
                <a:latin typeface="Aptos" panose="020B0004020202020204" pitchFamily="34" charset="0"/>
              </a:rPr>
              <a:t>- Keep base co-living / medium-term rental as the control underwriting case.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>
                <a:solidFill>
                  <a:srgbClr val="1F2933"/>
                </a:solidFill>
                <a:latin typeface="Aptos" panose="020B0004020202020204" pitchFamily="34" charset="0"/>
              </a:rPr>
              <a:t>- Validate one-floor STR with live comp set and regulatory review before adopting as a primary strategy.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>
                <a:solidFill>
                  <a:srgbClr val="1F2933"/>
                </a:solidFill>
                <a:latin typeface="Aptos" panose="020B0004020202020204" pitchFamily="34" charset="0"/>
              </a:rPr>
              <a:t>- Confirm wastewater engineering path and reserve field requirements.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>
                <a:solidFill>
                  <a:srgbClr val="1F2933"/>
                </a:solidFill>
                <a:latin typeface="Aptos" panose="020B0004020202020204" pitchFamily="34" charset="0"/>
              </a:rPr>
              <a:t>- Refine schematic floor plan with dimensions, code/accessibility review, and stacked plumbing strategy.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>
                <a:solidFill>
                  <a:srgbClr val="1F2933"/>
                </a:solidFill>
                <a:latin typeface="Aptos" panose="020B0004020202020204" pitchFamily="34" charset="0"/>
              </a:rPr>
              <a:t>- Update investor package as workbook assumptions change.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04AAD9-96C0-4C61-66F1-C59ED6097A6E}"/>
              </a:ext>
            </a:extLst>
          </p:cNvPr>
          <p:cNvSpPr txBox="1"/>
          <p:nvPr/>
        </p:nvSpPr>
        <p:spPr>
          <a:xfrm>
            <a:off x="711200" y="4508500"/>
            <a:ext cx="7493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 b="1">
                <a:solidFill>
                  <a:srgbClr val="52616B"/>
                </a:solidFill>
                <a:latin typeface="Aptos" panose="020B0004020202020204" pitchFamily="34" charset="0"/>
              </a:rPr>
              <a:t>Planning model only. Not tax, legal, securities, lending, engineering, or investment advice.</a:t>
            </a:r>
          </a:p>
        </p:txBody>
      </p:sp>
    </p:spTree>
    <p:extLst>
      <p:ext uri="{BB962C8B-B14F-4D97-AF65-F5344CB8AC3E}">
        <p14:creationId xmlns:p14="http://schemas.microsoft.com/office/powerpoint/2010/main" val="13865960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1242</Words>
  <Application>Microsoft Office PowerPoint</Application>
  <PresentationFormat>Widescreen</PresentationFormat>
  <Paragraphs>186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Wes Will Buy Your Home</dc:creator>
  <cp:lastModifiedBy>Wes Will Buy Your Home</cp:lastModifiedBy>
  <cp:revision>2</cp:revision>
  <dcterms:created xsi:type="dcterms:W3CDTF">2026-05-16T02:45:59Z</dcterms:created>
  <dcterms:modified xsi:type="dcterms:W3CDTF">2026-05-18T08:18:17Z</dcterms:modified>
</cp:coreProperties>
</file>