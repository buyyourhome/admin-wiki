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5CE6-259B-E628-F053-F07CC9788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729550-45E2-4958-0391-240F35114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E9EB9-9615-1A08-E8D5-D0729FCA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E89B2-3B95-6315-CA89-6752D2526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73255-6151-FED8-8B1F-6983978F9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298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FFD3F-E2E3-5AD3-C4C5-D2120778D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88CA5-3276-FDBC-60DE-EA7DBAA91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DA130-049C-D15F-506D-4AF0CAF8C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AE94C-3A69-3F67-5361-8E6661A3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942EB-5FA4-F2C0-FA2E-5FC1C8C91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50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1C6B-274B-23BE-3BA2-6E02D8846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AD618-0AFC-43A0-F8A5-0E7F0D57D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F1859-E64E-92C0-52BF-FAB534F19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DBA99-194C-556F-4C28-0F54A7C6B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2636D-B17C-2C60-E5BB-4358185FD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29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C73A5-5D4D-0BB0-0065-FB7895516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A880C-214D-11BF-0BE2-EA1D7EDE53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CEBEE-37F8-6BC1-0D2E-D8F8B912D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9D5F0-1E6A-59E7-7E59-B83A3F6F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6219C-07DF-51C4-4F65-F00B8C2FF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DA2F9-B61B-74E4-768D-C10B42868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6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90CD-09AD-3C1C-5D39-AD13DA3B0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2FBA3-6DEA-8A7A-7AC1-A3A1DB17C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1556E-7D7E-3C1E-0BC1-F84022C2C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998F7-984E-FF6B-8CE3-CEC8F1A3EB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D6A3E6-9999-E49A-EBC1-FD46A087EF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81245-2AC6-82DB-08AF-157A778BE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63A010-1913-AA1F-9AF0-B2C067AE2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CEF697-BB3A-8882-BBDF-4BF367D9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10AEF-B9AF-87E0-6D39-006ADDE5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6D037B-78A7-8928-2345-2A8730077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FFBE0C-DD6A-8838-1A23-3D15982AC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58270-7510-299C-77FA-9DB4EC80B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57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8284C-A774-BFF7-0D82-69E15CFD6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8C48D5-E8C3-A892-ABDA-893767568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D06CA-14B1-1C8F-CE0D-AE59CE63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97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4C201-0726-5E6A-7C00-30A6B696D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F84C4-34B7-641B-A61E-2F7430311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D303B-1A65-C647-3EED-D8445FDDA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495F1-0CD2-A304-51A9-EB0AC8FF8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E9F40-C6CC-6416-F66A-AE37460CA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19129-00D1-79E1-7F34-CC65C40D6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51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FE80B-D1FA-2BDB-3A60-A690D570E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EC969-D2C7-697B-D268-3687D211E4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A952B2-71FF-E6F6-7F74-991312B94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664E3-4DFC-52D1-9390-DDF9FE494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5C11F-F432-358A-DE31-0099BEFD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0C24D-2911-E82F-1BB5-31337325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147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DB48B-5ECC-A93A-978A-6E8505F7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379B7-A197-9F17-CFA2-A3EB2BD06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ED210-968B-326D-9AD4-B4C82183C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40AEB-C65F-705C-A27B-7FB8A71A2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65430-74EC-DFCE-5E99-DE006F989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55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C306BB-D055-8CF1-A9C9-CB0E179C0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1326E-1225-7D40-0998-B888A72EB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3FB8A-C1C0-07CC-C5A5-C081F49CF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96A20-780F-5A0A-923D-E683B9C2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2F38C-93FF-5879-B193-651EDC3F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16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9BF605-18D8-1C43-2AE7-EE9BBB908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5C90B-1345-4595-6DEF-A5579EFFE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9D84D-213A-E05E-BAD7-56A283A52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936CC-734A-43ED-C4D4-9B26742F2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15EED-462B-2ABE-BE20-10AC2F00D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84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350740-3F3A-11E8-B0FB-230203DA3B98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3325 Banks Rd Co-Living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7957BE-B9A3-EA6C-3A79-FD523C57EDAB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Investor pitch deck synced to workbook and markdown status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D72D0-08E2-F979-1211-C230766D5A58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Sponsor-led co-living residential development near Raleigh, North Carolina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D110D5-DE13-7D03-FB23-9D3556BB88FA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- 6,000 SF two-story post-frame building assumption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F0FF02-689D-123B-605E-A807D8B07AF1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Current workbook status: Refi Year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19FEB-2194-A5BA-0841-7CF8D607DC7F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9D02E5-C5AF-82F0-AD5A-4A54F4DEE7DA}"/>
              </a:ext>
            </a:extLst>
          </p:cNvPr>
          <p:cNvSpPr txBox="1"/>
          <p:nvPr/>
        </p:nvSpPr>
        <p:spPr>
          <a:xfrm>
            <a:off x="736600" y="40132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, Exit Year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E05F5D-3930-E4FF-72F3-19C3CCAE1070}"/>
              </a:ext>
            </a:extLst>
          </p:cNvPr>
          <p:cNvSpPr txBox="1"/>
          <p:nvPr/>
        </p:nvSpPr>
        <p:spPr>
          <a:xfrm>
            <a:off x="736600" y="4622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- 5</a:t>
            </a:r>
          </a:p>
        </p:txBody>
      </p:sp>
    </p:spTree>
    <p:extLst>
      <p:ext uri="{BB962C8B-B14F-4D97-AF65-F5344CB8AC3E}">
        <p14:creationId xmlns:p14="http://schemas.microsoft.com/office/powerpoint/2010/main" val="3485914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E24E07-BA20-96C0-9762-1538EA5D1066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Project Program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9D2FC6-FB0A-44D1-0EFB-0344F56C9404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Eight-suite co-living residential asset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F3DFBE-0AC1-A1B6-6956-F5DE354FFD11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Total building area: 6,000 SF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91237B-2167-8C1F-B20D-B80E0845462F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Total program: 4 premium suites and 4 co-living suites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A3FA82-05D6-5C4E-18EA-2650CCF8C952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Each floor: 2 premium suites and 2 co-living suites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FC24D2-41FE-43D2-059C-64A91B8A5EC2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Shared kitchen, lounge, laundry, storage, and covered outdoor gathering areas</a:t>
            </a:r>
          </a:p>
        </p:txBody>
      </p:sp>
    </p:spTree>
    <p:extLst>
      <p:ext uri="{BB962C8B-B14F-4D97-AF65-F5344CB8AC3E}">
        <p14:creationId xmlns:p14="http://schemas.microsoft.com/office/powerpoint/2010/main" val="198741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39B6AD-7E46-F53A-AFD6-7F47737F3419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Floor Plan Basis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BACC6-15F6-70CE-7F4D-03387105514E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Scale and unit mix control the next plan exhibit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528F87-BC59-AC6A-5706-F149977B5EEB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Future floor plan exhibits should preserve the 6,000 SF building scale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1C6FDB-C16A-C61D-9CCB-AC377351819C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Each floor should show 2 premium suites and 2 co-living suites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5881F-0F4C-1586-B009-F4AD16917CDA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Prior concept imagery should be treated as conceptual if it does not preserve scale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18956-0A1D-1224-55BA-23315CC831E9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The plan should support optional floor-level operating separation where practical</a:t>
            </a:r>
          </a:p>
        </p:txBody>
      </p:sp>
    </p:spTree>
    <p:extLst>
      <p:ext uri="{BB962C8B-B14F-4D97-AF65-F5344CB8AC3E}">
        <p14:creationId xmlns:p14="http://schemas.microsoft.com/office/powerpoint/2010/main" val="280035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9EF321-CCE7-C11F-E2C1-E3BB6D2C1356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Rent Schedule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BAB5C-CCBD-EC26-84B6-7A048E0DD2E2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Rent schedule by effective year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B66981-04DE-7D23-25A2-D7307C09EDF5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Year 1 low scenario: 8,800 monthly gross rent / 105,600 annual potential rent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6B65F-A7D6-0530-53CF-BE67E944D0A2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Year 2 medium scenario: 10,800 monthly gross rent / 129,600 annual potential rent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BBAA7C-C936-5E7C-F215-F997B6D622D8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Year 3 high scenario: 12,000 monthly gross rent / 144,000 annual potential rent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67ED58-8A0E-DC26-F9FD-0B87AFA5B5F5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Current refinance-year valuation uses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56EC83-0D01-AD7C-629F-8D8F88FAF494}"/>
              </a:ext>
            </a:extLst>
          </p:cNvPr>
          <p:cNvSpPr txBox="1"/>
          <p:nvPr/>
        </p:nvSpPr>
        <p:spPr>
          <a:xfrm>
            <a:off x="736600" y="40132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- 12,000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2FA63B-03EE-E91E-4ACB-47C2C691622A}"/>
              </a:ext>
            </a:extLst>
          </p:cNvPr>
          <p:cNvSpPr txBox="1"/>
          <p:nvPr/>
        </p:nvSpPr>
        <p:spPr>
          <a:xfrm>
            <a:off x="736600" y="4622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 monthly gross rent</a:t>
            </a:r>
          </a:p>
        </p:txBody>
      </p:sp>
    </p:spTree>
    <p:extLst>
      <p:ext uri="{BB962C8B-B14F-4D97-AF65-F5344CB8AC3E}">
        <p14:creationId xmlns:p14="http://schemas.microsoft.com/office/powerpoint/2010/main" val="2941705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F12DD3-68D3-DDD2-D996-2BC820683755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Marketing Optionality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FCA92-44EA-CB29-C020-A268617EF13E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Short-term rental remains an optional scenario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8A855-96CF-22D5-C3EC-046B9711AEFD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Base underwriting remains co-living / medium-term furnished rental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D6D04-BC08-56A5-0256-10ABBA3787BE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Possible marketing scenario: rent one full floor as a short-term rental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B1A16E-F59B-AD64-E6C1-642A2CF82D3A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Other floor can remain available for co-living or medium-term rental demand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7A7B90-110D-9C2C-AF93-22D7AD1F25FC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STR use should be confirmed against zoning, insurance, taxes, management, and occupancy rules</a:t>
            </a:r>
          </a:p>
        </p:txBody>
      </p:sp>
    </p:spTree>
    <p:extLst>
      <p:ext uri="{BB962C8B-B14F-4D97-AF65-F5344CB8AC3E}">
        <p14:creationId xmlns:p14="http://schemas.microsoft.com/office/powerpoint/2010/main" val="4251837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98D85B-3B90-DBD0-B91A-A280DAFC30B4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Operating Expense Budget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65988-0CCA-FCDA-55A7-1DDA7041F324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Calculated budget ratio is currently selected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BF402-B62A-EA63-7CF2-926FD278F7F0}"/>
              </a:ext>
            </a:extLst>
          </p:cNvPr>
          <p:cNvSpPr txBox="1"/>
          <p:nvPr/>
        </p:nvSpPr>
        <p:spPr>
          <a:xfrm>
            <a:off x="736600" y="1574800"/>
            <a:ext cx="106045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Selected operating expense ratio: 46.9% Assumed ratio option: 40.0% Calculated budget ratio: 46.9% Repairs and maintenance reserve target: 9,000 funded before waterfall distributions</a:t>
            </a:r>
          </a:p>
        </p:txBody>
      </p:sp>
    </p:spTree>
    <p:extLst>
      <p:ext uri="{BB962C8B-B14F-4D97-AF65-F5344CB8AC3E}">
        <p14:creationId xmlns:p14="http://schemas.microsoft.com/office/powerpoint/2010/main" val="376093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D2DE1E-3B2F-2964-8EAA-04F5EC351D7B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Capital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CF5F8-4D57-403D-111B-890C6680328C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Development/build capital comes from Class A and Class B members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363D74-874B-C8E8-5E5E-B8C8B61F2E4E}"/>
              </a:ext>
            </a:extLst>
          </p:cNvPr>
          <p:cNvSpPr txBox="1"/>
          <p:nvPr/>
        </p:nvSpPr>
        <p:spPr>
          <a:xfrm>
            <a:off x="736600" y="1574800"/>
            <a:ext cx="106045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Class A capital: 300,000 with 8.00% cumulative preferred return Class B completion capital: 547,500 Sponsor property payment / basis: 100,000 Sponsor capital investment tracked separately: 136,283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408480-CD40-F8D6-6DD5-CB65ECC2D2CC}"/>
              </a:ext>
            </a:extLst>
          </p:cNvPr>
          <p:cNvSpPr/>
          <p:nvPr/>
        </p:nvSpPr>
        <p:spPr>
          <a:xfrm>
            <a:off x="889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300,000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Class A Capital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497E42-04A6-4778-BF68-7596D9619C3F}"/>
              </a:ext>
            </a:extLst>
          </p:cNvPr>
          <p:cNvSpPr/>
          <p:nvPr/>
        </p:nvSpPr>
        <p:spPr>
          <a:xfrm>
            <a:off x="3556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547,500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Class B Capital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BC7554-83D7-39AB-CEF9-858507E6E170}"/>
              </a:ext>
            </a:extLst>
          </p:cNvPr>
          <p:cNvSpPr/>
          <p:nvPr/>
        </p:nvSpPr>
        <p:spPr>
          <a:xfrm>
            <a:off x="6223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100,000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Property Payment</a:t>
            </a:r>
          </a:p>
        </p:txBody>
      </p:sp>
    </p:spTree>
    <p:extLst>
      <p:ext uri="{BB962C8B-B14F-4D97-AF65-F5344CB8AC3E}">
        <p14:creationId xmlns:p14="http://schemas.microsoft.com/office/powerpoint/2010/main" val="637932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924613-3B86-B934-5513-0B788D53CC86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Existing Debt And Refinance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72840-6DDC-FBCC-219C-A5E081D3857B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No construction loan is modeled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2AFE3E-F2C9-7C4F-56F6-0A180B275BA4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Existing debt payoff at refinance: 194,000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EEFFA-DE1E-4F4B-6E07-1A3677765233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Modeled refinance loan amount: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1ABDDD-D7E4-7B73-46BE-1EF74021CA46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- 732,276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3C379B-A46D-99F5-900D-AA7068433377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Net refinance proceeds after existing debt payoff: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34A1FF-CDDD-F703-F1A6-35FFC86BDAEF}"/>
              </a:ext>
            </a:extLst>
          </p:cNvPr>
          <p:cNvSpPr txBox="1"/>
          <p:nvPr/>
        </p:nvSpPr>
        <p:spPr>
          <a:xfrm>
            <a:off x="736600" y="40132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- 538,276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3A267-2552-BD6C-9768-9C4D576002EB}"/>
              </a:ext>
            </a:extLst>
          </p:cNvPr>
          <p:cNvSpPr txBox="1"/>
          <p:nvPr/>
        </p:nvSpPr>
        <p:spPr>
          <a:xfrm>
            <a:off x="736600" y="4622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Refinance loan is a takeout loan only, not a development capital source</a:t>
            </a:r>
          </a:p>
        </p:txBody>
      </p:sp>
    </p:spTree>
    <p:extLst>
      <p:ext uri="{BB962C8B-B14F-4D97-AF65-F5344CB8AC3E}">
        <p14:creationId xmlns:p14="http://schemas.microsoft.com/office/powerpoint/2010/main" val="906574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C1E0F8-E862-26CB-98DC-F5B602E3854D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Current Waterfall Priority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DDCC4F-77DA-BFFF-BC76-F2F802B66E30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Capital Recovery First / Deferred Preferred Return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7C0B35-A5B9-9F8D-1F0D-CE7AB223E88C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First: pay existing debt before waterfall cash is available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80DDED-34A0-3B78-A5F8-24E86F47F5AF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Second: fund the repairs and maintenance reserve before waterfall distributions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4836D-62C1-2A59-4027-04546C6B0C9A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Third: return Class A capital, then return Class B capital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700528-E987-10A1-65FE-ACD50E13547E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Fourth: pay accrued Class A preferred return, then split residual</a:t>
            </a:r>
          </a:p>
        </p:txBody>
      </p:sp>
    </p:spTree>
    <p:extLst>
      <p:ext uri="{BB962C8B-B14F-4D97-AF65-F5344CB8AC3E}">
        <p14:creationId xmlns:p14="http://schemas.microsoft.com/office/powerpoint/2010/main" val="1874216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398C3A-0DC3-7705-DA72-9091DF197D05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Residual Split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0D4515-5564-4958-3749-F08E30BD4577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Editable sponsor share with proportional Class A / Class B pool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A9EA2-44E6-7AE8-B3A9-02EB1D612F71}"/>
              </a:ext>
            </a:extLst>
          </p:cNvPr>
          <p:cNvSpPr txBox="1"/>
          <p:nvPr/>
        </p:nvSpPr>
        <p:spPr>
          <a:xfrm>
            <a:off x="736600" y="1574800"/>
            <a:ext cx="106045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Sponsor residual share: 50% Class A residual share: 18% Class B residual share: 32% Class A and Class B share the non-sponsor pool in proportion to their capital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B919A-E427-551D-47C7-1C8D95B2C239}"/>
              </a:ext>
            </a:extLst>
          </p:cNvPr>
          <p:cNvSpPr/>
          <p:nvPr/>
        </p:nvSpPr>
        <p:spPr>
          <a:xfrm>
            <a:off x="1016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50%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Sponsor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E19676-2856-D7C1-8214-2BE6B4CC1047}"/>
              </a:ext>
            </a:extLst>
          </p:cNvPr>
          <p:cNvSpPr/>
          <p:nvPr/>
        </p:nvSpPr>
        <p:spPr>
          <a:xfrm>
            <a:off x="3810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18%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Class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0EF369-EB45-4BEA-F716-A8CE977F8943}"/>
              </a:ext>
            </a:extLst>
          </p:cNvPr>
          <p:cNvSpPr/>
          <p:nvPr/>
        </p:nvSpPr>
        <p:spPr>
          <a:xfrm>
            <a:off x="6604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32%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Class B</a:t>
            </a:r>
          </a:p>
        </p:txBody>
      </p:sp>
    </p:spTree>
    <p:extLst>
      <p:ext uri="{BB962C8B-B14F-4D97-AF65-F5344CB8AC3E}">
        <p14:creationId xmlns:p14="http://schemas.microsoft.com/office/powerpoint/2010/main" val="1951491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16E336-32F0-00D9-D152-B5CD0CB8C633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Modeled Returns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99FDB-C478-A9CB-FF0C-939054343AE6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Current workbook return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BE3EC-D426-5DF0-CB9F-AAF2329078D3}"/>
              </a:ext>
            </a:extLst>
          </p:cNvPr>
          <p:cNvSpPr txBox="1"/>
          <p:nvPr/>
        </p:nvSpPr>
        <p:spPr>
          <a:xfrm>
            <a:off x="736600" y="1574800"/>
            <a:ext cx="106045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Class A: 219,799 profit, 519,799 distributions, 73.27% ROI, 16.34% IRR Class B: 234,783 profit, 782,283 distributions, 42.88% ROI, 8.98% IRR Sponsor: 327,148 profit, 463,431 distributions, 240.05% ROI, 58.54% IRR Sponsor return metrics should be reviewed with property payment and capital investment assumptions</a:t>
            </a:r>
          </a:p>
        </p:txBody>
      </p:sp>
    </p:spTree>
    <p:extLst>
      <p:ext uri="{BB962C8B-B14F-4D97-AF65-F5344CB8AC3E}">
        <p14:creationId xmlns:p14="http://schemas.microsoft.com/office/powerpoint/2010/main" val="2395124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C7C747-E04D-8B49-8573-6396AFE4CFAF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Cost Position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0AE940-E018-B3D8-2CA5-F06171524043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Sponsor-controlled case remains the controlling current case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14DBAD-D333-2BA0-F115-E8124E4424F7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Selected total project cost: 847,500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B30676-EA14-FF25-89C9-3B4062AD0FFE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Sponsor-controlled bridge range: 847,500-1,585,000 including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EBE353-C23C-E4BE-6EF6-66B3154F980A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- 100,000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9D7F62-5E15-F756-D45C-78A3669B912A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 property payment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EC7AC1-CEEE-DCE8-88EE-94444E97832B}"/>
              </a:ext>
            </a:extLst>
          </p:cNvPr>
          <p:cNvSpPr txBox="1"/>
          <p:nvPr/>
        </p:nvSpPr>
        <p:spPr>
          <a:xfrm>
            <a:off x="736600" y="40132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Outside-market benchmark retained as stress case, not current capitalization control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BB937C-E2AD-C14F-B085-D12986BCE658}"/>
              </a:ext>
            </a:extLst>
          </p:cNvPr>
          <p:cNvSpPr txBox="1"/>
          <p:nvPr/>
        </p:nvSpPr>
        <p:spPr>
          <a:xfrm>
            <a:off x="736600" y="4622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Wastewater and finish-drift risks remain key cost sensitivities</a:t>
            </a:r>
          </a:p>
        </p:txBody>
      </p:sp>
    </p:spTree>
    <p:extLst>
      <p:ext uri="{BB962C8B-B14F-4D97-AF65-F5344CB8AC3E}">
        <p14:creationId xmlns:p14="http://schemas.microsoft.com/office/powerpoint/2010/main" val="505438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5FB438-5A2D-090B-D975-314C637C8F10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Execution And Entitlement Focus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09A36B-63D3-F1F3-625A-464E526F2372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Highest-risk path remains utilities and wastewater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7843B-BCBD-370E-32B8-45A5B834327F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Fuquay-Varina coordination required because the site is in the Urban Service Area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DCEF77-468A-3ED7-8A25-3F722C379410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No planned municipal water or sewer extensions are assumed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C797D3-9381-6A31-71E4-E52AF738968B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Wake County Environmental Services coordination remains critical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4BFEE4-4211-8DBB-9699-EFDDBD8B7A68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Engineered wastewater feasibility and reserve field planning drive density and layout risk</a:t>
            </a:r>
          </a:p>
        </p:txBody>
      </p:sp>
    </p:spTree>
    <p:extLst>
      <p:ext uri="{BB962C8B-B14F-4D97-AF65-F5344CB8AC3E}">
        <p14:creationId xmlns:p14="http://schemas.microsoft.com/office/powerpoint/2010/main" val="1106173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9C3572-3D14-657D-5DBF-018927A4CEE8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Current Underwriting Status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969342-65BD-2B59-56BA-DCDE34A8A58A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Model is synced as of this deck version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F401FB-873E-62A9-381C-314916C4E44A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Markdown files updated for 6,000 SF and floor-by-floor suite mix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3B0E4-9AC5-70B6-24D4-D25CFEA2190D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Rent schedule is displayed by effective year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DC2B3-52E2-376A-07F1-14210E283F46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Calculated operating expense ratio and current sponsor assumptions are shown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28A739-FD16-6FBF-5F0D-5591FAD1BB3B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PowerPoint v005 reflects current workbook and markdown status</a:t>
            </a:r>
          </a:p>
        </p:txBody>
      </p:sp>
    </p:spTree>
    <p:extLst>
      <p:ext uri="{BB962C8B-B14F-4D97-AF65-F5344CB8AC3E}">
        <p14:creationId xmlns:p14="http://schemas.microsoft.com/office/powerpoint/2010/main" val="3150676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766</Words>
  <Application>Microsoft Office PowerPoint</Application>
  <PresentationFormat>Widescreen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 Will Buy Your Home</dc:creator>
  <cp:lastModifiedBy>Wes Will Buy Your Home</cp:lastModifiedBy>
  <cp:revision>2</cp:revision>
  <dcterms:created xsi:type="dcterms:W3CDTF">2026-05-17T02:29:39Z</dcterms:created>
  <dcterms:modified xsi:type="dcterms:W3CDTF">2026-05-17T02:31:14Z</dcterms:modified>
</cp:coreProperties>
</file>