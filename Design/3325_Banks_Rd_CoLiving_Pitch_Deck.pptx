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9DA59-028D-9562-850C-A8FC1A656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28A8AE-27EA-2B80-CA96-2E7EB93BC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EDDA6-42E6-8DD0-1727-7E085C680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9EBF9-5C94-5D2C-13D9-CEC5F85D9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FCEEB-1D8E-54A9-B461-95EC70382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891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A806C-DB26-D7F9-B834-22179CEC4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C8AF3-9AE1-7379-4CD3-0A13FC7BF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CC36A-5BB0-A06A-CCF1-4705C169F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5520C8-769A-6D76-6839-A2AE22D4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64DC2-F3E1-F932-3C9E-59C72FBD4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094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D0775-C37B-3075-66FB-39969C784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7BBF9-9CF4-1AA6-34B3-70FF2DCB3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61B9D-3D05-5034-B36A-ED9CE945A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9305E9-F6C8-0C15-7170-AE830EBFD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3880BF-25ED-7253-3721-C6B3DB43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549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3696-1632-3430-7786-162C508C5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54D32-0479-BA3A-4CE1-ABD5529C4E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731E01-0320-AEFF-A67A-08F83525E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13F34-D521-1EDE-8694-668E97271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F95E6-AD50-229A-4010-4B69E9D14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2E7991-2ED0-0731-FA94-3E037562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4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A85FC-E4BD-2CCE-7B6F-8A6ED7B1B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23A2F3-3039-4D49-551B-A8BF8DB24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EFDD1-1CFB-04C0-A47D-4D1E946A72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D4FBE2-C3E5-4AC4-7645-9A17C78D69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6F7C9C-B102-B37C-1C59-30406C3BA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C9CE357-C65F-9651-A0AC-CCBABFF42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6E0933-A095-F057-872B-20CE4903B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BAD407-AA29-0818-7F2B-E2B3DB91A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680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3A946-273E-97EB-AADF-DFC270152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DE40C8-DD4E-D796-0B79-9A0CF98F9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8923F8-EF53-2488-1567-314E0F422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6886E5-5C01-C45A-0943-A99B34E96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601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6D894-CBD7-404D-9375-4A2106A53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E256C2-5F52-BA2C-C591-CFB4DF4AA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6D9E4-5AE5-DA4C-E351-26D75FD7F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062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5F2F-EACA-19CF-C2B4-B9A2B6D3D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237C9-ED7E-B71C-4D2C-4DA5102CDC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DFEBD6-F6C6-2B37-8864-46D7654E0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67F4F-0EBD-D27D-57AB-D04E6EF49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9D91DB-84FB-29C0-494E-175D1215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44F49-7C59-4891-9994-DC86AF73F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043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BA31D-0575-2DCF-1B0B-172609DCD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7791C9-3B2F-6642-334B-B66BB3001E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E44864-67AA-CEDE-872E-9AA9F3B059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87EB5C-2FD3-343F-8C2E-1F1A49B59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0E2D3-5FC1-AF7F-AEF7-EC4C96576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4EF6D-E640-C5D0-8062-EC82AC8ED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081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A3A46-D4AC-E1B7-9889-601DDC1EE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0221A-5871-87EB-A4B9-18F078174B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619C2E-9549-8F11-DB70-E061E9136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B58FC-8D1C-2956-75A1-3B9D829E9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6B56A-554F-4260-C674-8BC014A01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70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9C0C77-1CFE-8B8D-E619-CC01F33030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4813EC-EDC2-AE48-6BB6-1FF4EDAF9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F02B6D-818B-504F-5E04-A3185B3E1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B88B6-6BC6-4C53-CE86-2A1C11F0D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42C398-D508-9132-245E-AE8737136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792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FA352A-B687-189B-6CE2-EB061F518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064D9-6355-BC0A-C62B-5EEF55518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394A8-0408-34C9-7A31-CA49F1E247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ACA848-8539-4C8D-A562-21C79FFCCB8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93B10-8EC8-3978-FEC5-AF574061E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6C8F9-DD15-1543-CAC2-E16434A61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3475C8-AED7-4525-97E1-C362D9D185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81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9F3C05-627D-4AB2-205E-66E0622F8C4C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600" y="660400"/>
            <a:ext cx="5080000" cy="381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264FE8-4F3D-811E-1713-7877219C7EBE}"/>
              </a:ext>
            </a:extLst>
          </p:cNvPr>
          <p:cNvSpPr txBox="1"/>
          <p:nvPr/>
        </p:nvSpPr>
        <p:spPr>
          <a:xfrm>
            <a:off x="609600" y="990600"/>
            <a:ext cx="5207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  <a:latin typeface="Aptos" panose="020B0004020202020204" pitchFamily="34" charset="0"/>
              </a:rPr>
              <a:t>3325 Banks Rd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888D3F-BCFD-63AA-92EC-9DBC6EE74DAA}"/>
              </a:ext>
            </a:extLst>
          </p:cNvPr>
          <p:cNvSpPr txBox="1"/>
          <p:nvPr/>
        </p:nvSpPr>
        <p:spPr>
          <a:xfrm>
            <a:off x="635000" y="1778000"/>
            <a:ext cx="50800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000">
                <a:solidFill>
                  <a:srgbClr val="E2ECF0"/>
                </a:solidFill>
                <a:latin typeface="Aptos" panose="020B0004020202020204" pitchFamily="34" charset="0"/>
              </a:rPr>
              <a:t>Co-Living Residential Development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65234-1B2B-EAAD-09E2-5D336C24B36A}"/>
              </a:ext>
            </a:extLst>
          </p:cNvPr>
          <p:cNvSpPr txBox="1"/>
          <p:nvPr/>
        </p:nvSpPr>
        <p:spPr>
          <a:xfrm>
            <a:off x="635000" y="2286000"/>
            <a:ext cx="4953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C4D1D7"/>
                </a:solidFill>
                <a:latin typeface="Aptos" panose="020B0004020202020204" pitchFamily="34" charset="0"/>
              </a:rPr>
              <a:t>Wake County near Raleigh, North Carolina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E8B6F-A4A8-F152-0EC3-4F011A4385FF}"/>
              </a:ext>
            </a:extLst>
          </p:cNvPr>
          <p:cNvSpPr txBox="1"/>
          <p:nvPr/>
        </p:nvSpPr>
        <p:spPr>
          <a:xfrm>
            <a:off x="635000" y="3175000"/>
            <a:ext cx="4953000" cy="113877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FFFFFF"/>
                </a:solidFill>
                <a:latin typeface="Aptos" panose="020B0004020202020204" pitchFamily="34" charset="0"/>
              </a:rPr>
              <a:t>Professionally managed boutique co-living platform with 6,000 SF program, staged capitalization, engineered utility planning, and refinance-oriented capital recovery.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56623A-BB57-40F4-2DE6-7FE3DFB8BA58}"/>
              </a:ext>
            </a:extLst>
          </p:cNvPr>
          <p:cNvSpPr txBox="1"/>
          <p:nvPr/>
        </p:nvSpPr>
        <p:spPr>
          <a:xfrm>
            <a:off x="635000" y="5689600"/>
            <a:ext cx="5334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C4D1D7"/>
                </a:solidFill>
                <a:latin typeface="Aptos" panose="020B0004020202020204" pitchFamily="34" charset="0"/>
              </a:rPr>
              <a:t>Investor pitch deck | Planning model</a:t>
            </a:r>
          </a:p>
        </p:txBody>
      </p:sp>
    </p:spTree>
    <p:extLst>
      <p:ext uri="{BB962C8B-B14F-4D97-AF65-F5344CB8AC3E}">
        <p14:creationId xmlns:p14="http://schemas.microsoft.com/office/powerpoint/2010/main" val="1489796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209781-DBCB-A281-925F-2141C70251E9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6F57C9-CA5A-A998-A58C-60BD6450B251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1D80AF-951D-6B40-97C1-A56BDC0C2E85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Investment Thesis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28E40E-7788-4F1F-A4C6-50BB0542AE63}"/>
              </a:ext>
            </a:extLst>
          </p:cNvPr>
          <p:cNvSpPr txBox="1"/>
          <p:nvPr/>
        </p:nvSpPr>
        <p:spPr>
          <a:xfrm>
            <a:off x="736600" y="1625600"/>
            <a:ext cx="6604000" cy="23698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- Sponsor-led co-living residential development in the Triangle market corridor.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- Long-term income-producing asset, not a speculative resale project.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- Targets workforce housing, graduate/professional co-living, furnished medium-term rental demand, and optional one-floor short-term rental marketing.</a:t>
            </a:r>
          </a:p>
          <a:p>
            <a:pPr>
              <a:spcAft>
                <a:spcPts val="800"/>
              </a:spcAft>
            </a:pPr>
            <a:r>
              <a:rPr lang="en-US" sz="1600">
                <a:solidFill>
                  <a:srgbClr val="2A2A2A"/>
                </a:solidFill>
                <a:latin typeface="Aptos" panose="020B0004020202020204" pitchFamily="34" charset="0"/>
              </a:rPr>
              <a:t>- Capital recovery strategy relies on stabilization, refinance, and operating cash flow.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DFE435-3FBF-2673-55E5-2C75E540A11E}"/>
              </a:ext>
            </a:extLst>
          </p:cNvPr>
          <p:cNvSpPr/>
          <p:nvPr/>
        </p:nvSpPr>
        <p:spPr>
          <a:xfrm>
            <a:off x="7874000" y="1600200"/>
            <a:ext cx="3302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98780AC-EB54-EA0B-2C24-38432AC6254B}"/>
              </a:ext>
            </a:extLst>
          </p:cNvPr>
          <p:cNvSpPr/>
          <p:nvPr/>
        </p:nvSpPr>
        <p:spPr>
          <a:xfrm>
            <a:off x="7874000" y="16002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84BC44-F304-2D06-9DE0-7AF3E66FD1F9}"/>
              </a:ext>
            </a:extLst>
          </p:cNvPr>
          <p:cNvSpPr txBox="1"/>
          <p:nvPr/>
        </p:nvSpPr>
        <p:spPr>
          <a:xfrm>
            <a:off x="81026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Competitive Advantage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35D692-5365-D231-881C-28D9FB752E09}"/>
              </a:ext>
            </a:extLst>
          </p:cNvPr>
          <p:cNvSpPr txBox="1"/>
          <p:nvPr/>
        </p:nvSpPr>
        <p:spPr>
          <a:xfrm>
            <a:off x="81026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Controlled land position, 6,000 SF post-frame construction strategy, sponsor equipment and crew capacity, and flexible floor-by-floor rental configuration.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3E7C8C-0AE8-F14D-F8F5-936F5827F9A5}"/>
              </a:ext>
            </a:extLst>
          </p:cNvPr>
          <p:cNvSpPr/>
          <p:nvPr/>
        </p:nvSpPr>
        <p:spPr>
          <a:xfrm>
            <a:off x="7874000" y="3708400"/>
            <a:ext cx="330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83D18E-6595-AA9B-F370-F2F3A050CF7B}"/>
              </a:ext>
            </a:extLst>
          </p:cNvPr>
          <p:cNvSpPr/>
          <p:nvPr/>
        </p:nvSpPr>
        <p:spPr>
          <a:xfrm>
            <a:off x="7874000" y="3708400"/>
            <a:ext cx="76200" cy="16002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872A44-4FB2-F597-FAD9-B9529D8C2DCB}"/>
              </a:ext>
            </a:extLst>
          </p:cNvPr>
          <p:cNvSpPr txBox="1"/>
          <p:nvPr/>
        </p:nvSpPr>
        <p:spPr>
          <a:xfrm>
            <a:off x="8102600" y="38862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Current Status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29FB2D-615F-5608-66B9-C729780B1573}"/>
              </a:ext>
            </a:extLst>
          </p:cNvPr>
          <p:cNvSpPr txBox="1"/>
          <p:nvPr/>
        </p:nvSpPr>
        <p:spPr>
          <a:xfrm>
            <a:off x="8102600" y="4267200"/>
            <a:ext cx="2921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Planning model with entitlement, wastewater, utility, and capitalization assumptions under active refinement.</a:t>
            </a:r>
          </a:p>
        </p:txBody>
      </p:sp>
    </p:spTree>
    <p:extLst>
      <p:ext uri="{BB962C8B-B14F-4D97-AF65-F5344CB8AC3E}">
        <p14:creationId xmlns:p14="http://schemas.microsoft.com/office/powerpoint/2010/main" val="2224159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13DA9F-0D77-3F48-5DCE-B600A87D8118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3A4A94-C7E4-FB52-D00A-B2310F023956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ASSET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0B51EA-0C81-84B5-BB99-A307F3F52004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Development Program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3C15A0-B2F0-8EDC-DC16-AC7141A6415B}"/>
              </a:ext>
            </a:extLst>
          </p:cNvPr>
          <p:cNvSpPr/>
          <p:nvPr/>
        </p:nvSpPr>
        <p:spPr>
          <a:xfrm>
            <a:off x="685800" y="1600200"/>
            <a:ext cx="2286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651180-532D-4641-A9B6-860BE518F3C6}"/>
              </a:ext>
            </a:extLst>
          </p:cNvPr>
          <p:cNvSpPr txBox="1"/>
          <p:nvPr/>
        </p:nvSpPr>
        <p:spPr>
          <a:xfrm>
            <a:off x="863600" y="1765300"/>
            <a:ext cx="1930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1.1 AC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CB17FA-D0DF-3BD0-7AED-0D174E186EEF}"/>
              </a:ext>
            </a:extLst>
          </p:cNvPr>
          <p:cNvSpPr txBox="1"/>
          <p:nvPr/>
        </p:nvSpPr>
        <p:spPr>
          <a:xfrm>
            <a:off x="863600" y="2209800"/>
            <a:ext cx="1930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Site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5FBFC3-EB4F-F46F-F103-3B4EE815F975}"/>
              </a:ext>
            </a:extLst>
          </p:cNvPr>
          <p:cNvSpPr/>
          <p:nvPr/>
        </p:nvSpPr>
        <p:spPr>
          <a:xfrm>
            <a:off x="32258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BE1940-1D31-85E7-A649-8CA3BFE4A7D4}"/>
              </a:ext>
            </a:extLst>
          </p:cNvPr>
          <p:cNvSpPr txBox="1"/>
          <p:nvPr/>
        </p:nvSpPr>
        <p:spPr>
          <a:xfrm>
            <a:off x="34036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6,000 SF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D52983-2DDC-8139-1697-90487BE52896}"/>
              </a:ext>
            </a:extLst>
          </p:cNvPr>
          <p:cNvSpPr txBox="1"/>
          <p:nvPr/>
        </p:nvSpPr>
        <p:spPr>
          <a:xfrm>
            <a:off x="34036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Building Area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20C9CD-5F6E-6B71-8CBA-370210F5A6D5}"/>
              </a:ext>
            </a:extLst>
          </p:cNvPr>
          <p:cNvSpPr/>
          <p:nvPr/>
        </p:nvSpPr>
        <p:spPr>
          <a:xfrm>
            <a:off x="6172200" y="1600200"/>
            <a:ext cx="2032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A4B005-E074-D2C9-A306-A9A3BBF875A7}"/>
              </a:ext>
            </a:extLst>
          </p:cNvPr>
          <p:cNvSpPr txBox="1"/>
          <p:nvPr/>
        </p:nvSpPr>
        <p:spPr>
          <a:xfrm>
            <a:off x="6350000" y="1765300"/>
            <a:ext cx="1676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9B327F-22D5-6C8C-0312-DFD0F561050E}"/>
              </a:ext>
            </a:extLst>
          </p:cNvPr>
          <p:cNvSpPr txBox="1"/>
          <p:nvPr/>
        </p:nvSpPr>
        <p:spPr>
          <a:xfrm>
            <a:off x="6350000" y="2209800"/>
            <a:ext cx="1676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Residential Suites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13B9F9-38F8-F802-3430-42A47CBA9E72}"/>
              </a:ext>
            </a:extLst>
          </p:cNvPr>
          <p:cNvSpPr/>
          <p:nvPr/>
        </p:nvSpPr>
        <p:spPr>
          <a:xfrm>
            <a:off x="84582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FBE4B99-893C-8913-B7D7-00B78E8E86C5}"/>
              </a:ext>
            </a:extLst>
          </p:cNvPr>
          <p:cNvSpPr txBox="1"/>
          <p:nvPr/>
        </p:nvSpPr>
        <p:spPr>
          <a:xfrm>
            <a:off x="8636000" y="17653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Post-frame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8E7919-3A2A-931B-C54D-A24B0E726264}"/>
              </a:ext>
            </a:extLst>
          </p:cNvPr>
          <p:cNvSpPr txBox="1"/>
          <p:nvPr/>
        </p:nvSpPr>
        <p:spPr>
          <a:xfrm>
            <a:off x="8636000" y="22098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Construction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9E805D-D961-DBCF-7CB9-9CE61AFC1A8A}"/>
              </a:ext>
            </a:extLst>
          </p:cNvPr>
          <p:cNvSpPr/>
          <p:nvPr/>
        </p:nvSpPr>
        <p:spPr>
          <a:xfrm>
            <a:off x="889000" y="3073400"/>
            <a:ext cx="4953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51348C-B437-ADB5-F4F6-A31BFD662EFB}"/>
              </a:ext>
            </a:extLst>
          </p:cNvPr>
          <p:cNvSpPr/>
          <p:nvPr/>
        </p:nvSpPr>
        <p:spPr>
          <a:xfrm>
            <a:off x="889000" y="30734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CB7641-3A91-F95A-299D-F1B58EFE946A}"/>
              </a:ext>
            </a:extLst>
          </p:cNvPr>
          <p:cNvSpPr txBox="1"/>
          <p:nvPr/>
        </p:nvSpPr>
        <p:spPr>
          <a:xfrm>
            <a:off x="1117600" y="3251200"/>
            <a:ext cx="4572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First Floor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2 premium suites and 2 co-living suites. Floor plan exhibits should preserve scale against the 6,000 SF building assumption.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272399-9619-34DF-A7EB-50C97CC252C2}"/>
              </a:ext>
            </a:extLst>
          </p:cNvPr>
          <p:cNvSpPr/>
          <p:nvPr/>
        </p:nvSpPr>
        <p:spPr>
          <a:xfrm>
            <a:off x="6350000" y="3073400"/>
            <a:ext cx="4953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5A80249-893B-00D1-1A51-2EF21DB7BA3E}"/>
              </a:ext>
            </a:extLst>
          </p:cNvPr>
          <p:cNvSpPr/>
          <p:nvPr/>
        </p:nvSpPr>
        <p:spPr>
          <a:xfrm>
            <a:off x="6350000" y="30734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17767CD-E9AC-D299-7F23-DB60C531F9CC}"/>
              </a:ext>
            </a:extLst>
          </p:cNvPr>
          <p:cNvSpPr txBox="1"/>
          <p:nvPr/>
        </p:nvSpPr>
        <p:spPr>
          <a:xfrm>
            <a:off x="6578600" y="3251200"/>
            <a:ext cx="4572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Second Floor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2 premium suites and 2 co-living suites. Matching floor mix supports operating flexibility, including a possible one-floor short-term rental scenario.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1BB8FF-14AB-8A45-F8DE-5B0888933032}"/>
              </a:ext>
            </a:extLst>
          </p:cNvPr>
          <p:cNvSpPr txBox="1"/>
          <p:nvPr/>
        </p:nvSpPr>
        <p:spPr>
          <a:xfrm>
            <a:off x="889000" y="5334000"/>
            <a:ext cx="10414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666666"/>
                </a:solidFill>
                <a:latin typeface="Aptos" panose="020B0004020202020204" pitchFamily="34" charset="0"/>
              </a:rPr>
              <a:t>Shared amenities include communal kitchen, dining, lounge, laundry, storage/mechanical areas, and covered outdoor gathering areas.</a:t>
            </a:r>
          </a:p>
        </p:txBody>
      </p:sp>
    </p:spTree>
    <p:extLst>
      <p:ext uri="{BB962C8B-B14F-4D97-AF65-F5344CB8AC3E}">
        <p14:creationId xmlns:p14="http://schemas.microsoft.com/office/powerpoint/2010/main" val="202288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C09133-92A3-A897-0905-1D2438642DC5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2BAB61-0937-501E-8E0F-4A1653B0F3DE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879D69-FBDA-8D06-C6FD-ACF34A6778EE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Concept Design Direction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E970969-71A3-80E8-946C-1B170C7F57B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422400"/>
            <a:ext cx="6858000" cy="457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647AB0-F7BF-565F-F219-01F5304EF2EF}"/>
              </a:ext>
            </a:extLst>
          </p:cNvPr>
          <p:cNvSpPr txBox="1"/>
          <p:nvPr/>
        </p:nvSpPr>
        <p:spPr>
          <a:xfrm>
            <a:off x="736600" y="6172200"/>
            <a:ext cx="10668000" cy="2308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900">
                <a:solidFill>
                  <a:srgbClr val="666666"/>
                </a:solidFill>
                <a:latin typeface="Aptos" panose="020B0004020202020204" pitchFamily="34" charset="0"/>
              </a:rPr>
              <a:t>Concept image for discussion only. Final dimensions, code compliance, accessibility, fire/life-safety, wastewater, and engineering requirements remain subject to professional design and permitting.</a:t>
            </a:r>
          </a:p>
        </p:txBody>
      </p:sp>
    </p:spTree>
    <p:extLst>
      <p:ext uri="{BB962C8B-B14F-4D97-AF65-F5344CB8AC3E}">
        <p14:creationId xmlns:p14="http://schemas.microsoft.com/office/powerpoint/2010/main" val="3482564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DF3969-1B07-E97D-CAE4-A73CAF820F6D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A139B2-3EAF-75A1-D4D2-3320E61F858A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MARKET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46FCB-84B4-9F79-945E-0BA512901090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Rent Positioning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72063D-6E03-6B2D-D194-D3F644EBCD2E}"/>
              </a:ext>
            </a:extLst>
          </p:cNvPr>
          <p:cNvSpPr/>
          <p:nvPr/>
        </p:nvSpPr>
        <p:spPr>
          <a:xfrm>
            <a:off x="889000" y="1651000"/>
            <a:ext cx="3175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DEA2F2-78EE-91AD-12FF-3BB0051EF315}"/>
              </a:ext>
            </a:extLst>
          </p:cNvPr>
          <p:cNvSpPr/>
          <p:nvPr/>
        </p:nvSpPr>
        <p:spPr>
          <a:xfrm>
            <a:off x="889000" y="16510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6C3E2D-0D4C-00CF-64AA-4BF895307A35}"/>
              </a:ext>
            </a:extLst>
          </p:cNvPr>
          <p:cNvSpPr txBox="1"/>
          <p:nvPr/>
        </p:nvSpPr>
        <p:spPr>
          <a:xfrm>
            <a:off x="1117600" y="18288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Premium Suites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B07C00-7A22-3592-86A4-C87E477AA030}"/>
              </a:ext>
            </a:extLst>
          </p:cNvPr>
          <p:cNvSpPr txBox="1"/>
          <p:nvPr/>
        </p:nvSpPr>
        <p:spPr>
          <a:xfrm>
            <a:off x="1117600" y="2209800"/>
            <a:ext cx="279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Low: 1,350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Medium: 1,600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High: 1,750 / mo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9C2AFC-8A38-AB41-6FC5-D650BD86DBA5}"/>
              </a:ext>
            </a:extLst>
          </p:cNvPr>
          <p:cNvSpPr/>
          <p:nvPr/>
        </p:nvSpPr>
        <p:spPr>
          <a:xfrm>
            <a:off x="4495800" y="1651000"/>
            <a:ext cx="3175000" cy="180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B2EEEC-1C53-2EF0-7681-88685222B9FB}"/>
              </a:ext>
            </a:extLst>
          </p:cNvPr>
          <p:cNvSpPr/>
          <p:nvPr/>
        </p:nvSpPr>
        <p:spPr>
          <a:xfrm>
            <a:off x="4495800" y="1651000"/>
            <a:ext cx="76200" cy="18034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7D492B-663A-BCAC-34CB-E2C1CD9D54CD}"/>
              </a:ext>
            </a:extLst>
          </p:cNvPr>
          <p:cNvSpPr txBox="1"/>
          <p:nvPr/>
        </p:nvSpPr>
        <p:spPr>
          <a:xfrm>
            <a:off x="4724400" y="1828800"/>
            <a:ext cx="279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Co-Living Suites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2230D2-B2C9-B156-01A8-C8E08ED859A0}"/>
              </a:ext>
            </a:extLst>
          </p:cNvPr>
          <p:cNvSpPr txBox="1"/>
          <p:nvPr/>
        </p:nvSpPr>
        <p:spPr>
          <a:xfrm>
            <a:off x="4724400" y="2209800"/>
            <a:ext cx="279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Low: 850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Medium: 1,100 / mo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High: 1,250 / mo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9CBD661-AC13-FDE5-6467-87048607362D}"/>
              </a:ext>
            </a:extLst>
          </p:cNvPr>
          <p:cNvSpPr/>
          <p:nvPr/>
        </p:nvSpPr>
        <p:spPr>
          <a:xfrm>
            <a:off x="8102600" y="1651000"/>
            <a:ext cx="3175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B11441-D859-5A4C-A6A6-7AC8CA0347E8}"/>
              </a:ext>
            </a:extLst>
          </p:cNvPr>
          <p:cNvSpPr/>
          <p:nvPr/>
        </p:nvSpPr>
        <p:spPr>
          <a:xfrm>
            <a:off x="8102600" y="16510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DEB909-707E-6E14-3DE6-90F281245710}"/>
              </a:ext>
            </a:extLst>
          </p:cNvPr>
          <p:cNvSpPr txBox="1"/>
          <p:nvPr/>
        </p:nvSpPr>
        <p:spPr>
          <a:xfrm>
            <a:off x="8331200" y="1828800"/>
            <a:ext cx="2794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Gross Monthly Rent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Low: 8,800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Medium: 10,800</a:t>
            </a:r>
          </a:p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High: 12,000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2B9941-F770-6557-8C67-EE13B60C5E7E}"/>
              </a:ext>
            </a:extLst>
          </p:cNvPr>
          <p:cNvSpPr txBox="1"/>
          <p:nvPr/>
        </p:nvSpPr>
        <p:spPr>
          <a:xfrm>
            <a:off x="1143000" y="4191000"/>
            <a:ext cx="9398000" cy="132343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Current model uses effective-year rent schedule; low begins Year 1, medium Year 2, high Year 3.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Stabilized occupancy assumption: 93.0%.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Refinance-year rent scenario currently uses 12,000 monthly gross rent.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Rent schedule is displayed by effective year.</a:t>
            </a:r>
          </a:p>
        </p:txBody>
      </p:sp>
    </p:spTree>
    <p:extLst>
      <p:ext uri="{BB962C8B-B14F-4D97-AF65-F5344CB8AC3E}">
        <p14:creationId xmlns:p14="http://schemas.microsoft.com/office/powerpoint/2010/main" val="1385135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1A9FA7C-B54D-1EA5-814D-060FD3AB35BD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5C40D9-58CF-9CB5-3819-58C8C9F1E333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79C7F8-FB49-AF31-401E-D96C133D5648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Operating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CEF0C6-94BC-BF49-D976-13AC5128A3B2}"/>
              </a:ext>
            </a:extLst>
          </p:cNvPr>
          <p:cNvSpPr/>
          <p:nvPr/>
        </p:nvSpPr>
        <p:spPr>
          <a:xfrm>
            <a:off x="889000" y="1651000"/>
            <a:ext cx="2921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568AE4-2B1D-4B94-CA05-841A26AFECF8}"/>
              </a:ext>
            </a:extLst>
          </p:cNvPr>
          <p:cNvSpPr txBox="1"/>
          <p:nvPr/>
        </p:nvSpPr>
        <p:spPr>
          <a:xfrm>
            <a:off x="1066800" y="1816100"/>
            <a:ext cx="2565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12,000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8E6AAB-C142-5B21-274D-ECCE8D82832A}"/>
              </a:ext>
            </a:extLst>
          </p:cNvPr>
          <p:cNvSpPr txBox="1"/>
          <p:nvPr/>
        </p:nvSpPr>
        <p:spPr>
          <a:xfrm>
            <a:off x="1066800" y="2260600"/>
            <a:ext cx="2565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Stabilized Monthly Gross Rent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49045A-3ED4-3904-0E5A-DC2A418623EE}"/>
              </a:ext>
            </a:extLst>
          </p:cNvPr>
          <p:cNvSpPr/>
          <p:nvPr/>
        </p:nvSpPr>
        <p:spPr>
          <a:xfrm>
            <a:off x="4191000" y="16510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A4467D-46BF-3760-A9AC-7E348AA50B49}"/>
              </a:ext>
            </a:extLst>
          </p:cNvPr>
          <p:cNvSpPr txBox="1"/>
          <p:nvPr/>
        </p:nvSpPr>
        <p:spPr>
          <a:xfrm>
            <a:off x="4368800" y="18161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93.0%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12A775-9331-CF76-E50D-F88CC700AC55}"/>
              </a:ext>
            </a:extLst>
          </p:cNvPr>
          <p:cNvSpPr txBox="1"/>
          <p:nvPr/>
        </p:nvSpPr>
        <p:spPr>
          <a:xfrm>
            <a:off x="4368800" y="22606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Stabilized Occupancy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2FEB3B-CAE2-CA6C-17A5-D905617344E1}"/>
              </a:ext>
            </a:extLst>
          </p:cNvPr>
          <p:cNvSpPr/>
          <p:nvPr/>
        </p:nvSpPr>
        <p:spPr>
          <a:xfrm>
            <a:off x="6985000" y="1651000"/>
            <a:ext cx="279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BC7348-332D-9F7A-EE1E-F939DD36FAB0}"/>
              </a:ext>
            </a:extLst>
          </p:cNvPr>
          <p:cNvSpPr txBox="1"/>
          <p:nvPr/>
        </p:nvSpPr>
        <p:spPr>
          <a:xfrm>
            <a:off x="7162800" y="1816100"/>
            <a:ext cx="2438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46.9%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30B373-CCFA-532E-C03A-B18B59747E27}"/>
              </a:ext>
            </a:extLst>
          </p:cNvPr>
          <p:cNvSpPr txBox="1"/>
          <p:nvPr/>
        </p:nvSpPr>
        <p:spPr>
          <a:xfrm>
            <a:off x="7162800" y="2260600"/>
            <a:ext cx="2438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Selected OpEx Ratio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74B2E74-77A6-3276-2E80-34407C5AA806}"/>
              </a:ext>
            </a:extLst>
          </p:cNvPr>
          <p:cNvSpPr/>
          <p:nvPr/>
        </p:nvSpPr>
        <p:spPr>
          <a:xfrm>
            <a:off x="10033000" y="1651000"/>
            <a:ext cx="152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4BC899-C8D8-706E-9261-88009056802D}"/>
              </a:ext>
            </a:extLst>
          </p:cNvPr>
          <p:cNvSpPr txBox="1"/>
          <p:nvPr/>
        </p:nvSpPr>
        <p:spPr>
          <a:xfrm>
            <a:off x="10210800" y="1816100"/>
            <a:ext cx="1168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8,035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C15E65-D81F-8C01-2D77-F24C472EA41C}"/>
              </a:ext>
            </a:extLst>
          </p:cNvPr>
          <p:cNvSpPr txBox="1"/>
          <p:nvPr/>
        </p:nvSpPr>
        <p:spPr>
          <a:xfrm>
            <a:off x="10210800" y="2260600"/>
            <a:ext cx="1168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Management Fee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FD94257-3ACB-7803-22E3-71ED287C1187}"/>
              </a:ext>
            </a:extLst>
          </p:cNvPr>
          <p:cNvSpPr/>
          <p:nvPr/>
        </p:nvSpPr>
        <p:spPr>
          <a:xfrm>
            <a:off x="1016000" y="3302000"/>
            <a:ext cx="4699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79845D-FBED-E7DC-58D3-DD5761F55B65}"/>
              </a:ext>
            </a:extLst>
          </p:cNvPr>
          <p:cNvSpPr/>
          <p:nvPr/>
        </p:nvSpPr>
        <p:spPr>
          <a:xfrm>
            <a:off x="1016000" y="33020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3071F7-9190-2E37-C6A9-E56886BB24A3}"/>
              </a:ext>
            </a:extLst>
          </p:cNvPr>
          <p:cNvSpPr txBox="1"/>
          <p:nvPr/>
        </p:nvSpPr>
        <p:spPr>
          <a:xfrm>
            <a:off x="1244600" y="3479800"/>
            <a:ext cx="4318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Expense Budget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FE37D8-305F-A3A3-1D9C-C537B0A3C024}"/>
              </a:ext>
            </a:extLst>
          </p:cNvPr>
          <p:cNvSpPr txBox="1"/>
          <p:nvPr/>
        </p:nvSpPr>
        <p:spPr>
          <a:xfrm>
            <a:off x="1244600" y="3860800"/>
            <a:ext cx="4318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Operating Expense Budget currently uses the calculated budget ratio of 46.9%. Budget includes property taxes, completed property insurance, management/admin, utilities, repairs, wastewater maintenance, reserves, and compliance items.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8C2F375-CBCC-4C3B-2E74-EB4F47F172BC}"/>
              </a:ext>
            </a:extLst>
          </p:cNvPr>
          <p:cNvSpPr/>
          <p:nvPr/>
        </p:nvSpPr>
        <p:spPr>
          <a:xfrm>
            <a:off x="6477000" y="3302000"/>
            <a:ext cx="4572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3B8A967-A76D-3AD6-8941-2839039DBDDB}"/>
              </a:ext>
            </a:extLst>
          </p:cNvPr>
          <p:cNvSpPr/>
          <p:nvPr/>
        </p:nvSpPr>
        <p:spPr>
          <a:xfrm>
            <a:off x="6477000" y="3302000"/>
            <a:ext cx="76200" cy="1905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587381-2BF9-8219-7181-BD8E8FC20D64}"/>
              </a:ext>
            </a:extLst>
          </p:cNvPr>
          <p:cNvSpPr txBox="1"/>
          <p:nvPr/>
        </p:nvSpPr>
        <p:spPr>
          <a:xfrm>
            <a:off x="6705600" y="3479800"/>
            <a:ext cx="419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Management Income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0639D4-EFA9-1303-22A6-CEBFCD45ADBA}"/>
              </a:ext>
            </a:extLst>
          </p:cNvPr>
          <p:cNvSpPr txBox="1"/>
          <p:nvPr/>
        </p:nvSpPr>
        <p:spPr>
          <a:xfrm>
            <a:off x="6705600" y="3860800"/>
            <a:ext cx="4191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Current analysis calculates management income dynamically as 6.00% of each year effective gross income.</a:t>
            </a:r>
          </a:p>
        </p:txBody>
      </p:sp>
    </p:spTree>
    <p:extLst>
      <p:ext uri="{BB962C8B-B14F-4D97-AF65-F5344CB8AC3E}">
        <p14:creationId xmlns:p14="http://schemas.microsoft.com/office/powerpoint/2010/main" val="3205496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26F354-ECD8-6ED3-E231-65ABFB327062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F14355-164C-F4E0-EE53-27EDE804DBC6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CAPITAL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740161-BF8A-C4BB-FCD4-69747F042457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Capitalization and Cost Case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8C2589-921D-9033-4E7E-B9FF3AE6F9F0}"/>
              </a:ext>
            </a:extLst>
          </p:cNvPr>
          <p:cNvSpPr/>
          <p:nvPr/>
        </p:nvSpPr>
        <p:spPr>
          <a:xfrm>
            <a:off x="889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A43EB1-5BE9-E5A9-233C-A711CD3C08BA}"/>
              </a:ext>
            </a:extLst>
          </p:cNvPr>
          <p:cNvSpPr txBox="1"/>
          <p:nvPr/>
        </p:nvSpPr>
        <p:spPr>
          <a:xfrm>
            <a:off x="10668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847,500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B62A44-01F6-2C06-DFB4-57ECEF757AE9}"/>
              </a:ext>
            </a:extLst>
          </p:cNvPr>
          <p:cNvSpPr txBox="1"/>
          <p:nvPr/>
        </p:nvSpPr>
        <p:spPr>
          <a:xfrm>
            <a:off x="10668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Selected Project Cost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CF6593-25C0-3901-6644-93E15F2C535F}"/>
              </a:ext>
            </a:extLst>
          </p:cNvPr>
          <p:cNvSpPr/>
          <p:nvPr/>
        </p:nvSpPr>
        <p:spPr>
          <a:xfrm>
            <a:off x="39370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7EF4AE-8B81-6411-C608-72A9AB2D8894}"/>
              </a:ext>
            </a:extLst>
          </p:cNvPr>
          <p:cNvSpPr txBox="1"/>
          <p:nvPr/>
        </p:nvSpPr>
        <p:spPr>
          <a:xfrm>
            <a:off x="4114800" y="17653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300,000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8FDC7F-B804-8F3D-8CA3-9AFD3C985C8A}"/>
              </a:ext>
            </a:extLst>
          </p:cNvPr>
          <p:cNvSpPr txBox="1"/>
          <p:nvPr/>
        </p:nvSpPr>
        <p:spPr>
          <a:xfrm>
            <a:off x="4114800" y="22098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Class A Capital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850C57-8D88-B9C7-902E-14639F86F4CD}"/>
              </a:ext>
            </a:extLst>
          </p:cNvPr>
          <p:cNvSpPr/>
          <p:nvPr/>
        </p:nvSpPr>
        <p:spPr>
          <a:xfrm>
            <a:off x="6731000" y="1600200"/>
            <a:ext cx="2413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AC99D1-A036-1EA1-1F2A-5756C0929AF4}"/>
              </a:ext>
            </a:extLst>
          </p:cNvPr>
          <p:cNvSpPr txBox="1"/>
          <p:nvPr/>
        </p:nvSpPr>
        <p:spPr>
          <a:xfrm>
            <a:off x="6908800" y="1765300"/>
            <a:ext cx="2057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547,500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54FCBAC-22D3-85AF-42C7-1193134BDADC}"/>
              </a:ext>
            </a:extLst>
          </p:cNvPr>
          <p:cNvSpPr txBox="1"/>
          <p:nvPr/>
        </p:nvSpPr>
        <p:spPr>
          <a:xfrm>
            <a:off x="6908800" y="2209800"/>
            <a:ext cx="2057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Class B Capital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FF7B67-0BD6-1573-BDF7-5085FB9C5758}"/>
              </a:ext>
            </a:extLst>
          </p:cNvPr>
          <p:cNvSpPr/>
          <p:nvPr/>
        </p:nvSpPr>
        <p:spPr>
          <a:xfrm>
            <a:off x="9525000" y="1600200"/>
            <a:ext cx="2159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24B0E7-C34D-7D64-D1FB-641EF188BA44}"/>
              </a:ext>
            </a:extLst>
          </p:cNvPr>
          <p:cNvSpPr txBox="1"/>
          <p:nvPr/>
        </p:nvSpPr>
        <p:spPr>
          <a:xfrm>
            <a:off x="9702800" y="1765300"/>
            <a:ext cx="1803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100,000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C709E1-E12D-EF21-C443-F1443E4ECBBF}"/>
              </a:ext>
            </a:extLst>
          </p:cNvPr>
          <p:cNvSpPr txBox="1"/>
          <p:nvPr/>
        </p:nvSpPr>
        <p:spPr>
          <a:xfrm>
            <a:off x="9702800" y="2209800"/>
            <a:ext cx="1803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Sponsor Property Payment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BC2F57-7870-7E07-6DCC-E804A668B625}"/>
              </a:ext>
            </a:extLst>
          </p:cNvPr>
          <p:cNvSpPr/>
          <p:nvPr/>
        </p:nvSpPr>
        <p:spPr>
          <a:xfrm>
            <a:off x="1041400" y="3200400"/>
            <a:ext cx="4826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80453A1-67BC-CE67-EAAA-8A314FB62607}"/>
              </a:ext>
            </a:extLst>
          </p:cNvPr>
          <p:cNvSpPr/>
          <p:nvPr/>
        </p:nvSpPr>
        <p:spPr>
          <a:xfrm>
            <a:off x="1041400" y="3200400"/>
            <a:ext cx="76200" cy="2159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505D93-1200-B663-5A0C-01BEB8C12091}"/>
              </a:ext>
            </a:extLst>
          </p:cNvPr>
          <p:cNvSpPr txBox="1"/>
          <p:nvPr/>
        </p:nvSpPr>
        <p:spPr>
          <a:xfrm>
            <a:off x="1270000" y="3378200"/>
            <a:ext cx="4445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Sponsor-Controlled Cost Range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3FE5FA-DDF5-7847-C4AA-76D6B8218953}"/>
              </a:ext>
            </a:extLst>
          </p:cNvPr>
          <p:cNvSpPr txBox="1"/>
          <p:nvPr/>
        </p:nvSpPr>
        <p:spPr>
          <a:xfrm>
            <a:off x="1270000" y="3759200"/>
            <a:ext cx="4445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Current sponsor-controlled bridge: 847,500 low / 1,585,000 high. Case assumes post-frame construction, sponsor equipment/crew capacity, disciplined finish scope, and 100,000 payment to sponsor for property.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0FF5D7-96D1-1AE5-018F-726E6FF9A05C}"/>
              </a:ext>
            </a:extLst>
          </p:cNvPr>
          <p:cNvSpPr/>
          <p:nvPr/>
        </p:nvSpPr>
        <p:spPr>
          <a:xfrm>
            <a:off x="6502400" y="3200400"/>
            <a:ext cx="4445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D76EF24-C984-BCDD-D80F-D6E9B80FDE15}"/>
              </a:ext>
            </a:extLst>
          </p:cNvPr>
          <p:cNvSpPr/>
          <p:nvPr/>
        </p:nvSpPr>
        <p:spPr>
          <a:xfrm>
            <a:off x="6502400" y="32004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5192B94-F473-5352-2C10-6884BD6604F5}"/>
              </a:ext>
            </a:extLst>
          </p:cNvPr>
          <p:cNvSpPr txBox="1"/>
          <p:nvPr/>
        </p:nvSpPr>
        <p:spPr>
          <a:xfrm>
            <a:off x="6731000" y="3378200"/>
            <a:ext cx="406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Capital Source Rule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F9270B-D1AD-9A36-84F4-A47A0686BD4A}"/>
              </a:ext>
            </a:extLst>
          </p:cNvPr>
          <p:cNvSpPr txBox="1"/>
          <p:nvPr/>
        </p:nvSpPr>
        <p:spPr>
          <a:xfrm>
            <a:off x="6731000" y="3759200"/>
            <a:ext cx="4064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Class A and Class B member capital fund development/build completion. No construction loan is currently modeled.</a:t>
            </a:r>
          </a:p>
        </p:txBody>
      </p:sp>
    </p:spTree>
    <p:extLst>
      <p:ext uri="{BB962C8B-B14F-4D97-AF65-F5344CB8AC3E}">
        <p14:creationId xmlns:p14="http://schemas.microsoft.com/office/powerpoint/2010/main" val="37752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8219FE-4C26-F6D6-B48B-38E8F4199CC0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E4B5CE-72CB-D0AB-2742-C5FD965A8E62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REFINANCE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A8C76C-67F6-5034-7652-921D566BA2C6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Refinance Takeout Structure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BF8D85-D0EB-0F97-747A-8487F252653D}"/>
              </a:ext>
            </a:extLst>
          </p:cNvPr>
          <p:cNvSpPr/>
          <p:nvPr/>
        </p:nvSpPr>
        <p:spPr>
          <a:xfrm>
            <a:off x="889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F5C667-B003-9A6C-266A-A623E33BFA4B}"/>
              </a:ext>
            </a:extLst>
          </p:cNvPr>
          <p:cNvSpPr txBox="1"/>
          <p:nvPr/>
        </p:nvSpPr>
        <p:spPr>
          <a:xfrm>
            <a:off x="10668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194,000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8F0B4-2B06-F93E-805D-30F82692D271}"/>
              </a:ext>
            </a:extLst>
          </p:cNvPr>
          <p:cNvSpPr txBox="1"/>
          <p:nvPr/>
        </p:nvSpPr>
        <p:spPr>
          <a:xfrm>
            <a:off x="10668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Existing Debt Payoff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112779-5534-85A2-3CB1-0A9018B3CE9B}"/>
              </a:ext>
            </a:extLst>
          </p:cNvPr>
          <p:cNvSpPr/>
          <p:nvPr/>
        </p:nvSpPr>
        <p:spPr>
          <a:xfrm>
            <a:off x="3937000" y="1600200"/>
            <a:ext cx="2667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C9B1D5-D3A2-9AD1-3171-85801C00785D}"/>
              </a:ext>
            </a:extLst>
          </p:cNvPr>
          <p:cNvSpPr txBox="1"/>
          <p:nvPr/>
        </p:nvSpPr>
        <p:spPr>
          <a:xfrm>
            <a:off x="4114800" y="1765300"/>
            <a:ext cx="2311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732,276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0B1E5-C553-F084-E965-0B34A35146CB}"/>
              </a:ext>
            </a:extLst>
          </p:cNvPr>
          <p:cNvSpPr txBox="1"/>
          <p:nvPr/>
        </p:nvSpPr>
        <p:spPr>
          <a:xfrm>
            <a:off x="4114800" y="2209800"/>
            <a:ext cx="2311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Refi Loan Amount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AA54DF-E2CE-0FE5-7CBF-8372C5270865}"/>
              </a:ext>
            </a:extLst>
          </p:cNvPr>
          <p:cNvSpPr/>
          <p:nvPr/>
        </p:nvSpPr>
        <p:spPr>
          <a:xfrm>
            <a:off x="6985000" y="1600200"/>
            <a:ext cx="2921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467A3E-9360-626A-D2CE-6C1CC472E264}"/>
              </a:ext>
            </a:extLst>
          </p:cNvPr>
          <p:cNvSpPr txBox="1"/>
          <p:nvPr/>
        </p:nvSpPr>
        <p:spPr>
          <a:xfrm>
            <a:off x="7162800" y="1765300"/>
            <a:ext cx="2565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538,276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DAA084-ABB5-2EFE-FEE2-73F5B1D41727}"/>
              </a:ext>
            </a:extLst>
          </p:cNvPr>
          <p:cNvSpPr txBox="1"/>
          <p:nvPr/>
        </p:nvSpPr>
        <p:spPr>
          <a:xfrm>
            <a:off x="7162800" y="2209800"/>
            <a:ext cx="2565400" cy="2462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Net After Existing Debt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45E82E-A262-181A-EF04-F9D9A3134242}"/>
              </a:ext>
            </a:extLst>
          </p:cNvPr>
          <p:cNvSpPr/>
          <p:nvPr/>
        </p:nvSpPr>
        <p:spPr>
          <a:xfrm>
            <a:off x="10287000" y="1600200"/>
            <a:ext cx="1524000" cy="1041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F8B0F5-7B16-496A-D3C1-08E9C29ED087}"/>
              </a:ext>
            </a:extLst>
          </p:cNvPr>
          <p:cNvSpPr txBox="1"/>
          <p:nvPr/>
        </p:nvSpPr>
        <p:spPr>
          <a:xfrm>
            <a:off x="10464800" y="1765300"/>
            <a:ext cx="11684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3F6B50"/>
                </a:solidFill>
                <a:latin typeface="Aptos" panose="020B0004020202020204" pitchFamily="34" charset="0"/>
              </a:rPr>
              <a:t>13,812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F3F71D-49FB-A235-514F-D8BBAF50C30C}"/>
              </a:ext>
            </a:extLst>
          </p:cNvPr>
          <p:cNvSpPr txBox="1"/>
          <p:nvPr/>
        </p:nvSpPr>
        <p:spPr>
          <a:xfrm>
            <a:off x="10464800" y="2209800"/>
            <a:ext cx="11684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000">
                <a:solidFill>
                  <a:srgbClr val="666666"/>
                </a:solidFill>
                <a:latin typeface="Aptos" panose="020B0004020202020204" pitchFamily="34" charset="0"/>
              </a:rPr>
              <a:t>Existing Annual Debt Service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3FDCB8-4919-89CB-4C1F-E21454EBD720}"/>
              </a:ext>
            </a:extLst>
          </p:cNvPr>
          <p:cNvSpPr txBox="1"/>
          <p:nvPr/>
        </p:nvSpPr>
        <p:spPr>
          <a:xfrm>
            <a:off x="1117600" y="3429000"/>
            <a:ext cx="9779000" cy="99001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Only new loan currently modeled is the stabilization refinance/takeout loan.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Refinance loan is the lesser of 70% of stabilized value or existing debt plus Class A plus Class B capitalization.</a:t>
            </a:r>
          </a:p>
          <a:p>
            <a:pPr>
              <a:spcAft>
                <a:spcPts val="800"/>
              </a:spcAft>
            </a:pPr>
            <a:r>
              <a:rPr lang="en-US" sz="1500">
                <a:solidFill>
                  <a:srgbClr val="2A2A2A"/>
                </a:solidFill>
                <a:latin typeface="Aptos" panose="020B0004020202020204" pitchFamily="34" charset="0"/>
              </a:rPr>
              <a:t>- Operating cash and refinance proceeds flow through the waterfall according to the selected timing and priority rules.</a:t>
            </a:r>
          </a:p>
        </p:txBody>
      </p:sp>
    </p:spTree>
    <p:extLst>
      <p:ext uri="{BB962C8B-B14F-4D97-AF65-F5344CB8AC3E}">
        <p14:creationId xmlns:p14="http://schemas.microsoft.com/office/powerpoint/2010/main" val="3634742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7EFB11-4160-481A-B27F-1A644B8E0194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8FF836-D160-99BE-0C70-2ED1017EE8AE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RETURNS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6E657A-D219-1422-F91A-27B25920568A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Waterfall and Returns Snapshot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0FFEC5-A5DC-6153-3DAE-97D8A85529CE}"/>
              </a:ext>
            </a:extLst>
          </p:cNvPr>
          <p:cNvSpPr/>
          <p:nvPr/>
        </p:nvSpPr>
        <p:spPr>
          <a:xfrm>
            <a:off x="914400" y="1676400"/>
            <a:ext cx="3048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D8DAB4D-7C72-6517-878A-C62D63AF5C24}"/>
              </a:ext>
            </a:extLst>
          </p:cNvPr>
          <p:cNvSpPr/>
          <p:nvPr/>
        </p:nvSpPr>
        <p:spPr>
          <a:xfrm>
            <a:off x="914400" y="16764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69F6E-52BC-3124-CA49-5C5AA96A01BA}"/>
              </a:ext>
            </a:extLst>
          </p:cNvPr>
          <p:cNvSpPr txBox="1"/>
          <p:nvPr/>
        </p:nvSpPr>
        <p:spPr>
          <a:xfrm>
            <a:off x="1143000" y="1854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Class 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434318-5395-D935-553C-1A5F79EA07BE}"/>
              </a:ext>
            </a:extLst>
          </p:cNvPr>
          <p:cNvSpPr txBox="1"/>
          <p:nvPr/>
        </p:nvSpPr>
        <p:spPr>
          <a:xfrm>
            <a:off x="1143000" y="2235200"/>
            <a:ext cx="2667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Capital Investment: 300,000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Total Profit: 219,799 | IRR: 16.34%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6A5C7AE-867E-1029-3E23-5B1E7F4C8C95}"/>
              </a:ext>
            </a:extLst>
          </p:cNvPr>
          <p:cNvSpPr/>
          <p:nvPr/>
        </p:nvSpPr>
        <p:spPr>
          <a:xfrm>
            <a:off x="4572000" y="1676400"/>
            <a:ext cx="3048000" cy="190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A15DA6D-71DE-95E9-0706-AC29FA854ABB}"/>
              </a:ext>
            </a:extLst>
          </p:cNvPr>
          <p:cNvSpPr/>
          <p:nvPr/>
        </p:nvSpPr>
        <p:spPr>
          <a:xfrm>
            <a:off x="4572000" y="1676400"/>
            <a:ext cx="76200" cy="1905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865570-65D1-8A44-73D9-314849EB49F7}"/>
              </a:ext>
            </a:extLst>
          </p:cNvPr>
          <p:cNvSpPr txBox="1"/>
          <p:nvPr/>
        </p:nvSpPr>
        <p:spPr>
          <a:xfrm>
            <a:off x="4800600" y="1854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Class 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F56499-51A2-807C-B6DF-F0818109D8A1}"/>
              </a:ext>
            </a:extLst>
          </p:cNvPr>
          <p:cNvSpPr txBox="1"/>
          <p:nvPr/>
        </p:nvSpPr>
        <p:spPr>
          <a:xfrm>
            <a:off x="4800600" y="2235200"/>
            <a:ext cx="2667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Capital Investment: 547,500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Total Profit: 234,783 | IRR: 8.98%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052D0C-F7D4-1E81-BD7D-4001D0703BAE}"/>
              </a:ext>
            </a:extLst>
          </p:cNvPr>
          <p:cNvSpPr/>
          <p:nvPr/>
        </p:nvSpPr>
        <p:spPr>
          <a:xfrm>
            <a:off x="8229600" y="1676400"/>
            <a:ext cx="3048000" cy="215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F93FB7-FDD7-01E5-EAA2-C4CB5F47C99F}"/>
              </a:ext>
            </a:extLst>
          </p:cNvPr>
          <p:cNvSpPr/>
          <p:nvPr/>
        </p:nvSpPr>
        <p:spPr>
          <a:xfrm>
            <a:off x="8229600" y="1676400"/>
            <a:ext cx="76200" cy="2159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34BCE9E-CE77-6055-EB44-A5E9E6E82671}"/>
              </a:ext>
            </a:extLst>
          </p:cNvPr>
          <p:cNvSpPr txBox="1"/>
          <p:nvPr/>
        </p:nvSpPr>
        <p:spPr>
          <a:xfrm>
            <a:off x="8458200" y="1854200"/>
            <a:ext cx="266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Sponsor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941A56-E863-8BF7-CA24-C89A11E64448}"/>
              </a:ext>
            </a:extLst>
          </p:cNvPr>
          <p:cNvSpPr txBox="1"/>
          <p:nvPr/>
        </p:nvSpPr>
        <p:spPr>
          <a:xfrm>
            <a:off x="8458200" y="2235200"/>
            <a:ext cx="26670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Capital Investment: 136,283</a:t>
            </a:r>
          </a:p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Property Payment/Basis: 100,000 | Total Profit: 327,148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D29B62-A03B-4E6C-30AA-84224CC274FC}"/>
              </a:ext>
            </a:extLst>
          </p:cNvPr>
          <p:cNvSpPr txBox="1"/>
          <p:nvPr/>
        </p:nvSpPr>
        <p:spPr>
          <a:xfrm>
            <a:off x="1168400" y="4318000"/>
            <a:ext cx="9652000" cy="115929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400">
                <a:solidFill>
                  <a:srgbClr val="2A2A2A"/>
                </a:solidFill>
                <a:latin typeface="Aptos" panose="020B0004020202020204" pitchFamily="34" charset="0"/>
              </a:rPr>
              <a:t>- Sponsor residual share is currently 50%.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2A2A2A"/>
                </a:solidFill>
                <a:latin typeface="Aptos" panose="020B0004020202020204" pitchFamily="34" charset="0"/>
              </a:rPr>
              <a:t>- The remaining 50% residual pool is split between Class A and Class B based on their relative capital investments; current result is Class A 18% and Class B 32%.</a:t>
            </a:r>
          </a:p>
          <a:p>
            <a:pPr>
              <a:spcAft>
                <a:spcPts val="800"/>
              </a:spcAft>
            </a:pPr>
            <a:r>
              <a:rPr lang="en-US" sz="1400">
                <a:solidFill>
                  <a:srgbClr val="2A2A2A"/>
                </a:solidFill>
                <a:latin typeface="Aptos" panose="020B0004020202020204" pitchFamily="34" charset="0"/>
              </a:rPr>
              <a:t>- Waterfall priority: reserve funding, Class A capital, Class B capital, accrued Class A preferred return, then residual split.</a:t>
            </a:r>
          </a:p>
        </p:txBody>
      </p:sp>
    </p:spTree>
    <p:extLst>
      <p:ext uri="{BB962C8B-B14F-4D97-AF65-F5344CB8AC3E}">
        <p14:creationId xmlns:p14="http://schemas.microsoft.com/office/powerpoint/2010/main" val="3283240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907A010-8E87-9A91-7088-AA5CE7F238C4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3334CD-1FB0-2AA5-F182-8B2C0F650AAA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RISK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758B61-CAF6-770D-09F6-3DCDF7798F90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Key Risks and Mitigants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FC9BFE-1683-E509-40C3-1C7407D0FF03}"/>
              </a:ext>
            </a:extLst>
          </p:cNvPr>
          <p:cNvSpPr/>
          <p:nvPr/>
        </p:nvSpPr>
        <p:spPr>
          <a:xfrm>
            <a:off x="8636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7A40CA-0149-28AD-BC06-24ED4D6C19B9}"/>
              </a:ext>
            </a:extLst>
          </p:cNvPr>
          <p:cNvSpPr/>
          <p:nvPr/>
        </p:nvSpPr>
        <p:spPr>
          <a:xfrm>
            <a:off x="8636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E728FB-02D6-C610-0D97-9B7B1DACBBA7}"/>
              </a:ext>
            </a:extLst>
          </p:cNvPr>
          <p:cNvSpPr txBox="1"/>
          <p:nvPr/>
        </p:nvSpPr>
        <p:spPr>
          <a:xfrm>
            <a:off x="10922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Wastewater / Septic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D2BAF9-BD54-D2EC-1096-A9EF3742FC82}"/>
              </a:ext>
            </a:extLst>
          </p:cNvPr>
          <p:cNvSpPr txBox="1"/>
          <p:nvPr/>
        </p:nvSpPr>
        <p:spPr>
          <a:xfrm>
            <a:off x="10922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engineered system cost or density constraint. Mitigation: early soil, septic, wastewater engineering and Wake County coordination.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B004EF-1EF1-9C71-8418-7D8004495675}"/>
              </a:ext>
            </a:extLst>
          </p:cNvPr>
          <p:cNvSpPr/>
          <p:nvPr/>
        </p:nvSpPr>
        <p:spPr>
          <a:xfrm>
            <a:off x="44450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86A8C5-1671-58DC-8D39-0480B0A1A69D}"/>
              </a:ext>
            </a:extLst>
          </p:cNvPr>
          <p:cNvSpPr/>
          <p:nvPr/>
        </p:nvSpPr>
        <p:spPr>
          <a:xfrm>
            <a:off x="44450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803E45-A9C6-C178-9E57-A0A49F54BB71}"/>
              </a:ext>
            </a:extLst>
          </p:cNvPr>
          <p:cNvSpPr txBox="1"/>
          <p:nvPr/>
        </p:nvSpPr>
        <p:spPr>
          <a:xfrm>
            <a:off x="46736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Utilities / Entitlement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CAC00-7414-0416-1427-0B5F83161D5C}"/>
              </a:ext>
            </a:extLst>
          </p:cNvPr>
          <p:cNvSpPr txBox="1"/>
          <p:nvPr/>
        </p:nvSpPr>
        <p:spPr>
          <a:xfrm>
            <a:off x="46736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no planned municipal water/sewer extension. Mitigation: proceed with private utility and onsite wastewater feasibility as base case.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96A101-5C76-EE0C-8A2A-FF93E1E59682}"/>
              </a:ext>
            </a:extLst>
          </p:cNvPr>
          <p:cNvSpPr/>
          <p:nvPr/>
        </p:nvSpPr>
        <p:spPr>
          <a:xfrm>
            <a:off x="8026400" y="1600200"/>
            <a:ext cx="3302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4FF2BA-FBA4-BA37-F815-E379B0555652}"/>
              </a:ext>
            </a:extLst>
          </p:cNvPr>
          <p:cNvSpPr/>
          <p:nvPr/>
        </p:nvSpPr>
        <p:spPr>
          <a:xfrm>
            <a:off x="8026400" y="1600200"/>
            <a:ext cx="76200" cy="19685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059F9F-DA44-6796-1FBB-4E2DA996B513}"/>
              </a:ext>
            </a:extLst>
          </p:cNvPr>
          <p:cNvSpPr txBox="1"/>
          <p:nvPr/>
        </p:nvSpPr>
        <p:spPr>
          <a:xfrm>
            <a:off x="8255000" y="1778000"/>
            <a:ext cx="292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Construction Cost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EBF3AF-CF10-4CE7-0F5B-B6810B255559}"/>
              </a:ext>
            </a:extLst>
          </p:cNvPr>
          <p:cNvSpPr txBox="1"/>
          <p:nvPr/>
        </p:nvSpPr>
        <p:spPr>
          <a:xfrm>
            <a:off x="8255000" y="2159000"/>
            <a:ext cx="2921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budget creep above sponsor-controlled range. Mitigation: post-frame system, owner equipment/crew, scope discipline, contingency.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2643FE-EBFA-C7BD-A428-817322B32E98}"/>
              </a:ext>
            </a:extLst>
          </p:cNvPr>
          <p:cNvSpPr/>
          <p:nvPr/>
        </p:nvSpPr>
        <p:spPr>
          <a:xfrm>
            <a:off x="2667000" y="4013200"/>
            <a:ext cx="6858000" cy="152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741BF1-F5A1-3689-3192-0348B0018C49}"/>
              </a:ext>
            </a:extLst>
          </p:cNvPr>
          <p:cNvSpPr/>
          <p:nvPr/>
        </p:nvSpPr>
        <p:spPr>
          <a:xfrm>
            <a:off x="2667000" y="4013200"/>
            <a:ext cx="76200" cy="1524000"/>
          </a:xfrm>
          <a:prstGeom prst="rect">
            <a:avLst/>
          </a:prstGeom>
          <a:solidFill>
            <a:srgbClr val="C88C3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B4AA3A-CEFC-B2C9-D6C1-EF4FA1312139}"/>
              </a:ext>
            </a:extLst>
          </p:cNvPr>
          <p:cNvSpPr txBox="1"/>
          <p:nvPr/>
        </p:nvSpPr>
        <p:spPr>
          <a:xfrm>
            <a:off x="2895600" y="4191000"/>
            <a:ext cx="6477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Lease-Up / Operations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EDBFE6-93BF-709A-628D-6DEF5E46B4E2}"/>
              </a:ext>
            </a:extLst>
          </p:cNvPr>
          <p:cNvSpPr txBox="1"/>
          <p:nvPr/>
        </p:nvSpPr>
        <p:spPr>
          <a:xfrm>
            <a:off x="2895600" y="4572000"/>
            <a:ext cx="6477000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Risk: co-living rent acceptance and occupancy pace. Mitigation: flexible furnished medium-term and workforce/professional tenant positioning.</a:t>
            </a:r>
          </a:p>
        </p:txBody>
      </p:sp>
    </p:spTree>
    <p:extLst>
      <p:ext uri="{BB962C8B-B14F-4D97-AF65-F5344CB8AC3E}">
        <p14:creationId xmlns:p14="http://schemas.microsoft.com/office/powerpoint/2010/main" val="374150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6B8CC1-F767-165C-DAB9-DA9555AC59AF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7D4EE-6B67-F2CE-8465-C761C2846272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TIMELINE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79C442-88B8-B4BD-6944-216B191ECEF2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Execution Path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A47B4A-1C0F-735C-BC31-C23D3FF3F392}"/>
              </a:ext>
            </a:extLst>
          </p:cNvPr>
          <p:cNvSpPr/>
          <p:nvPr/>
        </p:nvSpPr>
        <p:spPr>
          <a:xfrm>
            <a:off x="8128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9B7ACB-8654-148B-DE77-C2FA1613B26D}"/>
              </a:ext>
            </a:extLst>
          </p:cNvPr>
          <p:cNvSpPr/>
          <p:nvPr/>
        </p:nvSpPr>
        <p:spPr>
          <a:xfrm>
            <a:off x="8128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EB1CF3-2D69-0227-A170-67CE65EE4084}"/>
              </a:ext>
            </a:extLst>
          </p:cNvPr>
          <p:cNvSpPr txBox="1"/>
          <p:nvPr/>
        </p:nvSpPr>
        <p:spPr>
          <a:xfrm>
            <a:off x="1041400" y="1828800"/>
            <a:ext cx="2032000" cy="5232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1. Entitlement + Engineering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EA1610-FF84-8562-6361-D2D51FE38B7B}"/>
              </a:ext>
            </a:extLst>
          </p:cNvPr>
          <p:cNvSpPr txBox="1"/>
          <p:nvPr/>
        </p:nvSpPr>
        <p:spPr>
          <a:xfrm>
            <a:off x="1041400" y="2209800"/>
            <a:ext cx="2032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Confirm zoning classification, occupancy treatment, parking, soil/septic/wastewater feasibility, and private utility path.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8B382D-153B-075B-23BE-7C4791238BA2}"/>
              </a:ext>
            </a:extLst>
          </p:cNvPr>
          <p:cNvSpPr/>
          <p:nvPr/>
        </p:nvSpPr>
        <p:spPr>
          <a:xfrm>
            <a:off x="35306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ABF3D1-9E21-1F0E-E8B6-EB94F3FD98F4}"/>
              </a:ext>
            </a:extLst>
          </p:cNvPr>
          <p:cNvSpPr/>
          <p:nvPr/>
        </p:nvSpPr>
        <p:spPr>
          <a:xfrm>
            <a:off x="35306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DB86D0-4F4A-C118-52D1-6938A7D05BBC}"/>
              </a:ext>
            </a:extLst>
          </p:cNvPr>
          <p:cNvSpPr txBox="1"/>
          <p:nvPr/>
        </p:nvSpPr>
        <p:spPr>
          <a:xfrm>
            <a:off x="3759200" y="1828800"/>
            <a:ext cx="203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2. Capital Formation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68F684-687D-017B-47A5-552CC95F11E0}"/>
              </a:ext>
            </a:extLst>
          </p:cNvPr>
          <p:cNvSpPr txBox="1"/>
          <p:nvPr/>
        </p:nvSpPr>
        <p:spPr>
          <a:xfrm>
            <a:off x="3759200" y="2209800"/>
            <a:ext cx="20320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Finalize trust/member documents, Class A capital, Class B completion capital, and sponsor contribution assumptions.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BF06C4-4689-DCD8-2423-2370A973660D}"/>
              </a:ext>
            </a:extLst>
          </p:cNvPr>
          <p:cNvSpPr/>
          <p:nvPr/>
        </p:nvSpPr>
        <p:spPr>
          <a:xfrm>
            <a:off x="62484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E6E62-ECFE-5D6E-7ECF-FF048CE94FF1}"/>
              </a:ext>
            </a:extLst>
          </p:cNvPr>
          <p:cNvSpPr/>
          <p:nvPr/>
        </p:nvSpPr>
        <p:spPr>
          <a:xfrm>
            <a:off x="62484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8B3325D-692D-A27A-8092-F42A0360C280}"/>
              </a:ext>
            </a:extLst>
          </p:cNvPr>
          <p:cNvSpPr txBox="1"/>
          <p:nvPr/>
        </p:nvSpPr>
        <p:spPr>
          <a:xfrm>
            <a:off x="6477000" y="1828800"/>
            <a:ext cx="203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3. Design + Permit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05C633-8C8E-BC50-CBED-67005C21B602}"/>
              </a:ext>
            </a:extLst>
          </p:cNvPr>
          <p:cNvSpPr txBox="1"/>
          <p:nvPr/>
        </p:nvSpPr>
        <p:spPr>
          <a:xfrm>
            <a:off x="6477000" y="2209800"/>
            <a:ext cx="2032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Advance architecture, civil, wastewater, and construction pricing to permit-ready package.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42D96E-B4DF-18F6-016E-4FDAAAEA4FC3}"/>
              </a:ext>
            </a:extLst>
          </p:cNvPr>
          <p:cNvSpPr/>
          <p:nvPr/>
        </p:nvSpPr>
        <p:spPr>
          <a:xfrm>
            <a:off x="8966200" y="1651000"/>
            <a:ext cx="2413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ED6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D66DCF6-FFBA-38D3-C93F-9472BF4B55A9}"/>
              </a:ext>
            </a:extLst>
          </p:cNvPr>
          <p:cNvSpPr/>
          <p:nvPr/>
        </p:nvSpPr>
        <p:spPr>
          <a:xfrm>
            <a:off x="8966200" y="1651000"/>
            <a:ext cx="76200" cy="2667000"/>
          </a:xfrm>
          <a:prstGeom prst="rect">
            <a:avLst/>
          </a:prstGeom>
          <a:solidFill>
            <a:srgbClr val="3F6B5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93ECBE-55F3-3112-C4D8-ACC08798314E}"/>
              </a:ext>
            </a:extLst>
          </p:cNvPr>
          <p:cNvSpPr txBox="1"/>
          <p:nvPr/>
        </p:nvSpPr>
        <p:spPr>
          <a:xfrm>
            <a:off x="9194800" y="1828800"/>
            <a:ext cx="2032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2A2A2A"/>
                </a:solidFill>
                <a:latin typeface="Aptos" panose="020B0004020202020204" pitchFamily="34" charset="0"/>
              </a:rPr>
              <a:t>4. Build + Stabilize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E36E28-C787-0AA0-3D69-3565614668E5}"/>
              </a:ext>
            </a:extLst>
          </p:cNvPr>
          <p:cNvSpPr txBox="1"/>
          <p:nvPr/>
        </p:nvSpPr>
        <p:spPr>
          <a:xfrm>
            <a:off x="9194800" y="2209800"/>
            <a:ext cx="2032000" cy="8309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666666"/>
                </a:solidFill>
                <a:latin typeface="Aptos" panose="020B0004020202020204" pitchFamily="34" charset="0"/>
              </a:rPr>
              <a:t>Deliver post-frame building, lease suites, stabilize occupancy, refinance, and execute waterfall.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717B9A-B377-6A47-A485-BA58F3E2A4DD}"/>
              </a:ext>
            </a:extLst>
          </p:cNvPr>
          <p:cNvSpPr txBox="1"/>
          <p:nvPr/>
        </p:nvSpPr>
        <p:spPr>
          <a:xfrm>
            <a:off x="1092200" y="5003800"/>
            <a:ext cx="965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2A2A2A"/>
                </a:solidFill>
                <a:latin typeface="Aptos" panose="020B0004020202020204" pitchFamily="34" charset="0"/>
              </a:rPr>
              <a:t>Current model stabilization/refinance year: Year 3. Current sale/exit year: Year 5.</a:t>
            </a:r>
          </a:p>
        </p:txBody>
      </p:sp>
    </p:spTree>
    <p:extLst>
      <p:ext uri="{BB962C8B-B14F-4D97-AF65-F5344CB8AC3E}">
        <p14:creationId xmlns:p14="http://schemas.microsoft.com/office/powerpoint/2010/main" val="37162451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5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B15984-7933-4019-2FFC-7F87A74276E0}"/>
              </a:ext>
            </a:extLst>
          </p:cNvPr>
          <p:cNvSpPr/>
          <p:nvPr/>
        </p:nvSpPr>
        <p:spPr>
          <a:xfrm>
            <a:off x="0" y="0"/>
            <a:ext cx="12192000" cy="533400"/>
          </a:xfrm>
          <a:prstGeom prst="rect">
            <a:avLst/>
          </a:prstGeom>
          <a:solidFill>
            <a:srgbClr val="14212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0F63E6-5F74-8DD7-FBDD-43F4262F24DE}"/>
              </a:ext>
            </a:extLst>
          </p:cNvPr>
          <p:cNvSpPr txBox="1"/>
          <p:nvPr/>
        </p:nvSpPr>
        <p:spPr>
          <a:xfrm>
            <a:off x="457200" y="139700"/>
            <a:ext cx="3175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800" b="1">
                <a:solidFill>
                  <a:srgbClr val="FFFFFF"/>
                </a:solidFill>
                <a:latin typeface="Aptos" panose="020B0004020202020204" pitchFamily="34" charset="0"/>
              </a:rPr>
              <a:t>DISCUSSION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9E4FD5-11B1-8A78-20E8-64C12A3F51C9}"/>
              </a:ext>
            </a:extLst>
          </p:cNvPr>
          <p:cNvSpPr txBox="1"/>
          <p:nvPr/>
        </p:nvSpPr>
        <p:spPr>
          <a:xfrm>
            <a:off x="457200" y="736600"/>
            <a:ext cx="965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2A2A2A"/>
                </a:solidFill>
                <a:latin typeface="Aptos" panose="020B0004020202020204" pitchFamily="34" charset="0"/>
              </a:rPr>
              <a:t>Next Steps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AC16D5-542F-F185-65D0-1F2FBE7866EE}"/>
              </a:ext>
            </a:extLst>
          </p:cNvPr>
          <p:cNvSpPr txBox="1"/>
          <p:nvPr/>
        </p:nvSpPr>
        <p:spPr>
          <a:xfrm>
            <a:off x="1041400" y="1625600"/>
            <a:ext cx="9652000" cy="181075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Validate final sponsor capital investment and property payment treatment.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Confirm wastewater engineering path and reserve field requirements.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Refine scaled 6,000 SF floor plan with 2 premium suites and 2 co-living suites per floor.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Evaluate one-floor short-term rental scenario after zoning, insurance, tax, and management review.</a:t>
            </a:r>
          </a:p>
          <a:p>
            <a:pPr>
              <a:spcAft>
                <a:spcPts val="800"/>
              </a:spcAft>
            </a:pPr>
            <a:r>
              <a:rPr lang="en-US" sz="1700">
                <a:solidFill>
                  <a:srgbClr val="2A2A2A"/>
                </a:solidFill>
                <a:latin typeface="Aptos" panose="020B0004020202020204" pitchFamily="34" charset="0"/>
              </a:rPr>
              <a:t>- Update capital documents to align with current capital-first deferred preferred return waterfall.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9D40F2-1F11-305B-17C0-CD94AA549D8D}"/>
              </a:ext>
            </a:extLst>
          </p:cNvPr>
          <p:cNvSpPr txBox="1"/>
          <p:nvPr/>
        </p:nvSpPr>
        <p:spPr>
          <a:xfrm>
            <a:off x="1041400" y="5765800"/>
            <a:ext cx="9652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666666"/>
                </a:solidFill>
                <a:latin typeface="Aptos" panose="020B0004020202020204" pitchFamily="34" charset="0"/>
              </a:rPr>
              <a:t>Planning model only. Not tax, legal, securities, lending, engineering, or investment advice.</a:t>
            </a:r>
          </a:p>
        </p:txBody>
      </p:sp>
    </p:spTree>
    <p:extLst>
      <p:ext uri="{BB962C8B-B14F-4D97-AF65-F5344CB8AC3E}">
        <p14:creationId xmlns:p14="http://schemas.microsoft.com/office/powerpoint/2010/main" val="22570845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1029</Words>
  <Application>Microsoft Office PowerPoint</Application>
  <PresentationFormat>Widescreen</PresentationFormat>
  <Paragraphs>135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 Will Buy Your Home</dc:creator>
  <cp:lastModifiedBy>Wes Will Buy Your Home</cp:lastModifiedBy>
  <cp:revision>7</cp:revision>
  <dcterms:created xsi:type="dcterms:W3CDTF">2026-05-16T02:45:59Z</dcterms:created>
  <dcterms:modified xsi:type="dcterms:W3CDTF">2026-05-17T19:29:52Z</dcterms:modified>
</cp:coreProperties>
</file>